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81" r:id="rId37"/>
    <p:sldId id="262" r:id="rId8"/>
    <p:sldId id="263" r:id="rId9"/>
    <p:sldId id="282" r:id="rId38"/>
    <p:sldId id="283" r:id="rId39"/>
    <p:sldId id="294" r:id="rId50"/>
    <p:sldId id="304" r:id="rId201321"/>
    <p:sldId id="284" r:id="rId40"/>
    <p:sldId id="285" r:id="rId41"/>
    <p:sldId id="286" r:id="rId42"/>
    <p:sldId id="287" r:id="rId43"/>
    <p:sldId id="288" r:id="rId44"/>
    <p:sldId id="303" r:id="rId201320"/>
    <p:sldId id="289" r:id="rId45"/>
    <p:sldId id="305" r:id="rId201322"/>
    <p:sldId id="291" r:id="rId47"/>
    <p:sldId id="292" r:id="rId48"/>
    <p:sldId id="295" r:id="rId51"/>
    <p:sldId id="302" r:id="rId201319"/>
    <p:sldId id="296" r:id="rId52"/>
    <p:sldId id="297" r:id="rId53"/>
    <p:sldId id="306" r:id="rId201323"/>
    <p:sldId id="298" r:id="rId54"/>
    <p:sldId id="299" r:id="rId55"/>
    <p:sldId id="300" r:id="rId56"/>
  </p:sldIdLst>
  <p:notesMasterIdLst>
    <p:notesMasterId r:id="rId27"/>
  </p:notesMasterIdLst>
  <p:sldSz cx="12191695" cy="6858000"/>
  <p:notesSz cx="6858000" cy="12191695"/>
  <p:embeddedFontLst>
    <p:embeddedFont>
      <p:font typeface="Caladea Bold"/>
      <p:regular r:id="rId201314"/>
    </p:embeddedFont>
    <p:embeddedFont>
      <p:font typeface="Carlito"/>
      <p:regular r:id="rId201315"/>
    </p:embeddedFont>
    <p:embeddedFont>
      <p:font typeface="Carlito Bold"/>
      <p:regular r:id="rId201316"/>
    </p:embeddedFont>
    <p:embeddedFont>
      <p:font typeface="Roboto Mono"/>
      <p:regular r:id="rId201317"/>
    </p:embeddedFont>
    <p:embeddedFont>
      <p:font typeface="Roboto Mono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7" Type="http://schemas.openxmlformats.org/officeDocument/2006/relationships/slide" Target="slides/slide2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5.xml"/><Relationship Id="rId47" Type="http://schemas.openxmlformats.org/officeDocument/2006/relationships/slide" Target="slides/slide17.xml"/><Relationship Id="rId48" Type="http://schemas.openxmlformats.org/officeDocument/2006/relationships/slide" Target="slides/slide18.xml"/><Relationship Id="rId50" Type="http://schemas.openxmlformats.org/officeDocument/2006/relationships/slide" Target="slides/slide7.xml"/><Relationship Id="rId51" Type="http://schemas.openxmlformats.org/officeDocument/2006/relationships/slide" Target="slides/slide19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4.xml"/><Relationship Id="rId55" Type="http://schemas.openxmlformats.org/officeDocument/2006/relationships/slide" Target="slides/slide25.xml"/><Relationship Id="rId56" Type="http://schemas.openxmlformats.org/officeDocument/2006/relationships/slide" Target="slides/slide26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slide" Target="slides/slide20.xml"/><Relationship Id="rId201320" Type="http://schemas.openxmlformats.org/officeDocument/2006/relationships/slide" Target="slides/slide14.xml"/><Relationship Id="rId201321" Type="http://schemas.openxmlformats.org/officeDocument/2006/relationships/slide" Target="slides/slide8.xml"/><Relationship Id="rId201322" Type="http://schemas.openxmlformats.org/officeDocument/2006/relationships/slide" Target="slides/slide16.xml"/><Relationship Id="rId20132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BFA stands for Build Full Stack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a taste. Students paste these into the Console on any site. Class 5 builds real pages with HTML, CSS and vanilla 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use the V8 engine. The language is the same, but each place gives you different built-in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teach this slide line by line. It is a translation table students use when porting their Python. Also mention: or is ||, not is !, elif is else if, f-string is a backtick template string, list is array, dict is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back. Python gave us the programming basics. Today we do not relearn loops and functions in JavaScript. We look at the platform: where JavaScript runs, how to use the browser Console and DevTools, and what Node.js and npm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Roughly: 10 min recap and setup check, 25 min browser and DevTools, 25 min JS in a page and Node, break in the middle, 10 min homework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36" y="539452"/>
            <a:ext cx="11385265" cy="5897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01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02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03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2</a:t>
            </a:r>
          </a:p>
        </p:txBody>
      </p:sp>
      <p:sp>
        <p:nvSpPr>
          <p:cNvPr id="900004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900005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06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07" name="Rounded Rectangle 15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08" name="Oval 16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09" name="TextBox 17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3</a:t>
            </a:r>
          </a:p>
        </p:txBody>
      </p:sp>
      <p:sp>
        <p:nvSpPr>
          <p:cNvPr id="900010" name="TextBox 18"/>
          <p:cNvSpPr txBox="1"/>
          <p:nvPr/>
        </p:nvSpPr>
        <p:spPr>
          <a:xfrm>
            <a:off x="1645919" y="4032504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JavaScript Fundamentals</a:t>
            </a:r>
          </a:p>
        </p:txBody>
      </p:sp>
      <p:sp>
        <p:nvSpPr>
          <p:cNvPr id="900011" name="Rounded Rectangle 19"/>
          <p:cNvSpPr/>
          <p:nvPr/>
        </p:nvSpPr>
        <p:spPr>
          <a:xfrm>
            <a:off x="4507992" y="4334256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2" name="TextBox 20"/>
          <p:cNvSpPr txBox="1"/>
          <p:nvPr/>
        </p:nvSpPr>
        <p:spPr>
          <a:xfrm>
            <a:off x="4507992" y="433425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You are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Backend with FastAPI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1709928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359" y="1207589"/>
            <a:ext cx="10363139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50" b="1" spc="800" kern="100" dirty="0">
                <a:solidFill>
                  <a:srgbClr val="1FA67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CLASS 3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853359" y="1828701"/>
            <a:ext cx="10484977" cy="1624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JavaScript on the web,</a:t>
            </a:r>
            <a:endParaRPr lang="en-US" sz="53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350" b="1" spc="59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browser and Node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853359" y="4376490"/>
            <a:ext cx="975355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2B13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Browser  ·  DevTools  ·  Console  ·  Node.js  ·  npm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3359" y="5481828"/>
            <a:ext cx="10363139" cy="284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Hands-on course. No slides to memorize, just tasks to do.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16300" y="6375549"/>
            <a:ext cx="695208" cy="253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9585" y="593328"/>
            <a:ext cx="10972526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44" kern="100" dirty="0">
                <a:solidFill>
                  <a:srgbClr val="0B1F2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Today's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244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8764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2440" y="2790130"/>
            <a:ext cx="1649669" cy="864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Where JS runs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92440" y="3765550"/>
            <a:ext cx="1649669" cy="106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HTML, CSS, JS, browser vs Node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280405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86906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8211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8690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DevTools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98690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Console, Elements, Network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499851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181470" y="2072580"/>
            <a:ext cx="511956" cy="511969"/>
          </a:xfrm>
          <a:prstGeom prst="ellipse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76678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81470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JS in a page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181470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script tag, DOM, events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7193080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75936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71143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75936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Node and npm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375936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 files, install packages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9387546" y="1828800"/>
            <a:ext cx="2011610" cy="3535660"/>
          </a:xfrm>
          <a:prstGeom prst="roundRect">
            <a:avLst>
              <a:gd name="adj" fmla="val 5818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570401" y="2072580"/>
            <a:ext cx="511956" cy="511969"/>
          </a:xfrm>
          <a:prstGeom prst="ellipse">
            <a:avLst/>
          </a:prstGeom>
          <a:solidFill>
            <a:srgbClr val="3B82C4"/>
          </a:solidFill>
          <a:ln w="12700">
            <a:solidFill>
              <a:srgbClr val="3B82C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265609" y="2162274"/>
            <a:ext cx="112154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70401" y="2790130"/>
            <a:ext cx="2316402" cy="432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0B1F2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Practice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9570401" y="3765550"/>
            <a:ext cx="1649669" cy="71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Python ideas in Console and Node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609585" y="5594350"/>
            <a:ext cx="1158211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50" dirty="0">
                <a:solidFill>
                  <a:srgbClr val="6B7F8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Green = platform ideas.  Blue = we practise.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Setup check (minute 0)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DevTools opens in Chrome or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Mac: Cmd + Option + I.   Windows: F12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Node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node --version      (same on Mac and Windows)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You can run a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Save console.log("Hello") in a .js file, run: node file.js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Stuck? Fix it now, before we 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1. What is on a web page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HTML is the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CSS is the look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JavaScript is the behaviour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Every website uses all three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&lt;h1&gt;Hello&lt;/h1&gt;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&lt;style&gt;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h1 { color: red; }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&lt;/style&gt;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&lt;script&gt;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  alert("Hi from JS");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&lt;/script&gt;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lecture/01_html_css_js/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2. One language, two places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Runs inside a web page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Has: document, window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Can change the page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Cannot read your files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Used for: websites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Run it: open an .html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Node.js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Runs in your terminal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Has: fs, process, require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No page, no document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Can read and write files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Used for: servers, tools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Run it: node file.js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Same language, different built-in tools.   |   File: lecture/02_browser_vs_node/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3. Python to JavaScript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name = "Asha"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if age &gt;= 18: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print("Adult")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for i in range(3):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print(i)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def add(a, b):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return a + b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JavaScript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const name = "Asha";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if (age &gt;= 18) {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console.log("Adult");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for (let i = 0; i &lt; 3; i++) {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console.log(i);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}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function add(a, b) {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return a + b;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Run: python3 example.py (Win: python), node example.js   |   Files: lecture/03_python_to_js/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4. Opening DevTools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Mac and Windows use different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Or right-click a page, then Inspect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Works in Chrome, Edge and Firefox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Four panels matter most today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Elements  page HTML and CSS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Console   run JS, logs, errors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Sources   files and debugger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Network   every request made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Mac:     Cmd + Option + I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# Windows: F12 or Ctrl + Shift + 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lecture/04_devtools/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5. The Console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Type JavaScript, press 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console.log, warn and error print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Red errors show the file and 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Up arrow repeats the last command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2 + 3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5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document.title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'Wikipedia'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console.log("hi")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hi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console.error("oops")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nope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ReferenceError: nope is not defined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lecture/05_console/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1: Console explorer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DevTools · the Console ·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Open any website, then open DevTools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document.title in the Console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Change the main heading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Refresh: your change is gone. Why?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document.title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'Wikipedia, the free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encyclopedia'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h = document.querySelector("h1")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&gt; h.textContent = "Hello BFA"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'Hello BFA'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live-practice/01_console_explorer.md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6. Elements and Network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Elements: click, edit HTML and CSS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Edits are local: refresh and they vanish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Network: each row is one request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Status 200 is OK, 404 is not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Method  URL           Status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GET     /index.html   200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GET     /style.css    200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GET     /app.js       200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GET     /api/user     404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Browser asks, server answers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Class 4 builds the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lecture/06_network/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7. JavaScript in a page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1FA67A"/>
                </a:solidFill>
                <a:latin typeface="Carlito"/>
              </a:rPr>
              <a:t>index.html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&lt;h1&gt;My page&lt;/h1&gt;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&lt;button id="btn"&gt;Click&lt;/button&gt;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&lt;p id="out"&gt;&lt;/p&gt;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&lt;script src="app.js"&gt;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&lt;/script&gt;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00200"/>
            <a:ext cx="53675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3B82C4"/>
                </a:solidFill>
                <a:latin typeface="Carlito"/>
              </a:rPr>
              <a:t>app.js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57400"/>
            <a:ext cx="5367528" cy="338328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1888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console.log("app.js loaded");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// document is the whole page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console.log(document.title);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// open the page, look in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7F8A"/>
                </a:solidFill>
                <a:latin typeface="Carlito"/>
              </a:rPr>
              <a:t>Script last, so the page exists first.   |   Files: lecture/07_js_in_a_page/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8. The DOM: the page as objects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DOM = the page as JS objects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Find: getElementById, querySelector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textContent reads and changes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addEventListener reacts to clicks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// find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document.getElementById("title")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document.querySelector(".item")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document.querySelectorAll(".item")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// change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title.textContent = "Hello";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// react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btn.addEventListener("click", fn)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lecture/08_dom/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(optional): Tiny page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HTML · script tag · getElementById · textContent ·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index.html: a heading and a button, each with an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app.js: get the heading by its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app.js: on button click, change the heading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Open index.html in the browser,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 love pizza    [ Change it ]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(click the button)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I love pasta too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Open the file in the browser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Mac:     open index.html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Windows: start index.html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live-practice/02_tiny_page_optional/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9. Node.js runs JS on your laptop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Node runs JavaScript in the terminal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Same engine as Chrome (V8)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node alone opens a REPL: .exit to quit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 document or window in Node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# run a file (Mac and Windows)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node hello.js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# or type JS live (REPL)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node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&gt; 2 + 3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5</a:t>
            </a:r>
          </a:p>
          <a:p>
            <a:pPr algn="l"/>
            <a:r>
              <a:rPr sz="1500" b="0">
                <a:solidFill>
                  <a:srgbClr val="E2E8F0"/>
                </a:solidFill>
                <a:latin typeface="Courier New"/>
              </a:rPr>
              <a:t>&gt; .exit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Files: lecture/09_node/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2: Even numbers in Node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Python to JS · Node · functions ·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Port is_even(n) to isEven(n)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Set const limit = 10 at the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Loop 1 to limit, print each even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Run it: node 02_even_numbers.js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same on Mac and Windows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node 02_even_numbers.js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2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4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6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8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live-practice/02_even_numbers.js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10. npm and packages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npm downloads code other people wrote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package.json lists what your project 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node_modules is the download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Never push node_modules (.gitignore)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npm init -y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npm install dayjs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// app.js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const dayjs = require("dayjs");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const today = dayjs();</a:t>
            </a:r>
          </a:p>
          <a:p>
            <a:pPr algn="l"/>
            <a:r>
              <a:rPr sz="1800" b="0">
                <a:solidFill>
                  <a:srgbClr val="E2E8F0"/>
                </a:solidFill>
                <a:latin typeface="Courier New"/>
              </a:rPr>
              <a:t>console.log(today.format("MMM D"));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lecture/10_npm/app.js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Live practice 3: npm and React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npm --version · npm init -y · npm create vite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Check npm exists: npm --version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Make a folder, then run npm init -y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Create the React app with npm create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cd in, npm install, npm run dev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# same on Mac and Windows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npm --version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10.x.x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npm init -y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npm create vite@latest my-react-app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    -- --template react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cd my-react-app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npm install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$ npm run dev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Local: http://localhost:5173/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live-practice/03_npm_react_setup.md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Homework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574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Multiplication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671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Print a table from 1 to 10 with a for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0815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34290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290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1729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Temperature converter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387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A function that returns Fahrenheit, then Hot or not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453128"/>
            <a:ext cx="10972800" cy="12070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800600"/>
            <a:ext cx="512064" cy="51206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0060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544568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Guess the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1032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Loop until the guess is right, count the 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Python tasks from Class 2, now in JavaScript. Run each with node.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Homework 4: A small site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Uses: HTML · CSS · JavaScript · the DOM ·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70992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02082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170992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Three files: index.html, style.css, script.js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71576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02666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71576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heading, a paragraph and a Change title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72160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403250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 counter button and a dark mode button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4727448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5038344"/>
            <a:ext cx="201168" cy="201168"/>
          </a:xfrm>
          <a:prstGeom prst="ellipse">
            <a:avLst/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727448"/>
            <a:ext cx="4069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0B1F2A"/>
                </a:solidFill>
                <a:latin typeface="Carlito"/>
              </a:rPr>
              <a:t>An input and a Greet me button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1709928"/>
            <a:ext cx="5733288" cy="4023360"/>
          </a:xfrm>
          <a:prstGeom prst="roundRect">
            <a:avLst>
              <a:gd name="adj" fmla="val 4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38528"/>
            <a:ext cx="5184648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Change title -&gt; heading changes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+1 slice      -&gt; number goes up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Dark mode     -&gt; colours switch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Greet me      -&gt; Hello, Asha!</a:t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/>
            </a:r>
          </a:p>
          <a:p>
            <a:pPr algn="l"/>
            <a:r>
              <a:rPr sz="1600" b="0">
                <a:solidFill>
                  <a:srgbClr val="E2E8F0"/>
                </a:solidFill>
                <a:latin typeface="Courier New"/>
              </a:rPr>
              <a:t>Empty input   -&gt; Please type your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50" b="0">
                <a:solidFill>
                  <a:srgbClr val="6B7F8A"/>
                </a:solidFill>
                <a:latin typeface="Carlito"/>
              </a:rPr>
              <a:t>File: homework/04_interactive_site/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Q&amp;A</a:t>
            </a:r>
            <a:endParaRPr lang="en-US" sz="1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594360"/>
            <a:ext cx="1097280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B1F2A"/>
                </a:solidFill>
                <a:latin typeface="Caladea Bold"/>
              </a:rPr>
              <a:t>The 8-week roadmap</a:t>
            </a:r>
          </a:p>
        </p:txBody>
      </p:sp>
      <p:sp>
        <p:nvSpPr>
          <p:cNvPr id="3" name="SlideNo"/>
          <p:cNvSpPr txBox="1"/>
          <p:nvPr/>
        </p:nvSpPr>
        <p:spPr>
          <a:xfrm>
            <a:off x="11219688" y="63733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6B7F8A"/>
                </a:solidFill>
                <a:latin typeface="Carlito"/>
              </a:rPr>
              <a:t>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920240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709928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Setup &amp;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011680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2011680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3081528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871216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Python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07992" y="3172968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3172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13" name="Rounded Rectangle 9"/>
          <p:cNvSpPr/>
          <p:nvPr/>
        </p:nvSpPr>
        <p:spPr>
          <a:xfrm>
            <a:off x="612648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1FA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4" name="Oval 10"/>
          <p:cNvSpPr/>
          <p:nvPr/>
        </p:nvSpPr>
        <p:spPr>
          <a:xfrm>
            <a:off x="850392" y="4242816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5" name="TextBox 11"/>
          <p:cNvSpPr txBox="1"/>
          <p:nvPr/>
        </p:nvSpPr>
        <p:spPr>
          <a:xfrm>
            <a:off x="850392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FA67A"/>
                </a:solidFill>
                <a:latin typeface="Carlito"/>
              </a:rPr>
              <a:t>3</a:t>
            </a:r>
          </a:p>
        </p:txBody>
      </p:sp>
      <p:sp>
        <p:nvSpPr>
          <p:cNvPr id="900016" name="TextBox 12"/>
          <p:cNvSpPr txBox="1"/>
          <p:nvPr/>
        </p:nvSpPr>
        <p:spPr>
          <a:xfrm>
            <a:off x="1645919" y="4032504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JavaScript Fundamentals</a:t>
            </a:r>
          </a:p>
        </p:txBody>
      </p:sp>
      <p:sp>
        <p:nvSpPr>
          <p:cNvPr id="900017" name="Rounded Rectangle 13"/>
          <p:cNvSpPr/>
          <p:nvPr/>
        </p:nvSpPr>
        <p:spPr>
          <a:xfrm>
            <a:off x="4507992" y="4334256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18" name="TextBox 14"/>
          <p:cNvSpPr txBox="1"/>
          <p:nvPr/>
        </p:nvSpPr>
        <p:spPr>
          <a:xfrm>
            <a:off x="4507992" y="4334256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Complete</a:t>
            </a:r>
          </a:p>
        </p:txBody>
      </p:sp>
      <p:sp>
        <p:nvSpPr>
          <p:cNvPr id="900019" name="Rounded Rectangle 15"/>
          <p:cNvSpPr/>
          <p:nvPr/>
        </p:nvSpPr>
        <p:spPr>
          <a:xfrm>
            <a:off x="612648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0" name="Oval 16"/>
          <p:cNvSpPr/>
          <p:nvPr/>
        </p:nvSpPr>
        <p:spPr>
          <a:xfrm>
            <a:off x="850392" y="5404104"/>
            <a:ext cx="557784" cy="55778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1" name="TextBox 17"/>
          <p:cNvSpPr txBox="1"/>
          <p:nvPr/>
        </p:nvSpPr>
        <p:spPr>
          <a:xfrm>
            <a:off x="850392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3B82C4"/>
                </a:solidFill>
                <a:latin typeface="Carlito"/>
              </a:rPr>
              <a:t>4</a:t>
            </a:r>
          </a:p>
        </p:txBody>
      </p:sp>
      <p:sp>
        <p:nvSpPr>
          <p:cNvPr id="900022" name="TextBox 18"/>
          <p:cNvSpPr txBox="1"/>
          <p:nvPr/>
        </p:nvSpPr>
        <p:spPr>
          <a:xfrm>
            <a:off x="1645919" y="5193792"/>
            <a:ext cx="310896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arlito"/>
              </a:rPr>
              <a:t>Backend with FastAPI</a:t>
            </a:r>
          </a:p>
        </p:txBody>
      </p:sp>
      <p:sp>
        <p:nvSpPr>
          <p:cNvPr id="900023" name="Rounded Rectangle 19"/>
          <p:cNvSpPr/>
          <p:nvPr/>
        </p:nvSpPr>
        <p:spPr>
          <a:xfrm>
            <a:off x="4507992" y="5495544"/>
            <a:ext cx="1344168" cy="365760"/>
          </a:xfrm>
          <a:prstGeom prst="roundRect">
            <a:avLst>
              <a:gd name="adj" fmla="val 30000"/>
            </a:avLst>
          </a:prstGeom>
          <a:solidFill>
            <a:srgbClr val="0B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024" name="TextBox 20"/>
          <p:cNvSpPr txBox="1"/>
          <p:nvPr/>
        </p:nvSpPr>
        <p:spPr>
          <a:xfrm>
            <a:off x="4507992" y="5495544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rlito"/>
              </a:rPr>
              <a:t>Next Class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09928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55664" y="1920240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1920240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709928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HTML, CSS &amp; Vanilla JS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71216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55664" y="3081528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081528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2871216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React, Rebuilt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32504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55664" y="4242816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4242816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51192" y="4032504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Full-Stack Integration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193792"/>
            <a:ext cx="5367528" cy="978408"/>
          </a:xfrm>
          <a:prstGeom prst="roundRect">
            <a:avLst>
              <a:gd name="adj" fmla="val 12000"/>
            </a:avLst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55664" y="5404104"/>
            <a:ext cx="557784" cy="557784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5404104"/>
            <a:ext cx="557784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rlito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5193792"/>
            <a:ext cx="4206240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0B1F2A"/>
                </a:solidFill>
                <a:latin typeface="Carlito"/>
              </a:rPr>
              <a:t>Capstone &amp; Demo Day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1256475" y="2314377"/>
            <a:ext cx="10484778" cy="1950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0" b="1" spc="141" kern="10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1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2026-10-17T08:37:58Z</dcterms:created>
  <dcterms:modified xsi:type="dcterms:W3CDTF">2026-10-17T08:37:58Z</dcterms:modified>
</cp:coreProperties>
</file>
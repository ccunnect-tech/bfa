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we get every laptop ready, then write our first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BFA is in your own words here. Hands-on, no prior experience needed, everything lives in one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rules for the room. Repeat them whenever someone is stuck or copying.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Roughly: 45-60 min setup, 10 min break/checkpoint, 45 min coding, 5 min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Git is the save-game system on your laptop. GitHub is the cloud where saves live. GitHub Desktop is the friendly buttons.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Original repo is ours. Fork is yours on GitHub. Clone puts it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save-game analogy. Repository = project folder with history. Commit = a save point. Push = upload saves. Pull = download others' saves.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Real-world: freelancers and teams both rely on this daily.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is the stable version. Nobody edits it directly. Each person works on a branch, then asks to merge with a pull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picture. Main is the stable line. Priya and Sam each branch off, commit on their own line, then merge back. Nobody breaks main while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ideas, then tell the story: Priya and Sam work at the same time without touching each other's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merge conflict happens when two people edit the same lines. Git asks a human to decide. It is normal, not a disaster.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runs JavaScript on your computer. We use it with React in later classes. npm comes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Windows: the PATH checkbox is the number one cause of problems. Say it loudly.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must show a screenshot of the output. 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How far we get depends on how fast setup finishes. Anything we skip, we continue next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each line together and run. Ask: what will line 2 print before running? Show that print("2 + 3") prints 2 + 3 as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 with a label. = means store, not equals. The value inside can change; the label stays.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line 3. Students often read it as a math equation. Say: right side is calculated first, then stored on the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it together. Show the expected output first, let them try, then walk through the solution on your own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vs habits. Python is case-sensitive: Age and age are different variables.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type() live: print(type(25)). Point out that "25" in quotes is text, not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without int() on purpose so they see the TypeError.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Comparisons return True or False. Warn about = vs ==.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flowchart. Age is 20, so 20 &gt;= 18 is True and only the Adult branch runs. Then change age to 15 and trace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error live: remove the colon, then remove the indentation, read the error message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them try first. Hint only if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what prints if score is 95? What if we reversed the order of the first two checks?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them to test all three cases, including the edges 90 and 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line and say the truth result for age = 20, has_id =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.py file per problem. Adjust as you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once on screen. We open each student's branch on GitHub to check the work. Same branch for the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</a:rPr>
              <a:t>CLASS 1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your computer,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write your first code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Git and GitHub  ·  Node.js  ·  Python  ·  VS Code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 course. No slides to memorize, just tasks to 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this course</a:t>
            </a:r>
            <a:endParaRPr lang="en-US" sz="3000" dirty="0"/>
          </a:p>
        </p:txBody>
      </p:sp>
      <p:sp>
        <p:nvSpPr>
          <p:cNvPr id="4" name="about card"/>
          <p:cNvSpPr/>
          <p:nvPr/>
        </p:nvSpPr>
        <p:spPr>
          <a:xfrm>
            <a:off x="457200" y="128016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is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hands-on, task-based course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Learn by doing, not by watching slides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programming experience needed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Includes working with modern tools, including AI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How the course goes</a:t>
            </a:r>
            <a:endParaRPr lang="en-US" sz="1800" dirty="0"/>
          </a:p>
        </p:txBody>
      </p:sp>
      <p:sp>
        <p:nvSpPr>
          <p:cNvPr id="8" name="course step"/>
          <p:cNvSpPr/>
          <p:nvPr/>
        </p:nvSpPr>
        <p:spPr>
          <a:xfrm>
            <a:off x="4572000" y="17830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"/>
          <p:cNvSpPr/>
          <p:nvPr/>
        </p:nvSpPr>
        <p:spPr>
          <a:xfrm>
            <a:off x="4754880" y="19842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Live class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49240" y="21854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You code alongside the instructor</a:t>
            </a:r>
            <a:endParaRPr lang="en-US" sz="1300" dirty="0"/>
          </a:p>
        </p:txBody>
      </p:sp>
      <p:sp>
        <p:nvSpPr>
          <p:cNvPr id="13" name="course step"/>
          <p:cNvSpPr/>
          <p:nvPr/>
        </p:nvSpPr>
        <p:spPr>
          <a:xfrm>
            <a:off x="4572000" y="26974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"/>
          <p:cNvSpPr/>
          <p:nvPr/>
        </p:nvSpPr>
        <p:spPr>
          <a:xfrm>
            <a:off x="4754880" y="28986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2770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After-class tasks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30998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Finish more tasks on your own</a:t>
            </a:r>
            <a:endParaRPr lang="en-US" sz="1300" dirty="0"/>
          </a:p>
        </p:txBody>
      </p:sp>
      <p:sp>
        <p:nvSpPr>
          <p:cNvPr id="18" name="course step"/>
          <p:cNvSpPr/>
          <p:nvPr/>
        </p:nvSpPr>
        <p:spPr>
          <a:xfrm>
            <a:off x="4572000" y="36118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"/>
          <p:cNvSpPr/>
          <p:nvPr/>
        </p:nvSpPr>
        <p:spPr>
          <a:xfrm>
            <a:off x="4754880" y="38130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3685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Submit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349240" y="4014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Push your work to your GitHub repo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learn in this course</a:t>
            </a:r>
            <a:endParaRPr lang="en-US" sz="3000" dirty="0"/>
          </a:p>
        </p:txBody>
      </p:sp>
      <p:sp>
        <p:nvSpPr>
          <p:cNvPr id="4" name="rule card"/>
          <p:cNvSpPr/>
          <p:nvPr/>
        </p:nvSpPr>
        <p:spPr>
          <a:xfrm>
            <a:off x="45720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it yourself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We code from minute one. No copy-paste.</a:t>
            </a:r>
            <a:endParaRPr lang="en-US" sz="1500" dirty="0"/>
          </a:p>
        </p:txBody>
      </p:sp>
      <p:sp>
        <p:nvSpPr>
          <p:cNvPr id="9" name="rule card"/>
          <p:cNvSpPr/>
          <p:nvPr/>
        </p:nvSpPr>
        <p:spPr>
          <a:xfrm>
            <a:off x="329184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3520440" y="1600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it, fix it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Errors are how programmers learn.</a:t>
            </a:r>
            <a:endParaRPr lang="en-US" sz="1500" dirty="0"/>
          </a:p>
        </p:txBody>
      </p:sp>
      <p:sp>
        <p:nvSpPr>
          <p:cNvPr id="14" name="rule card"/>
          <p:cNvSpPr/>
          <p:nvPr/>
        </p:nvSpPr>
        <p:spPr>
          <a:xfrm>
            <a:off x="612648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6355080" y="1600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early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Stuck for 3 minutes? Put your hand up.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</a:t>
            </a:r>
            <a:endParaRPr lang="en-US" sz="3000" dirty="0"/>
          </a:p>
        </p:txBody>
      </p:sp>
      <p:sp>
        <p:nvSpPr>
          <p:cNvPr id="4" name="plan card"/>
          <p:cNvSpPr/>
          <p:nvPr/>
        </p:nvSpPr>
        <p:spPr>
          <a:xfrm>
            <a:off x="45720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59436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Git and GitHub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What they are, account, fork, clone</a:t>
            </a:r>
            <a:endParaRPr lang="en-US" sz="1400" dirty="0"/>
          </a:p>
        </p:txBody>
      </p:sp>
      <p:sp>
        <p:nvSpPr>
          <p:cNvPr id="9" name="plan card"/>
          <p:cNvSpPr/>
          <p:nvPr/>
        </p:nvSpPr>
        <p:spPr>
          <a:xfrm>
            <a:off x="210312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224028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402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Install tools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Node.js, Python, VS Code</a:t>
            </a:r>
            <a:endParaRPr lang="en-US" sz="1400" dirty="0"/>
          </a:p>
        </p:txBody>
      </p:sp>
      <p:sp>
        <p:nvSpPr>
          <p:cNvPr id="14" name="plan card"/>
          <p:cNvSpPr/>
          <p:nvPr/>
        </p:nvSpPr>
        <p:spPr>
          <a:xfrm>
            <a:off x="374904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38862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8620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Verify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88620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Run check_setup.py</a:t>
            </a:r>
            <a:endParaRPr lang="en-US" sz="1400" dirty="0"/>
          </a:p>
        </p:txBody>
      </p:sp>
      <p:sp>
        <p:nvSpPr>
          <p:cNvPr id="19" name="plan card"/>
          <p:cNvSpPr/>
          <p:nvPr/>
        </p:nvSpPr>
        <p:spPr>
          <a:xfrm>
            <a:off x="539496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5532120" y="1554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321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53212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Write Python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53212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coding together</a:t>
            </a:r>
            <a:endParaRPr lang="en-US" sz="1400" dirty="0"/>
          </a:p>
        </p:txBody>
      </p:sp>
      <p:sp>
        <p:nvSpPr>
          <p:cNvPr id="24" name="plan card"/>
          <p:cNvSpPr/>
          <p:nvPr/>
        </p:nvSpPr>
        <p:spPr>
          <a:xfrm>
            <a:off x="704088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tep number"/>
          <p:cNvSpPr/>
          <p:nvPr/>
        </p:nvSpPr>
        <p:spPr>
          <a:xfrm>
            <a:off x="7178040" y="1554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17804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Homework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17804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Practice problems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Green = setup (before we code).  Blue = coding.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Git, GitHub and GitHub Desktop</a:t>
            </a:r>
            <a:endParaRPr lang="en-US" sz="3000" dirty="0"/>
          </a:p>
        </p:txBody>
      </p:sp>
      <p:sp>
        <p:nvSpPr>
          <p:cNvPr id="4" name="concept card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ept dot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tool on your laptop that records every version of your files. Like unlimited undo.</a:t>
            </a:r>
            <a:endParaRPr lang="en-US" sz="1400" dirty="0"/>
          </a:p>
        </p:txBody>
      </p:sp>
      <p:sp>
        <p:nvSpPr>
          <p:cNvPr id="8" name="concept card"/>
          <p:cNvSpPr/>
          <p:nvPr/>
        </p:nvSpPr>
        <p:spPr>
          <a:xfrm>
            <a:off x="329184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ncept dot"/>
          <p:cNvSpPr/>
          <p:nvPr/>
        </p:nvSpPr>
        <p:spPr>
          <a:xfrm>
            <a:off x="3520440" y="160020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204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website that stores your Git projects online. Your backup, and how you share work.</a:t>
            </a:r>
            <a:endParaRPr lang="en-US" sz="1400" dirty="0"/>
          </a:p>
        </p:txBody>
      </p:sp>
      <p:sp>
        <p:nvSpPr>
          <p:cNvPr id="12" name="concept card"/>
          <p:cNvSpPr/>
          <p:nvPr/>
        </p:nvSpPr>
        <p:spPr>
          <a:xfrm>
            <a:off x="612648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oncept dot"/>
          <p:cNvSpPr/>
          <p:nvPr/>
        </p:nvSpPr>
        <p:spPr>
          <a:xfrm>
            <a:off x="6355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5508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Desktop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app with buttons for Git. No commands to memorize.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Every developer uses Git. It is how teams work on the same code without overwriting each other.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copy of the course works</a:t>
            </a:r>
            <a:endParaRPr lang="en-US" sz="3000" dirty="0"/>
          </a:p>
        </p:txBody>
      </p:sp>
      <p:sp>
        <p:nvSpPr>
          <p:cNvPr id="4" name="flow box"/>
          <p:cNvSpPr/>
          <p:nvPr/>
        </p:nvSpPr>
        <p:spPr>
          <a:xfrm>
            <a:off x="45720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repo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Original, on GitHub</a:t>
            </a:r>
            <a:endParaRPr lang="en-US" sz="1400" dirty="0"/>
          </a:p>
        </p:txBody>
      </p:sp>
      <p:sp>
        <p:nvSpPr>
          <p:cNvPr id="7" name="flow arrow"/>
          <p:cNvSpPr/>
          <p:nvPr/>
        </p:nvSpPr>
        <p:spPr>
          <a:xfrm>
            <a:off x="2926080" y="21488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83464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Fork</a:t>
            </a:r>
            <a:endParaRPr lang="en-US" sz="1400" dirty="0"/>
          </a:p>
        </p:txBody>
      </p:sp>
      <p:sp>
        <p:nvSpPr>
          <p:cNvPr id="9" name="flow box"/>
          <p:cNvSpPr/>
          <p:nvPr/>
        </p:nvSpPr>
        <p:spPr>
          <a:xfrm>
            <a:off x="347472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7472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fork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Your copy, on GitHub</a:t>
            </a:r>
            <a:endParaRPr lang="en-US" sz="1400" dirty="0"/>
          </a:p>
        </p:txBody>
      </p:sp>
      <p:sp>
        <p:nvSpPr>
          <p:cNvPr id="12" name="flow arrow"/>
          <p:cNvSpPr/>
          <p:nvPr/>
        </p:nvSpPr>
        <p:spPr>
          <a:xfrm>
            <a:off x="5943600" y="21488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Clone</a:t>
            </a:r>
            <a:endParaRPr lang="en-US" sz="1400" dirty="0"/>
          </a:p>
        </p:txBody>
      </p:sp>
      <p:sp>
        <p:nvSpPr>
          <p:cNvPr id="14" name="flow box"/>
          <p:cNvSpPr/>
          <p:nvPr/>
        </p:nvSpPr>
        <p:spPr>
          <a:xfrm>
            <a:off x="649224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laptop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Cloned folder in VS Code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Your work goes into your copy. You can still pull updates from the original.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 four words</a:t>
            </a:r>
            <a:endParaRPr lang="en-US" sz="3000" dirty="0"/>
          </a:p>
        </p:txBody>
      </p:sp>
      <p:sp>
        <p:nvSpPr>
          <p:cNvPr id="4" name="vocab card"/>
          <p:cNvSpPr/>
          <p:nvPr/>
        </p:nvSpPr>
        <p:spPr>
          <a:xfrm>
            <a:off x="45720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vocab dot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project folder plus its full history. Also called a repo.</a:t>
            </a:r>
            <a:endParaRPr lang="en-US" sz="1400" dirty="0"/>
          </a:p>
        </p:txBody>
      </p:sp>
      <p:sp>
        <p:nvSpPr>
          <p:cNvPr id="8" name="vocab card"/>
          <p:cNvSpPr/>
          <p:nvPr/>
        </p:nvSpPr>
        <p:spPr>
          <a:xfrm>
            <a:off x="256032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vocab dot"/>
          <p:cNvSpPr/>
          <p:nvPr/>
        </p:nvSpPr>
        <p:spPr>
          <a:xfrm>
            <a:off x="274320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320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74320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save point with a short message, like "Add greeting function".</a:t>
            </a:r>
            <a:endParaRPr lang="en-US" sz="1400" dirty="0"/>
          </a:p>
        </p:txBody>
      </p:sp>
      <p:sp>
        <p:nvSpPr>
          <p:cNvPr id="12" name="vocab card"/>
          <p:cNvSpPr/>
          <p:nvPr/>
        </p:nvSpPr>
        <p:spPr>
          <a:xfrm>
            <a:off x="466344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vocab dot"/>
          <p:cNvSpPr/>
          <p:nvPr/>
        </p:nvSpPr>
        <p:spPr>
          <a:xfrm>
            <a:off x="4846320" y="155448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your commits from your laptop to GitHub.</a:t>
            </a:r>
            <a:endParaRPr lang="en-US" sz="1400" dirty="0"/>
          </a:p>
        </p:txBody>
      </p:sp>
      <p:sp>
        <p:nvSpPr>
          <p:cNvPr id="16" name="vocab card"/>
          <p:cNvSpPr/>
          <p:nvPr/>
        </p:nvSpPr>
        <p:spPr>
          <a:xfrm>
            <a:off x="676656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vocab dot"/>
          <p:cNvSpPr/>
          <p:nvPr/>
        </p:nvSpPr>
        <p:spPr>
          <a:xfrm>
            <a:off x="6949440" y="15544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new commits from GitHub to your laptop.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Your daily loop:  edit files  →  commit  →  push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developers use Git</a:t>
            </a:r>
            <a:endParaRPr lang="en-US" sz="3000" dirty="0"/>
          </a:p>
        </p:txBody>
      </p:sp>
      <p:sp>
        <p:nvSpPr>
          <p:cNvPr id="4" name="benefit card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Undo anything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commit is a snapshot. Go back to any earlier version.</a:t>
            </a:r>
            <a:endParaRPr lang="en-US" sz="1400" dirty="0"/>
          </a:p>
        </p:txBody>
      </p:sp>
      <p:sp>
        <p:nvSpPr>
          <p:cNvPr id="9" name="benefit card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489204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Nothing gets lost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Your code lives on GitHub too, not just on one laptop.</a:t>
            </a:r>
            <a:endParaRPr lang="en-US" sz="1400" dirty="0"/>
          </a:p>
        </p:txBody>
      </p:sp>
      <p:sp>
        <p:nvSpPr>
          <p:cNvPr id="14" name="benefit card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Work together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Many people change the same project without overwriting each other.</a:t>
            </a:r>
            <a:endParaRPr lang="en-US" sz="1400" dirty="0"/>
          </a:p>
        </p:txBody>
      </p:sp>
      <p:sp>
        <p:nvSpPr>
          <p:cNvPr id="19" name="benefit card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Show your work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Your GitHub profile becomes your portfolio for clients and employers.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teams work on GitHub</a:t>
            </a:r>
            <a:endParaRPr lang="en-US" sz="3000" dirty="0"/>
          </a:p>
        </p:txBody>
      </p:sp>
      <p:sp>
        <p:nvSpPr>
          <p:cNvPr id="4" name="workflow box"/>
          <p:cNvSpPr/>
          <p:nvPr/>
        </p:nvSpPr>
        <p:spPr>
          <a:xfrm>
            <a:off x="45720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Branch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Your own safe copy of the project</a:t>
            </a:r>
            <a:endParaRPr lang="en-US" sz="1300" dirty="0"/>
          </a:p>
        </p:txBody>
      </p:sp>
      <p:sp>
        <p:nvSpPr>
          <p:cNvPr id="9" name="workflow arrow"/>
          <p:cNvSpPr/>
          <p:nvPr/>
        </p:nvSpPr>
        <p:spPr>
          <a:xfrm>
            <a:off x="194767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workflow box"/>
          <p:cNvSpPr/>
          <p:nvPr/>
        </p:nvSpPr>
        <p:spPr>
          <a:xfrm>
            <a:off x="214884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ep number"/>
          <p:cNvSpPr/>
          <p:nvPr/>
        </p:nvSpPr>
        <p:spPr>
          <a:xfrm>
            <a:off x="228600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Commit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Save your changes on the branch</a:t>
            </a:r>
            <a:endParaRPr lang="en-US" sz="1300" dirty="0"/>
          </a:p>
        </p:txBody>
      </p:sp>
      <p:sp>
        <p:nvSpPr>
          <p:cNvPr id="15" name="workflow arrow"/>
          <p:cNvSpPr/>
          <p:nvPr/>
        </p:nvSpPr>
        <p:spPr>
          <a:xfrm>
            <a:off x="363931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workflow box"/>
          <p:cNvSpPr/>
          <p:nvPr/>
        </p:nvSpPr>
        <p:spPr>
          <a:xfrm>
            <a:off x="384048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tep number"/>
          <p:cNvSpPr/>
          <p:nvPr/>
        </p:nvSpPr>
        <p:spPr>
          <a:xfrm>
            <a:off x="397764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77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97764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Pull request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97764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Ask the team to add your work</a:t>
            </a:r>
            <a:endParaRPr lang="en-US" sz="1300" dirty="0"/>
          </a:p>
        </p:txBody>
      </p:sp>
      <p:sp>
        <p:nvSpPr>
          <p:cNvPr id="21" name="workflow arrow"/>
          <p:cNvSpPr/>
          <p:nvPr/>
        </p:nvSpPr>
        <p:spPr>
          <a:xfrm>
            <a:off x="533095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workflow box"/>
          <p:cNvSpPr/>
          <p:nvPr/>
        </p:nvSpPr>
        <p:spPr>
          <a:xfrm>
            <a:off x="553212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ep number"/>
          <p:cNvSpPr/>
          <p:nvPr/>
        </p:nvSpPr>
        <p:spPr>
          <a:xfrm>
            <a:off x="566928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692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Teammates read and comment</a:t>
            </a:r>
            <a:endParaRPr lang="en-US" sz="1300" dirty="0"/>
          </a:p>
        </p:txBody>
      </p:sp>
      <p:sp>
        <p:nvSpPr>
          <p:cNvPr id="27" name="workflow arrow"/>
          <p:cNvSpPr/>
          <p:nvPr/>
        </p:nvSpPr>
        <p:spPr>
          <a:xfrm>
            <a:off x="702259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workflow box"/>
          <p:cNvSpPr/>
          <p:nvPr/>
        </p:nvSpPr>
        <p:spPr>
          <a:xfrm>
            <a:off x="722376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step number"/>
          <p:cNvSpPr/>
          <p:nvPr/>
        </p:nvSpPr>
        <p:spPr>
          <a:xfrm>
            <a:off x="7360920" y="1508760"/>
            <a:ext cx="384048" cy="38404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609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Merge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36092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Your work joins main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main = the stable, shared version.  branch = your own workspace.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 this course you use a fork and push to it. Later we will practise branches and pull requests.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branches look like</a:t>
            </a:r>
            <a:endParaRPr lang="en-US" sz="3000" dirty="0"/>
          </a:p>
        </p:txBody>
      </p:sp>
      <p:sp>
        <p:nvSpPr>
          <p:cNvPr id="4" name="branch line"/>
          <p:cNvSpPr/>
          <p:nvPr/>
        </p:nvSpPr>
        <p:spPr>
          <a:xfrm>
            <a:off x="914400" y="1783080"/>
            <a:ext cx="758952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5" name="branch path"/>
          <p:cNvSpPr/>
          <p:nvPr/>
        </p:nvSpPr>
        <p:spPr>
          <a:xfrm>
            <a:off x="2468880" y="1783080"/>
            <a:ext cx="2743200" cy="1097280"/>
          </a:xfrm>
          <a:custGeom>
            <a:avLst/>
            <a:gdLst/>
            <a:ahLst/>
            <a:cxnLst/>
            <a:rect l="l" t="t" r="r" b="b"/>
            <a:pathLst>
              <a:path w="2743200" h="1097280">
                <a:moveTo>
                  <a:pt x="0" y="0"/>
                </a:moveTo>
                <a:lnTo>
                  <a:pt x="640080" y="1097280"/>
                </a:lnTo>
                <a:lnTo>
                  <a:pt x="1737360" y="1097280"/>
                </a:lnTo>
                <a:lnTo>
                  <a:pt x="2743200" y="0"/>
                </a:lnTo>
              </a:path>
            </a:pathLst>
          </a:custGeom>
          <a:solidFill>
            <a:schemeClr val="bg1">
              <a:alpha val="0"/>
            </a:schemeClr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6" name="branch path"/>
          <p:cNvSpPr/>
          <p:nvPr/>
        </p:nvSpPr>
        <p:spPr>
          <a:xfrm>
            <a:off x="1280160" y="1783080"/>
            <a:ext cx="5943600" cy="2011680"/>
          </a:xfrm>
          <a:custGeom>
            <a:avLst/>
            <a:gdLst/>
            <a:ahLst/>
            <a:cxnLst/>
            <a:rect l="l" t="t" r="r" b="b"/>
            <a:pathLst>
              <a:path w="5943600" h="2011680">
                <a:moveTo>
                  <a:pt x="0" y="0"/>
                </a:moveTo>
                <a:lnTo>
                  <a:pt x="731520" y="2011680"/>
                </a:lnTo>
                <a:lnTo>
                  <a:pt x="4572000" y="2011680"/>
                </a:lnTo>
                <a:lnTo>
                  <a:pt x="5943600" y="0"/>
                </a:lnTo>
              </a:path>
            </a:pathLst>
          </a:custGeom>
          <a:solidFill>
            <a:schemeClr val="bg1">
              <a:alpha val="0"/>
            </a:schemeClr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7" name="commit dot"/>
          <p:cNvSpPr/>
          <p:nvPr/>
        </p:nvSpPr>
        <p:spPr>
          <a:xfrm>
            <a:off x="1152144" y="165506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commit dot"/>
          <p:cNvSpPr/>
          <p:nvPr/>
        </p:nvSpPr>
        <p:spPr>
          <a:xfrm>
            <a:off x="2340864" y="165506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commit dot"/>
          <p:cNvSpPr/>
          <p:nvPr/>
        </p:nvSpPr>
        <p:spPr>
          <a:xfrm>
            <a:off x="5084064" y="1655064"/>
            <a:ext cx="256032" cy="256032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commit dot"/>
          <p:cNvSpPr/>
          <p:nvPr/>
        </p:nvSpPr>
        <p:spPr>
          <a:xfrm>
            <a:off x="7095744" y="1655064"/>
            <a:ext cx="256032" cy="256032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commit dot"/>
          <p:cNvSpPr/>
          <p:nvPr/>
        </p:nvSpPr>
        <p:spPr>
          <a:xfrm>
            <a:off x="298094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commit dot"/>
          <p:cNvSpPr/>
          <p:nvPr/>
        </p:nvSpPr>
        <p:spPr>
          <a:xfrm>
            <a:off x="352958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commit dot"/>
          <p:cNvSpPr/>
          <p:nvPr/>
        </p:nvSpPr>
        <p:spPr>
          <a:xfrm>
            <a:off x="407822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commit dot"/>
          <p:cNvSpPr/>
          <p:nvPr/>
        </p:nvSpPr>
        <p:spPr>
          <a:xfrm>
            <a:off x="188366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commit dot"/>
          <p:cNvSpPr/>
          <p:nvPr/>
        </p:nvSpPr>
        <p:spPr>
          <a:xfrm>
            <a:off x="316382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commit dot"/>
          <p:cNvSpPr/>
          <p:nvPr/>
        </p:nvSpPr>
        <p:spPr>
          <a:xfrm>
            <a:off x="444398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commit dot"/>
          <p:cNvSpPr/>
          <p:nvPr/>
        </p:nvSpPr>
        <p:spPr>
          <a:xfrm>
            <a:off x="572414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1188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main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Priya's branch: login-page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0116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Sam's branch: greeting-feature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merge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merge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Time  →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434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dot is a commit.  Each coloured line is a separate workspace.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branch picture</a:t>
            </a:r>
            <a:endParaRPr lang="en-US" sz="3000" dirty="0"/>
          </a:p>
        </p:txBody>
      </p:sp>
      <p:sp>
        <p:nvSpPr>
          <p:cNvPr id="4" name="read card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ead dot"/>
          <p:cNvSpPr/>
          <p:nvPr/>
        </p:nvSpPr>
        <p:spPr>
          <a:xfrm>
            <a:off x="685800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main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stable, shared version of the project. It should always work.</a:t>
            </a:r>
            <a:endParaRPr lang="en-US" sz="1400" dirty="0"/>
          </a:p>
        </p:txBody>
      </p:sp>
      <p:sp>
        <p:nvSpPr>
          <p:cNvPr id="8" name="read card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ead dot"/>
          <p:cNvSpPr/>
          <p:nvPr/>
        </p:nvSpPr>
        <p:spPr>
          <a:xfrm>
            <a:off x="4892040" y="16002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copy where you work freely. You cannot break main from here.</a:t>
            </a:r>
            <a:endParaRPr lang="en-US" sz="1400" dirty="0"/>
          </a:p>
        </p:txBody>
      </p:sp>
      <p:sp>
        <p:nvSpPr>
          <p:cNvPr id="12" name="read card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read dot"/>
          <p:cNvSpPr/>
          <p:nvPr/>
        </p:nvSpPr>
        <p:spPr>
          <a:xfrm>
            <a:off x="685800" y="31546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Commits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Save points on your branch. Make small ones as you go.</a:t>
            </a:r>
            <a:endParaRPr lang="en-US" sz="1400" dirty="0"/>
          </a:p>
        </p:txBody>
      </p:sp>
      <p:sp>
        <p:nvSpPr>
          <p:cNvPr id="16" name="read card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read dot"/>
          <p:cNvSpPr/>
          <p:nvPr/>
        </p:nvSpPr>
        <p:spPr>
          <a:xfrm>
            <a:off x="4892040" y="315468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Merge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When the work is reviewed and ready, the branch joins main.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Priya and Sam work at the same time, and neither can break the other's work.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team habits (and merge conflicts)</a:t>
            </a:r>
            <a:endParaRPr lang="en-US" sz="3000" dirty="0"/>
          </a:p>
        </p:txBody>
      </p:sp>
      <p:sp>
        <p:nvSpPr>
          <p:cNvPr id="4" name="habits card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Team habits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Pull before you start 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Make small, frequent commits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clear commit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Never work directly on main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Ask for review before merging</a:t>
            </a:r>
            <a:endParaRPr lang="en-US" sz="1500" dirty="0"/>
          </a:p>
        </p:txBody>
      </p:sp>
      <p:sp>
        <p:nvSpPr>
          <p:cNvPr id="7" name="conflict card"/>
          <p:cNvSpPr/>
          <p:nvPr/>
        </p:nvSpPr>
        <p:spPr>
          <a:xfrm>
            <a:off x="466344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Merge conflict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874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people edited the same line. Git marks both versions and you choose what to keep.</a:t>
            </a:r>
            <a:endParaRPr lang="en-US" sz="1400" dirty="0"/>
          </a:p>
        </p:txBody>
      </p:sp>
      <p:sp>
        <p:nvSpPr>
          <p:cNvPr id="10" name="code block"/>
          <p:cNvSpPr/>
          <p:nvPr/>
        </p:nvSpPr>
        <p:spPr>
          <a:xfrm>
            <a:off x="4892040" y="2743200"/>
            <a:ext cx="356616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2852928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yours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print("Hi")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theirs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Create a GitHub account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github.com/signup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Sign up with your email and pick a username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Verify your email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Write down your username and password</a:t>
            </a:r>
            <a:endParaRPr lang="en-US" sz="1600" dirty="0"/>
          </a:p>
        </p:txBody>
      </p:sp>
      <p:sp>
        <p:nvSpPr>
          <p:cNvPr id="15" name="tip card"/>
          <p:cNvSpPr/>
          <p:nvPr/>
        </p:nvSpPr>
        <p:spPr>
          <a:xfrm>
            <a:off x="5669280" y="1371600"/>
            <a:ext cx="30175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Tip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01168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Pick a username you are happy to show an employer or client later.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Video: step 1 in the setup guide (docs/)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Install GitHub Desktop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desktop.github.com and download for your computer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Mac: unzip and drag to Applications.  Windows: run the installer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Sign in to GitHub.com and authorize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the name and email it suggests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Only need to sign in once.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Fork and clone the course repo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8016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github.com/ccunnect-tech/BFA, click Fork, then Create fork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202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GitHub Desktop: File, Clone Repository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60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Pick your fork on the GitHub.com tab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004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a folder you will remember, click Clone</a:t>
            </a:r>
            <a:endParaRPr lang="en-US" sz="1600" dirty="0"/>
          </a:p>
        </p:txBody>
      </p:sp>
      <p:sp>
        <p:nvSpPr>
          <p:cNvPr id="15" name="step number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"To contribute to the parent project"</a:t>
            </a:r>
            <a:endParaRPr lang="en-US" sz="1600" dirty="0"/>
          </a:p>
        </p:txBody>
      </p:sp>
      <p:sp>
        <p:nvSpPr>
          <p:cNvPr id="18" name="chip"/>
          <p:cNvSpPr/>
          <p:nvPr/>
        </p:nvSpPr>
        <p:spPr>
          <a:xfrm>
            <a:off x="457200" y="452628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526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Documents/course</a:t>
            </a:r>
            <a:endParaRPr lang="en-US" sz="1300" dirty="0"/>
          </a:p>
        </p:txBody>
      </p:sp>
      <p:sp>
        <p:nvSpPr>
          <p:cNvPr id="21" name="chip"/>
          <p:cNvSpPr/>
          <p:nvPr/>
        </p:nvSpPr>
        <p:spPr>
          <a:xfrm>
            <a:off x="3291840" y="45262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9184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526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Documents\course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Install Node.js and npm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37160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nodejs.org, click the LTS button (not Current)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14884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the installer with default options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92608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and reopen VS Code and your terminal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0332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Check both versions</a:t>
            </a:r>
            <a:endParaRPr lang="en-US" sz="1600" dirty="0"/>
          </a:p>
        </p:txBody>
      </p:sp>
      <p:sp>
        <p:nvSpPr>
          <p:cNvPr id="16" name="code block"/>
          <p:cNvSpPr/>
          <p:nvPr/>
        </p:nvSpPr>
        <p:spPr>
          <a:xfrm>
            <a:off x="5669280" y="1463040"/>
            <a:ext cx="30175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1572768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--version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2606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Expected: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v22.x.x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10.x.x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5: Install Python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python.org/downloads, click the yellow Download button</a:t>
            </a:r>
            <a:endParaRPr lang="en-US" sz="1600" dirty="0"/>
          </a:p>
        </p:txBody>
      </p:sp>
      <p:sp>
        <p:nvSpPr>
          <p:cNvPr id="5" name="mac card"/>
          <p:cNvSpPr/>
          <p:nvPr/>
        </p:nvSpPr>
        <p:spPr>
          <a:xfrm>
            <a:off x="45720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ip"/>
          <p:cNvSpPr/>
          <p:nvPr/>
        </p:nvSpPr>
        <p:spPr>
          <a:xfrm>
            <a:off x="640080" y="1874520"/>
            <a:ext cx="8686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the .pkg, keep defaults.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Then open Terminal.</a:t>
            </a:r>
            <a:endParaRPr lang="en-US" sz="1400" dirty="0"/>
          </a:p>
        </p:txBody>
      </p:sp>
      <p:sp>
        <p:nvSpPr>
          <p:cNvPr id="9" name="code block"/>
          <p:cNvSpPr/>
          <p:nvPr/>
        </p:nvSpPr>
        <p:spPr>
          <a:xfrm>
            <a:off x="640080" y="3108960"/>
            <a:ext cx="365760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218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python3 --version</a:t>
            </a:r>
            <a:endParaRPr lang="en-US" sz="1400" dirty="0"/>
          </a:p>
        </p:txBody>
      </p:sp>
      <p:sp>
        <p:nvSpPr>
          <p:cNvPr id="11" name="windows card"/>
          <p:cNvSpPr/>
          <p:nvPr/>
        </p:nvSpPr>
        <p:spPr>
          <a:xfrm>
            <a:off x="466344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"/>
          <p:cNvSpPr/>
          <p:nvPr/>
        </p:nvSpPr>
        <p:spPr>
          <a:xfrm>
            <a:off x="4846320" y="1874520"/>
            <a:ext cx="8686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Tick "Add python.exe to PATH"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before Install Now. Then open Command Prompt.</a:t>
            </a:r>
            <a:endParaRPr lang="en-US" sz="1400" dirty="0"/>
          </a:p>
        </p:txBody>
      </p:sp>
      <p:sp>
        <p:nvSpPr>
          <p:cNvPr id="15" name="code block"/>
          <p:cNvSpPr/>
          <p:nvPr/>
        </p:nvSpPr>
        <p:spPr>
          <a:xfrm>
            <a:off x="4846320" y="3108960"/>
            <a:ext cx="365760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218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--version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Expected: Python 3.12.x (or newer)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Install VS Code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code.visualstudio.com and download for your computer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Mac: drag to Applications.  Windows: run installer, tick Add to PATH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VS Code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Extensions icon (left sidebar), search Python, install the one by Microsoft</a:t>
            </a:r>
            <a:endParaRPr lang="en-US" sz="1600" dirty="0"/>
          </a:p>
        </p:txBody>
      </p:sp>
      <p:sp>
        <p:nvSpPr>
          <p:cNvPr id="15" name="shortcut card"/>
          <p:cNvSpPr/>
          <p:nvPr/>
        </p:nvSpPr>
        <p:spPr>
          <a:xfrm>
            <a:off x="5943600" y="1371600"/>
            <a:ext cx="27432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Open Extensions</a:t>
            </a:r>
            <a:endParaRPr lang="en-US" sz="1600" dirty="0"/>
          </a:p>
        </p:txBody>
      </p:sp>
      <p:sp>
        <p:nvSpPr>
          <p:cNvPr id="17" name="chip"/>
          <p:cNvSpPr/>
          <p:nvPr/>
        </p:nvSpPr>
        <p:spPr>
          <a:xfrm>
            <a:off x="6126480" y="2057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2057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Cmd+Shift+X</a:t>
            </a:r>
            <a:endParaRPr lang="en-US" sz="1400" dirty="0"/>
          </a:p>
        </p:txBody>
      </p:sp>
      <p:sp>
        <p:nvSpPr>
          <p:cNvPr id="20" name="chip"/>
          <p:cNvSpPr/>
          <p:nvPr/>
        </p:nvSpPr>
        <p:spPr>
          <a:xfrm>
            <a:off x="6126480" y="256032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2560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7: Run the setup check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2801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Desktop: Open in Visual Studio Code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0116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Yes, I trust the authors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743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7432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Terminal, New Terminal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474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4747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the command, then screenshot the output</a:t>
            </a:r>
            <a:endParaRPr lang="en-US" sz="1600" dirty="0"/>
          </a:p>
        </p:txBody>
      </p:sp>
      <p:sp>
        <p:nvSpPr>
          <p:cNvPr id="16" name="chip"/>
          <p:cNvSpPr/>
          <p:nvPr/>
        </p:nvSpPr>
        <p:spPr>
          <a:xfrm>
            <a:off x="457200" y="4343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4343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check_setup.py</a:t>
            </a:r>
            <a:endParaRPr lang="en-US" sz="1300" dirty="0"/>
          </a:p>
        </p:txBody>
      </p:sp>
      <p:sp>
        <p:nvSpPr>
          <p:cNvPr id="19" name="chip"/>
          <p:cNvSpPr/>
          <p:nvPr/>
        </p:nvSpPr>
        <p:spPr>
          <a:xfrm>
            <a:off x="457200" y="470916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check_setup.py</a:t>
            </a:r>
            <a:endParaRPr lang="en-US" sz="1300" dirty="0"/>
          </a:p>
        </p:txBody>
      </p:sp>
      <p:sp>
        <p:nvSpPr>
          <p:cNvPr id="22" name="code block"/>
          <p:cNvSpPr/>
          <p:nvPr/>
        </p:nvSpPr>
        <p:spPr>
          <a:xfrm>
            <a:off x="4846320" y="1280160"/>
            <a:ext cx="38404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0" y="1389888"/>
            <a:ext cx="347472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Python 3.x.x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Visual Studio Code installed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VS Code Python extension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GitHub Desktop installed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git version 2.x.x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Node.js v22.x.x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npm 10.x.x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complete!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846320" y="4434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❌ must be fixed.  ⚠️ is optional.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basics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print  ·  Variables  ·  Data types  ·  input  ·  if / else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83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How much we cover today depends on how quickly everyone finishes setup.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What we don't finish, we continue in the next class.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print(): showing output</a:t>
            </a:r>
            <a:endParaRPr lang="en-US" sz="3000" dirty="0"/>
          </a:p>
        </p:txBody>
      </p:sp>
      <p:sp>
        <p:nvSpPr>
          <p:cNvPr id="4" name="code block"/>
          <p:cNvSpPr/>
          <p:nvPr/>
        </p:nvSpPr>
        <p:spPr>
          <a:xfrm>
            <a:off x="457200" y="1280160"/>
            <a:ext cx="4297680" cy="23774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39319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print("Hello, world!")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print(2 + 3)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print("Hi", "Sam")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502920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280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print() shows something on the screen.</a:t>
            </a:r>
            <a:endParaRPr lang="en-US" sz="1400" dirty="0"/>
          </a:p>
        </p:txBody>
      </p:sp>
      <p:sp>
        <p:nvSpPr>
          <p:cNvPr id="9" name="step number"/>
          <p:cNvSpPr/>
          <p:nvPr/>
        </p:nvSpPr>
        <p:spPr>
          <a:xfrm>
            <a:off x="5029200" y="21488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 goes inside quotes. Quotes make it text, not a command.</a:t>
            </a:r>
            <a:endParaRPr lang="en-US" sz="1400" dirty="0"/>
          </a:p>
        </p:txBody>
      </p:sp>
      <p:sp>
        <p:nvSpPr>
          <p:cNvPr id="12" name="step number"/>
          <p:cNvSpPr/>
          <p:nvPr/>
        </p:nvSpPr>
        <p:spPr>
          <a:xfrm>
            <a:off x="5029200" y="30175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017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Numbers need no quotes. Python adds 2 + 3 and prints 5.</a:t>
            </a:r>
            <a:endParaRPr lang="en-US" sz="1400" dirty="0"/>
          </a:p>
        </p:txBody>
      </p:sp>
      <p:sp>
        <p:nvSpPr>
          <p:cNvPr id="15" name="step number"/>
          <p:cNvSpPr/>
          <p:nvPr/>
        </p:nvSpPr>
        <p:spPr>
          <a:xfrm>
            <a:off x="5029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3886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comma joins items with a space: Hi Sam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variable?</a:t>
            </a:r>
            <a:endParaRPr lang="en-US" sz="3000" dirty="0"/>
          </a:p>
        </p:txBody>
      </p:sp>
      <p:sp>
        <p:nvSpPr>
          <p:cNvPr id="4" name="variable box"/>
          <p:cNvSpPr/>
          <p:nvPr/>
        </p:nvSpPr>
        <p:spPr>
          <a:xfrm>
            <a:off x="45720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name</a:t>
            </a:r>
            <a:endParaRPr lang="en-US" sz="1800" dirty="0"/>
          </a:p>
        </p:txBody>
      </p:sp>
      <p:sp>
        <p:nvSpPr>
          <p:cNvPr id="6" name="variable value"/>
          <p:cNvSpPr/>
          <p:nvPr/>
        </p:nvSpPr>
        <p:spPr>
          <a:xfrm>
            <a:off x="868680" y="201168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"Sam"</a:t>
            </a:r>
            <a:endParaRPr lang="en-US" sz="2400" dirty="0"/>
          </a:p>
        </p:txBody>
      </p:sp>
      <p:sp>
        <p:nvSpPr>
          <p:cNvPr id="8" name="variable box"/>
          <p:cNvSpPr/>
          <p:nvPr/>
        </p:nvSpPr>
        <p:spPr>
          <a:xfrm>
            <a:off x="329184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age</a:t>
            </a:r>
            <a:endParaRPr lang="en-US" sz="1800" dirty="0"/>
          </a:p>
        </p:txBody>
      </p:sp>
      <p:sp>
        <p:nvSpPr>
          <p:cNvPr id="10" name="variable value"/>
          <p:cNvSpPr/>
          <p:nvPr/>
        </p:nvSpPr>
        <p:spPr>
          <a:xfrm>
            <a:off x="3703320" y="201168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0332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2400" dirty="0"/>
          </a:p>
        </p:txBody>
      </p:sp>
      <p:sp>
        <p:nvSpPr>
          <p:cNvPr id="12" name="variable box"/>
          <p:cNvSpPr/>
          <p:nvPr/>
        </p:nvSpPr>
        <p:spPr>
          <a:xfrm>
            <a:off x="6126480" y="137160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2648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city</a:t>
            </a:r>
            <a:endParaRPr lang="en-US" sz="1800" dirty="0"/>
          </a:p>
        </p:txBody>
      </p:sp>
      <p:sp>
        <p:nvSpPr>
          <p:cNvPr id="14" name="variable value"/>
          <p:cNvSpPr/>
          <p:nvPr/>
        </p:nvSpPr>
        <p:spPr>
          <a:xfrm>
            <a:off x="6537960" y="201168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3796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"Toronto"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383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 variable is a labelled box that holds a value.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name = "Sam" means: put "Sam" into the box called name.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single = means store, not "equals". You can change what is inside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in code</a:t>
            </a:r>
            <a:endParaRPr lang="en-US" sz="3000" dirty="0"/>
          </a:p>
        </p:txBody>
      </p:sp>
      <p:sp>
        <p:nvSpPr>
          <p:cNvPr id="4" name="code block"/>
          <p:cNvSpPr/>
          <p:nvPr/>
        </p:nvSpPr>
        <p:spPr>
          <a:xfrm>
            <a:off x="457200" y="1280160"/>
            <a:ext cx="4297680" cy="23774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39319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"Sam"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25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age + 1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print(name, age)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502920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280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 variable called name and store the text Sam.</a:t>
            </a:r>
            <a:endParaRPr lang="en-US" sz="1400" dirty="0"/>
          </a:p>
        </p:txBody>
      </p:sp>
      <p:sp>
        <p:nvSpPr>
          <p:cNvPr id="9" name="step number"/>
          <p:cNvSpPr/>
          <p:nvPr/>
        </p:nvSpPr>
        <p:spPr>
          <a:xfrm>
            <a:off x="5029200" y="21488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age and store the number 25.</a:t>
            </a:r>
            <a:endParaRPr lang="en-US" sz="1400" dirty="0"/>
          </a:p>
        </p:txBody>
      </p:sp>
      <p:sp>
        <p:nvSpPr>
          <p:cNvPr id="12" name="step number"/>
          <p:cNvSpPr/>
          <p:nvPr/>
        </p:nvSpPr>
        <p:spPr>
          <a:xfrm>
            <a:off x="5029200" y="30175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017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age (25), add 1, store 26 back in age. The old value is replaced.</a:t>
            </a:r>
            <a:endParaRPr lang="en-US" sz="1400" dirty="0"/>
          </a:p>
        </p:txBody>
      </p:sp>
      <p:sp>
        <p:nvSpPr>
          <p:cNvPr id="15" name="step number"/>
          <p:cNvSpPr/>
          <p:nvPr/>
        </p:nvSpPr>
        <p:spPr>
          <a:xfrm>
            <a:off x="5029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3886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Print what is inside both boxes: Sam 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challenge 1: Age in 10 years</a:t>
            </a:r>
            <a:endParaRPr lang="en-US" sz="3000" dirty="0"/>
          </a:p>
        </p:txBody>
      </p:sp>
      <p:sp>
        <p:nvSpPr>
          <p:cNvPr id="4" name="task card"/>
          <p:cNvSpPr/>
          <p:nvPr/>
        </p:nvSpPr>
        <p:spPr>
          <a:xfrm>
            <a:off x="457200" y="128016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Your task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Ask for the name and age. Print how old the person will be in 10 years.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File: class-1/live/01_age_in_10_years.py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Expected output</a:t>
            </a:r>
            <a:endParaRPr lang="en-US" sz="1800" dirty="0"/>
          </a:p>
        </p:txBody>
      </p:sp>
      <p:sp>
        <p:nvSpPr>
          <p:cNvPr id="9" name="code block"/>
          <p:cNvSpPr/>
          <p:nvPr/>
        </p:nvSpPr>
        <p:spPr>
          <a:xfrm>
            <a:off x="4663440" y="1737360"/>
            <a:ext cx="4023360" cy="246888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847088"/>
            <a:ext cx="36576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name? Sam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age? 25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 will be 35 in 10 years.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name? Priya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age? 19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Priya will be 29 in 10 years.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Write it, run it, then commit and push to your branch.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Naming variables</a:t>
            </a:r>
            <a:endParaRPr lang="en-US" sz="3000" dirty="0"/>
          </a:p>
        </p:txBody>
      </p:sp>
      <p:sp>
        <p:nvSpPr>
          <p:cNvPr id="4" name="good names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Good names</a:t>
            </a:r>
            <a:endParaRPr lang="en-US" sz="1800" dirty="0"/>
          </a:p>
        </p:txBody>
      </p:sp>
      <p:sp>
        <p:nvSpPr>
          <p:cNvPr id="6" name="code block"/>
          <p:cNvSpPr/>
          <p:nvPr/>
        </p:nvSpPr>
        <p:spPr>
          <a:xfrm>
            <a:off x="685800" y="19202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2996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total_price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is_student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Lowercase, words joined with _, and the name says what it holds.</a:t>
            </a:r>
            <a:endParaRPr lang="en-US" sz="1400" dirty="0"/>
          </a:p>
        </p:txBody>
      </p:sp>
      <p:sp>
        <p:nvSpPr>
          <p:cNvPr id="9" name="bad names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Not allowed or confusing</a:t>
            </a:r>
            <a:endParaRPr lang="en-US" sz="1800" dirty="0"/>
          </a:p>
        </p:txBody>
      </p:sp>
      <p:sp>
        <p:nvSpPr>
          <p:cNvPr id="11" name="code block"/>
          <p:cNvSpPr/>
          <p:nvPr/>
        </p:nvSpPr>
        <p:spPr>
          <a:xfrm>
            <a:off x="4892040" y="19202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029968"/>
            <a:ext cx="32004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1name     # starts with a digit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name  # has a space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   # reserved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       # legal but unclear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matters: Age and age are two different variables.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types: what kind of value?</a:t>
            </a:r>
            <a:endParaRPr lang="en-US" sz="3000" dirty="0"/>
          </a:p>
        </p:txBody>
      </p:sp>
      <p:sp>
        <p:nvSpPr>
          <p:cNvPr id="4" name="type card"/>
          <p:cNvSpPr/>
          <p:nvPr/>
        </p:nvSpPr>
        <p:spPr>
          <a:xfrm>
            <a:off x="457200" y="1371600"/>
            <a:ext cx="1965960" cy="228600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hip"/>
          <p:cNvSpPr/>
          <p:nvPr/>
        </p:nvSpPr>
        <p:spPr>
          <a:xfrm>
            <a:off x="640080" y="15544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"Sam"</a:t>
            </a:r>
            <a:endParaRPr lang="en-US" sz="2400" dirty="0"/>
          </a:p>
        </p:txBody>
      </p:sp>
      <p:sp>
        <p:nvSpPr>
          <p:cNvPr id="9" name="type card"/>
          <p:cNvSpPr/>
          <p:nvPr/>
        </p:nvSpPr>
        <p:spPr>
          <a:xfrm>
            <a:off x="2560320" y="1371600"/>
            <a:ext cx="1965960" cy="228600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hip"/>
          <p:cNvSpPr/>
          <p:nvPr/>
        </p:nvSpPr>
        <p:spPr>
          <a:xfrm>
            <a:off x="2743200" y="15544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4320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7432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Whole number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2400" dirty="0"/>
          </a:p>
        </p:txBody>
      </p:sp>
      <p:sp>
        <p:nvSpPr>
          <p:cNvPr id="14" name="type card"/>
          <p:cNvSpPr/>
          <p:nvPr/>
        </p:nvSpPr>
        <p:spPr>
          <a:xfrm>
            <a:off x="4663440" y="1371600"/>
            <a:ext cx="1965960" cy="228600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hip"/>
          <p:cNvSpPr/>
          <p:nvPr/>
        </p:nvSpPr>
        <p:spPr>
          <a:xfrm>
            <a:off x="4846320" y="15544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float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Decimal number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9.99</a:t>
            </a:r>
            <a:endParaRPr lang="en-US" sz="2400" dirty="0"/>
          </a:p>
        </p:txBody>
      </p:sp>
      <p:sp>
        <p:nvSpPr>
          <p:cNvPr id="19" name="type card"/>
          <p:cNvSpPr/>
          <p:nvPr/>
        </p:nvSpPr>
        <p:spPr>
          <a:xfrm>
            <a:off x="6766560" y="1371600"/>
            <a:ext cx="1965960" cy="228600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hip"/>
          <p:cNvSpPr/>
          <p:nvPr/>
        </p:nvSpPr>
        <p:spPr>
          <a:xfrm>
            <a:off x="6949440" y="15544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944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bool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True or False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2400" dirty="0"/>
          </a:p>
        </p:txBody>
      </p:sp>
      <p:sp>
        <p:nvSpPr>
          <p:cNvPr id="24" name="code block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" y="395020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print(type("25"))   # &lt;class 'str'&gt;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print(type(25))     # &lt;class 'int'&gt;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input(): asking the user</a:t>
            </a:r>
            <a:endParaRPr lang="en-US" sz="3000" dirty="0"/>
          </a:p>
        </p:txBody>
      </p:sp>
      <p:sp>
        <p:nvSpPr>
          <p:cNvPr id="4" name="code block"/>
          <p:cNvSpPr/>
          <p:nvPr/>
        </p:nvSpPr>
        <p:spPr>
          <a:xfrm>
            <a:off x="457200" y="1280160"/>
            <a:ext cx="4297680" cy="246888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393192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input("Your name? 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int(input("Your age? "))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print(name, "will be", age + 10, "in 10 years")</a:t>
            </a:r>
            <a:endParaRPr lang="en-US" sz="1400" dirty="0"/>
          </a:p>
        </p:txBody>
      </p:sp>
      <p:sp>
        <p:nvSpPr>
          <p:cNvPr id="6" name="step number"/>
          <p:cNvSpPr/>
          <p:nvPr/>
        </p:nvSpPr>
        <p:spPr>
          <a:xfrm>
            <a:off x="502920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280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input() shows the question and waits for the user to type.</a:t>
            </a:r>
            <a:endParaRPr lang="en-US" sz="1400" dirty="0"/>
          </a:p>
        </p:txBody>
      </p:sp>
      <p:sp>
        <p:nvSpPr>
          <p:cNvPr id="9" name="step number"/>
          <p:cNvSpPr/>
          <p:nvPr/>
        </p:nvSpPr>
        <p:spPr>
          <a:xfrm>
            <a:off x="5029200" y="21488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Whatever is typed comes back as text, even if it looks like a number.</a:t>
            </a:r>
            <a:endParaRPr lang="en-US" sz="1400" dirty="0"/>
          </a:p>
        </p:txBody>
      </p:sp>
      <p:sp>
        <p:nvSpPr>
          <p:cNvPr id="12" name="step number"/>
          <p:cNvSpPr/>
          <p:nvPr/>
        </p:nvSpPr>
        <p:spPr>
          <a:xfrm>
            <a:off x="5029200" y="30175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017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int() turns the text into a whole number so we can do math.</a:t>
            </a:r>
            <a:endParaRPr lang="en-US" sz="1400" dirty="0"/>
          </a:p>
        </p:txBody>
      </p:sp>
      <p:sp>
        <p:nvSpPr>
          <p:cNvPr id="15" name="step number"/>
          <p:cNvSpPr/>
          <p:nvPr/>
        </p:nvSpPr>
        <p:spPr>
          <a:xfrm>
            <a:off x="5029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3886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Without int(), age + 10 would crash: text plus number.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Operators: math and comparing</a:t>
            </a:r>
            <a:endParaRPr lang="en-US" sz="3000" dirty="0"/>
          </a:p>
        </p:txBody>
      </p:sp>
      <p:sp>
        <p:nvSpPr>
          <p:cNvPr id="4" name="math card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Math</a:t>
            </a:r>
            <a:endParaRPr lang="en-US" sz="1800" dirty="0"/>
          </a:p>
        </p:txBody>
      </p:sp>
      <p:sp>
        <p:nvSpPr>
          <p:cNvPr id="6" name="code block"/>
          <p:cNvSpPr/>
          <p:nvPr/>
        </p:nvSpPr>
        <p:spPr>
          <a:xfrm>
            <a:off x="685800" y="1874520"/>
            <a:ext cx="3566160" cy="2331720"/>
          </a:xfrm>
          <a:prstGeom prst="roundRect">
            <a:avLst>
              <a:gd name="adj" fmla="val 313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984248"/>
            <a:ext cx="320040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+ 2    # 9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7 - 2    # 5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* 2    # 14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    # 3.5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// 2   # 3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7 % 2    # 1</a:t>
            </a:r>
            <a:endParaRPr lang="en-US" sz="1500" dirty="0"/>
          </a:p>
        </p:txBody>
      </p:sp>
      <p:sp>
        <p:nvSpPr>
          <p:cNvPr id="8" name="compare card"/>
          <p:cNvSpPr/>
          <p:nvPr/>
        </p:nvSpPr>
        <p:spPr>
          <a:xfrm>
            <a:off x="466344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Comparing (gives True / False)</a:t>
            </a:r>
            <a:endParaRPr lang="en-US" sz="1800" dirty="0"/>
          </a:p>
        </p:txBody>
      </p:sp>
      <p:sp>
        <p:nvSpPr>
          <p:cNvPr id="10" name="code block"/>
          <p:cNvSpPr/>
          <p:nvPr/>
        </p:nvSpPr>
        <p:spPr>
          <a:xfrm>
            <a:off x="4892040" y="1874520"/>
            <a:ext cx="3566160" cy="1783080"/>
          </a:xfrm>
          <a:prstGeom prst="roundRect">
            <a:avLst>
              <a:gd name="adj" fmla="val 41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1984248"/>
            <a:ext cx="3200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== 5   # True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!= 3   # True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&gt; 8    # False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&gt;= 5   # True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&lt; 4    # 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3794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= stores a value.  == compares two values.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else: making a decision</a:t>
            </a:r>
            <a:endParaRPr lang="en-US" sz="3000" dirty="0"/>
          </a:p>
        </p:txBody>
      </p:sp>
      <p:sp>
        <p:nvSpPr>
          <p:cNvPr id="4" name="code block"/>
          <p:cNvSpPr/>
          <p:nvPr/>
        </p:nvSpPr>
        <p:spPr>
          <a:xfrm>
            <a:off x="457200" y="128016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365760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20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&gt;= 18: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print("Adult")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print("Minor")</a:t>
            </a:r>
            <a:endParaRPr lang="en-US" sz="1600" dirty="0"/>
          </a:p>
        </p:txBody>
      </p:sp>
      <p:sp>
        <p:nvSpPr>
          <p:cNvPr id="6" name="decision"/>
          <p:cNvSpPr/>
          <p:nvPr/>
        </p:nvSpPr>
        <p:spPr>
          <a:xfrm>
            <a:off x="5577840" y="1234440"/>
            <a:ext cx="2560320" cy="1097280"/>
          </a:xfrm>
          <a:prstGeom prst="diamond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577840" y="1234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 &gt;= 18 ?</a:t>
            </a:r>
            <a:endParaRPr lang="en-US" sz="1600" dirty="0"/>
          </a:p>
        </p:txBody>
      </p:sp>
      <p:sp>
        <p:nvSpPr>
          <p:cNvPr id="8" name="true line"/>
          <p:cNvSpPr/>
          <p:nvPr/>
        </p:nvSpPr>
        <p:spPr>
          <a:xfrm>
            <a:off x="4754880" y="1783080"/>
            <a:ext cx="822960" cy="9144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9" name="false line"/>
          <p:cNvSpPr/>
          <p:nvPr/>
        </p:nvSpPr>
        <p:spPr>
          <a:xfrm>
            <a:off x="8138160" y="1783080"/>
            <a:ext cx="365760" cy="91440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1417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True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1417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False</a:t>
            </a:r>
            <a:endParaRPr lang="en-US" sz="1400" dirty="0"/>
          </a:p>
        </p:txBody>
      </p:sp>
      <p:sp>
        <p:nvSpPr>
          <p:cNvPr id="12" name="true result"/>
          <p:cNvSpPr/>
          <p:nvPr/>
        </p:nvSpPr>
        <p:spPr>
          <a:xfrm>
            <a:off x="4206240" y="2697480"/>
            <a:ext cx="21031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0624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print("Adult")</a:t>
            </a:r>
            <a:endParaRPr lang="en-US" sz="1600" dirty="0"/>
          </a:p>
        </p:txBody>
      </p:sp>
      <p:sp>
        <p:nvSpPr>
          <p:cNvPr id="14" name="false result"/>
          <p:cNvSpPr/>
          <p:nvPr/>
        </p:nvSpPr>
        <p:spPr>
          <a:xfrm>
            <a:off x="6583680" y="2697480"/>
            <a:ext cx="210312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print("Minor")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Only one branch ever runs. Python checks the condition, then picks a side.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 rules that trip people up</a:t>
            </a:r>
            <a:endParaRPr lang="en-US" sz="3000" dirty="0"/>
          </a:p>
        </p:txBody>
      </p:sp>
      <p:sp>
        <p:nvSpPr>
          <p:cNvPr id="4" name="right card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Correct</a:t>
            </a:r>
            <a:endParaRPr lang="en-US" sz="1800" dirty="0"/>
          </a:p>
        </p:txBody>
      </p:sp>
      <p:sp>
        <p:nvSpPr>
          <p:cNvPr id="6" name="code block"/>
          <p:cNvSpPr/>
          <p:nvPr/>
        </p:nvSpPr>
        <p:spPr>
          <a:xfrm>
            <a:off x="685800" y="1874520"/>
            <a:ext cx="356616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984248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&gt;= 18: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print("Adult")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print("Minor")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74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Colon after if and else.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Indent 4 spaces under each.</a:t>
            </a:r>
            <a:endParaRPr lang="en-US" sz="1400" dirty="0"/>
          </a:p>
        </p:txBody>
      </p:sp>
      <p:sp>
        <p:nvSpPr>
          <p:cNvPr id="9" name="wrong card"/>
          <p:cNvSpPr/>
          <p:nvPr/>
        </p:nvSpPr>
        <p:spPr>
          <a:xfrm>
            <a:off x="466344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Common mistakes</a:t>
            </a:r>
            <a:endParaRPr lang="en-US" sz="1800" dirty="0"/>
          </a:p>
        </p:txBody>
      </p:sp>
      <p:sp>
        <p:nvSpPr>
          <p:cNvPr id="11" name="code block"/>
          <p:cNvSpPr/>
          <p:nvPr/>
        </p:nvSpPr>
        <p:spPr>
          <a:xfrm>
            <a:off x="4892040" y="1874520"/>
            <a:ext cx="356616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1984248"/>
            <a:ext cx="32004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&gt;= 18      # no colon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print("Adult")     # not indented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age &lt; 18:     # else has no condition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= 18:       # = should be ==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3749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error message: it names the line.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challenge 2: Even or odd</a:t>
            </a:r>
            <a:endParaRPr lang="en-US" sz="3000" dirty="0"/>
          </a:p>
        </p:txBody>
      </p:sp>
      <p:sp>
        <p:nvSpPr>
          <p:cNvPr id="4" name="task card"/>
          <p:cNvSpPr/>
          <p:nvPr/>
        </p:nvSpPr>
        <p:spPr>
          <a:xfrm>
            <a:off x="457200" y="128016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Your task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Ask for a number. Print whether it is even or odd.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File: class-1/live/02_even_or_odd.py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Expected output</a:t>
            </a:r>
            <a:endParaRPr lang="en-US" sz="1800" dirty="0"/>
          </a:p>
        </p:txBody>
      </p:sp>
      <p:sp>
        <p:nvSpPr>
          <p:cNvPr id="9" name="code block"/>
          <p:cNvSpPr/>
          <p:nvPr/>
        </p:nvSpPr>
        <p:spPr>
          <a:xfrm>
            <a:off x="4663440" y="1737360"/>
            <a:ext cx="4023360" cy="246888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847088"/>
            <a:ext cx="36576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 number: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is odd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 number: 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is even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Write it, run it, then commit and push to your branch.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elif: more than two choices</a:t>
            </a:r>
            <a:endParaRPr lang="en-US" sz="3000" dirty="0"/>
          </a:p>
        </p:txBody>
      </p:sp>
      <p:sp>
        <p:nvSpPr>
          <p:cNvPr id="4" name="code block"/>
          <p:cNvSpPr/>
          <p:nvPr/>
        </p:nvSpPr>
        <p:spPr>
          <a:xfrm>
            <a:off x="457200" y="1280160"/>
            <a:ext cx="4297680" cy="310896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39319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72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score &gt;= 90: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print("A")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score &gt;= 60: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print("Pass")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print("Try again")</a:t>
            </a:r>
            <a:endParaRPr lang="en-US" sz="1400" dirty="0"/>
          </a:p>
        </p:txBody>
      </p:sp>
      <p:sp>
        <p:nvSpPr>
          <p:cNvPr id="6" name="step number"/>
          <p:cNvSpPr/>
          <p:nvPr/>
        </p:nvSpPr>
        <p:spPr>
          <a:xfrm>
            <a:off x="502920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280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Python checks from the top. The first True condition wins.</a:t>
            </a:r>
            <a:endParaRPr lang="en-US" sz="1400" dirty="0"/>
          </a:p>
        </p:txBody>
      </p:sp>
      <p:sp>
        <p:nvSpPr>
          <p:cNvPr id="9" name="step number"/>
          <p:cNvSpPr/>
          <p:nvPr/>
        </p:nvSpPr>
        <p:spPr>
          <a:xfrm>
            <a:off x="5029200" y="21488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72 is not &gt;= 90, so skip. 72 &gt;= 60 is True, so print Pass.</a:t>
            </a:r>
            <a:endParaRPr lang="en-US" sz="1400" dirty="0"/>
          </a:p>
        </p:txBody>
      </p:sp>
      <p:sp>
        <p:nvSpPr>
          <p:cNvPr id="12" name="step number"/>
          <p:cNvSpPr/>
          <p:nvPr/>
        </p:nvSpPr>
        <p:spPr>
          <a:xfrm>
            <a:off x="5029200" y="30175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3017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rest (else) is skipped once one branch has run.</a:t>
            </a:r>
            <a:endParaRPr lang="en-US" sz="1400" dirty="0"/>
          </a:p>
        </p:txBody>
      </p:sp>
      <p:sp>
        <p:nvSpPr>
          <p:cNvPr id="15" name="step number"/>
          <p:cNvSpPr/>
          <p:nvPr/>
        </p:nvSpPr>
        <p:spPr>
          <a:xfrm>
            <a:off x="5029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3886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 matters: put the strictest condition first.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challenge 3: Grade checker</a:t>
            </a:r>
            <a:endParaRPr lang="en-US" sz="3000" dirty="0"/>
          </a:p>
        </p:txBody>
      </p:sp>
      <p:sp>
        <p:nvSpPr>
          <p:cNvPr id="4" name="task card"/>
          <p:cNvSpPr/>
          <p:nvPr/>
        </p:nvSpPr>
        <p:spPr>
          <a:xfrm>
            <a:off x="457200" y="128016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Your task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745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Ask for a score. Print A for 90 or more, Pass for 60 or more, otherwise Try again.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File: class-1/live/03_grade_checker.py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Expected output</a:t>
            </a:r>
            <a:endParaRPr lang="en-US" sz="1800" dirty="0"/>
          </a:p>
        </p:txBody>
      </p:sp>
      <p:sp>
        <p:nvSpPr>
          <p:cNvPr id="9" name="code block"/>
          <p:cNvSpPr/>
          <p:nvPr/>
        </p:nvSpPr>
        <p:spPr>
          <a:xfrm>
            <a:off x="4663440" y="1737360"/>
            <a:ext cx="4023360" cy="246888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847088"/>
            <a:ext cx="36576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95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72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40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again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Write it, run it, then commit and push to your branch.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conditions: and, or, not</a:t>
            </a:r>
            <a:endParaRPr lang="en-US" sz="3000" dirty="0"/>
          </a:p>
        </p:txBody>
      </p:sp>
      <p:sp>
        <p:nvSpPr>
          <p:cNvPr id="4" name="code block"/>
          <p:cNvSpPr/>
          <p:nvPr/>
        </p:nvSpPr>
        <p:spPr>
          <a:xfrm>
            <a:off x="457200" y="1280160"/>
            <a:ext cx="475488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438912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has_id = True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&gt;= 18 and has_id: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print("Entry allowed")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&lt; 13 or age &gt; 65: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print("Discount")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has_id: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print("Show your ID")</a:t>
            </a:r>
            <a:endParaRPr lang="en-US" sz="1400" dirty="0"/>
          </a:p>
        </p:txBody>
      </p:sp>
      <p:sp>
        <p:nvSpPr>
          <p:cNvPr id="6" name="logic card"/>
          <p:cNvSpPr/>
          <p:nvPr/>
        </p:nvSpPr>
        <p:spPr>
          <a:xfrm>
            <a:off x="5486400" y="1371600"/>
            <a:ext cx="32004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hip"/>
          <p:cNvSpPr/>
          <p:nvPr/>
        </p:nvSpPr>
        <p:spPr>
          <a:xfrm>
            <a:off x="5623560" y="1481328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23560" y="14813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and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sides must be True.</a:t>
            </a:r>
            <a:endParaRPr lang="en-US" sz="1400" dirty="0"/>
          </a:p>
        </p:txBody>
      </p:sp>
      <p:sp>
        <p:nvSpPr>
          <p:cNvPr id="10" name="logic card"/>
          <p:cNvSpPr/>
          <p:nvPr/>
        </p:nvSpPr>
        <p:spPr>
          <a:xfrm>
            <a:off x="5486400" y="2377440"/>
            <a:ext cx="32004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hip"/>
          <p:cNvSpPr/>
          <p:nvPr/>
        </p:nvSpPr>
        <p:spPr>
          <a:xfrm>
            <a:off x="5623560" y="2487168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23560" y="24871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least one side must be True.</a:t>
            </a:r>
            <a:endParaRPr lang="en-US" sz="1400" dirty="0"/>
          </a:p>
        </p:txBody>
      </p:sp>
      <p:sp>
        <p:nvSpPr>
          <p:cNvPr id="14" name="logic card"/>
          <p:cNvSpPr/>
          <p:nvPr/>
        </p:nvSpPr>
        <p:spPr>
          <a:xfrm>
            <a:off x="5486400" y="3383280"/>
            <a:ext cx="32004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hip"/>
          <p:cNvSpPr/>
          <p:nvPr/>
        </p:nvSpPr>
        <p:spPr>
          <a:xfrm>
            <a:off x="5623560" y="3493008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4930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62356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Flips True to False and back.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Homework: practice what we did</a:t>
            </a:r>
            <a:endParaRPr lang="en-US" sz="3000" dirty="0"/>
          </a:p>
        </p:txBody>
      </p:sp>
      <p:sp>
        <p:nvSpPr>
          <p:cNvPr id="4" name="homework card"/>
          <p:cNvSpPr/>
          <p:nvPr/>
        </p:nvSpPr>
        <p:spPr>
          <a:xfrm>
            <a:off x="457200" y="13258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35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Time-of-day greeting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Ask the hour (0-23). Print morning, afternoon or evening</a:t>
            </a:r>
            <a:endParaRPr lang="en-US" sz="1200" dirty="0"/>
          </a:p>
        </p:txBody>
      </p:sp>
      <p:sp>
        <p:nvSpPr>
          <p:cNvPr id="8" name="homework card"/>
          <p:cNvSpPr/>
          <p:nvPr/>
        </p:nvSpPr>
        <p:spPr>
          <a:xfrm>
            <a:off x="3291840" y="13258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74720" y="1435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Largest of three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Ask for 3 numbers. Print the biggest, no max()</a:t>
            </a:r>
            <a:endParaRPr lang="en-US" sz="1200" dirty="0"/>
          </a:p>
        </p:txBody>
      </p:sp>
      <p:sp>
        <p:nvSpPr>
          <p:cNvPr id="12" name="homework card"/>
          <p:cNvSpPr/>
          <p:nvPr/>
        </p:nvSpPr>
        <p:spPr>
          <a:xfrm>
            <a:off x="6126480" y="13258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09360" y="1435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Calculator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Two numbers and an operator (+ - * /). Print the result</a:t>
            </a:r>
            <a:endParaRPr lang="en-US" sz="1200" dirty="0"/>
          </a:p>
        </p:txBody>
      </p:sp>
      <p:sp>
        <p:nvSpPr>
          <p:cNvPr id="16" name="homework card"/>
          <p:cNvSpPr/>
          <p:nvPr/>
        </p:nvSpPr>
        <p:spPr>
          <a:xfrm>
            <a:off x="457200" y="28803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2990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291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Leap year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Ask for a year. Print whether it is a leap year</a:t>
            </a:r>
            <a:endParaRPr lang="en-US" sz="1200" dirty="0"/>
          </a:p>
        </p:txBody>
      </p:sp>
      <p:sp>
        <p:nvSpPr>
          <p:cNvPr id="20" name="homework card"/>
          <p:cNvSpPr/>
          <p:nvPr/>
        </p:nvSpPr>
        <p:spPr>
          <a:xfrm>
            <a:off x="3291840" y="28803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74720" y="2990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474720" y="3291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Age category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47472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Child, teen, adult or senior from the age</a:t>
            </a:r>
            <a:endParaRPr lang="en-US" sz="1200" dirty="0"/>
          </a:p>
        </p:txBody>
      </p:sp>
      <p:sp>
        <p:nvSpPr>
          <p:cNvPr id="24" name="homework card"/>
          <p:cNvSpPr/>
          <p:nvPr/>
        </p:nvSpPr>
        <p:spPr>
          <a:xfrm>
            <a:off x="6126480" y="28803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09360" y="2990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6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09360" y="3291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Discount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Over 100: take 10% off. Print the final price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Files are in class-1/homework/. Test each with 3 different inputs, then commit and push.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the tasks and submit on your branch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28016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Desktop: Current Branch, New Branch, name it class-1-yourname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19385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938528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a task file in class-1/ and write your code under the comments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596896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it in the terminal to test it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25526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255264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Desktop: write a summary, click Commit</a:t>
            </a:r>
            <a:endParaRPr lang="en-US" sz="1600" dirty="0"/>
          </a:p>
        </p:txBody>
      </p:sp>
      <p:sp>
        <p:nvSpPr>
          <p:cNvPr id="16" name="step number"/>
          <p:cNvSpPr/>
          <p:nvPr/>
        </p:nvSpPr>
        <p:spPr>
          <a:xfrm>
            <a:off x="457200" y="39136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13632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Publish branch (first time) or Push origin, then tell us in the group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Commit = save a version.  Push = upload it to GitHub.  We check your branch.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set up like a developer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Git and GitHub  ✓   Node.js  ✓   Python  ✓   VS Code  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Next class: functions and loops, then your first steps with JavaScript.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Questions go in the course group.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FA Class">
  <a:themeElements>
    <a:clrScheme name="BFA Class">
      <a:dk1>
        <a:srgbClr val="0B1F2A"/>
      </a:dk1>
      <a:lt1>
        <a:srgbClr val="FFFFFF"/>
      </a:lt1>
      <a:dk2>
        <a:srgbClr val="16384A"/>
      </a:dk2>
      <a:lt2>
        <a:srgbClr val="EEF3F5"/>
      </a:lt2>
      <a:accent1>
        <a:srgbClr val="1FA67A"/>
      </a:accent1>
      <a:accent2>
        <a:srgbClr val="F2B134"/>
      </a:accent2>
      <a:accent3>
        <a:srgbClr val="3B82C4"/>
      </a:accent3>
      <a:accent4>
        <a:srgbClr val="E5534B"/>
      </a:accent4>
      <a:accent5>
        <a:srgbClr val="7C6FD6"/>
      </a:accent5>
      <a:accent6>
        <a:srgbClr val="6B7F8A"/>
      </a:accent6>
      <a:hlink>
        <a:srgbClr val="3B82C4"/>
      </a:hlink>
      <a:folHlink>
        <a:srgbClr val="7C6FD6"/>
      </a:folHlink>
    </a:clrScheme>
    <a:fontScheme name="BFA Cla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1: Set Up Your Computer</dc:title>
  <dc:subject>PptxGenJS Presentation</dc:subject>
  <dc:creator>PptxGenJS</dc:creator>
  <cp:lastModifiedBy>PptxGenJS</cp:lastModifiedBy>
  <cp:revision>1</cp:revision>
  <dcterms:created xsi:type="dcterms:W3CDTF">2026-10-10T14:33:24Z</dcterms:created>
  <dcterms:modified xsi:type="dcterms:W3CDTF">2026-10-10T14:33:24Z</dcterms:modified>
</cp:coreProperties>
</file>
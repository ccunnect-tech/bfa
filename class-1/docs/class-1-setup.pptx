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Masters/slideMaster23.xml" ContentType="application/vnd.openxmlformats-officedocument.presentationml.slideMaster+xml"/>
  <Override PartName="/ppt/slideMasters/slideMaster24.xml" ContentType="application/vnd.openxmlformats-officedocument.presentationml.slideMaster+xml"/>
  <Override PartName="/ppt/slideMasters/slideMaster25.xml" ContentType="application/vnd.openxmlformats-officedocument.presentationml.slideMaster+xml"/>
  <Override PartName="/ppt/slideMasters/slideMaster26.xml" ContentType="application/vnd.openxmlformats-officedocument.presentationml.slideMaster+xml"/>
  <Override PartName="/ppt/slideMasters/slideMaster27.xml" ContentType="application/vnd.openxmlformats-officedocument.presentationml.slideMaster+xml"/>
  <Override PartName="/ppt/slideMasters/slideMaster28.xml" ContentType="application/vnd.openxmlformats-officedocument.presentationml.slideMaster+xml"/>
  <Override PartName="/ppt/slideMasters/slideMaster29.xml" ContentType="application/vnd.openxmlformats-officedocument.presentationml.slideMaster+xml"/>
  <Override PartName="/ppt/slideMasters/slideMaster30.xml" ContentType="application/vnd.openxmlformats-officedocument.presentationml.slideMaster+xml"/>
  <Override PartName="/ppt/slideMasters/slideMaster31.xml" ContentType="application/vnd.openxmlformats-officedocument.presentationml.slideMaster+xml"/>
  <Override PartName="/ppt/slideMasters/slideMaster32.xml" ContentType="application/vnd.openxmlformats-officedocument.presentationml.slideMaster+xml"/>
  <Override PartName="/ppt/slideMasters/slideMaster33.xml" ContentType="application/vnd.openxmlformats-officedocument.presentationml.slideMaster+xml"/>
  <Override PartName="/ppt/slideMasters/slideMaster34.xml" ContentType="application/vnd.openxmlformats-officedocument.presentationml.slideMaster+xml"/>
  <Override PartName="/ppt/slideMasters/slideMaster35.xml" ContentType="application/vnd.openxmlformats-officedocument.presentationml.slideMaster+xml"/>
  <Override PartName="/ppt/slideMasters/slideMaster36.xml" ContentType="application/vnd.openxmlformats-officedocument.presentationml.slideMaster+xml"/>
  <Override PartName="/ppt/slideMasters/slideMaster37.xml" ContentType="application/vnd.openxmlformats-officedocument.presentationml.slideMaster+xml"/>
  <Override PartName="/ppt/slideMasters/slideMaster38.xml" ContentType="application/vnd.openxmlformats-officedocument.presentationml.slideMaster+xml"/>
  <Override PartName="/ppt/slideMasters/slideMaster39.xml" ContentType="application/vnd.openxmlformats-officedocument.presentationml.slideMaster+xml"/>
  <Override PartName="/ppt/slideMasters/slideMaster40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4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everyone. Today we get every laptop ready, then write our first Python.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yourself. Mention you have worked across full stack, SDE and AI roles, so you know what the industry expects.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Today is Week 1: setup and the start of Python. Next lecture is Week 2: Python Fundamentals. The course ends with a capstone and demo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what BFA is in your own words here. Hands-on, no prior experience needed, everything lives in one repository.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rules for the room. Repeat them whenever someone is stuck or copying.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Roughly: 45-60 min setup, 10 min break/checkpoint, 45 min coding, 5 min homework.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Analogy: Git is the save-game system on your laptop. GitHub is the cloud where saves live. GitHub Desktop is the friendly buttons.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left to right. Original repo is ours. Fork is yours on GitHub. Clone puts it on the laptop.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 save-game analogy. Repository = project folder with history. Commit = a save point. Push = upload saves. Pull = download others' saves.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Real-world: freelancers and teams both rely on this daily.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Main is the stable version. Nobody edits it directly. Each person works on a branch, then asks to merge with a pull request.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at the picture. Main is the stable line. Priya and Sam each branch off, commit on their own line, then merge back. Nobody breaks main while working.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four ideas, then tell the story: Priya and Sam work at the same time without touching each other's files.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merge conflict happens when two people edit the same lines. Git asks a human to decide. It is normal, not a disaster.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Node runs JavaScript on your computer. We use it with React in later classes. npm comes with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Windows: the PATH checkbox is the number one cause of problems. Say it loudly.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Everyone must show a screenshot of the output. Walk the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40080" y="914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600" kern="0" dirty="0">
                <a:solidFill>
                  <a:schemeClr val="accent1"/>
                </a:solidFill>
              </a:rPr>
              <a:t>CLASS 1</a:t>
            </a:r>
            <a:endParaRPr lang="en-US" sz="16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371600"/>
            <a:ext cx="7863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 up your computer,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then write your first code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291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2"/>
                </a:solidFill>
              </a:rPr>
              <a:t>Git and GitHub  ·  Node.js  ·  Python  ·  VS Code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4114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Hands-on course. No slides to memorize, just tasks to do.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About me</a:t>
            </a:r>
            <a:endParaRPr lang="en-US" sz="3000" dirty="0"/>
          </a:p>
        </p:txBody>
      </p:sp>
      <p:sp>
        <p:nvSpPr>
          <p:cNvPr id="4" name="initials circle"/>
          <p:cNvSpPr/>
          <p:nvPr/>
        </p:nvSpPr>
        <p:spPr>
          <a:xfrm>
            <a:off x="731520" y="1463040"/>
            <a:ext cx="2194560" cy="21945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463040"/>
            <a:ext cx="21945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FK</a:t>
            </a:r>
            <a:endParaRPr lang="en-US" sz="60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8404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Faisal K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42976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AI – FDE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3840480" y="13716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Previously worked as</a:t>
            </a:r>
            <a:endParaRPr lang="en-US" sz="1800" dirty="0"/>
          </a:p>
        </p:txBody>
      </p:sp>
      <p:sp>
        <p:nvSpPr>
          <p:cNvPr id="9" name="role card"/>
          <p:cNvSpPr/>
          <p:nvPr/>
        </p:nvSpPr>
        <p:spPr>
          <a:xfrm>
            <a:off x="3840480" y="1828800"/>
            <a:ext cx="4846320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tep number"/>
          <p:cNvSpPr/>
          <p:nvPr/>
        </p:nvSpPr>
        <p:spPr>
          <a:xfrm>
            <a:off x="4023360" y="2048256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023360" y="2048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4663440" y="190195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Full-stack developer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4663440" y="226771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Built web apps end to end, front end to back end.</a:t>
            </a:r>
            <a:endParaRPr lang="en-US" sz="1300" dirty="0"/>
          </a:p>
        </p:txBody>
      </p:sp>
      <p:sp>
        <p:nvSpPr>
          <p:cNvPr id="14" name="role card"/>
          <p:cNvSpPr/>
          <p:nvPr/>
        </p:nvSpPr>
        <p:spPr>
          <a:xfrm>
            <a:off x="3840480" y="2788920"/>
            <a:ext cx="4846320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step number"/>
          <p:cNvSpPr/>
          <p:nvPr/>
        </p:nvSpPr>
        <p:spPr>
          <a:xfrm>
            <a:off x="4023360" y="3008376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023360" y="30083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4663440" y="286207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Software engineer (SDE)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4663440" y="322783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Shipped and maintained production software.</a:t>
            </a:r>
            <a:endParaRPr lang="en-US" sz="1300" dirty="0"/>
          </a:p>
        </p:txBody>
      </p:sp>
      <p:sp>
        <p:nvSpPr>
          <p:cNvPr id="19" name="role card"/>
          <p:cNvSpPr/>
          <p:nvPr/>
        </p:nvSpPr>
        <p:spPr>
          <a:xfrm>
            <a:off x="3840480" y="3749040"/>
            <a:ext cx="4846320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step number"/>
          <p:cNvSpPr/>
          <p:nvPr/>
        </p:nvSpPr>
        <p:spPr>
          <a:xfrm>
            <a:off x="4023360" y="3968496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023360" y="3968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4663440" y="382219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AI engineer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4663440" y="418795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Built AI-powered features and systems.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8-week roadmap</a:t>
            </a:r>
            <a:endParaRPr lang="en-US" sz="3000" dirty="0"/>
          </a:p>
        </p:txBody>
      </p:sp>
      <p:sp>
        <p:nvSpPr>
          <p:cNvPr id="4" name="week card"/>
          <p:cNvSpPr/>
          <p:nvPr/>
        </p:nvSpPr>
        <p:spPr>
          <a:xfrm>
            <a:off x="457200" y="1280160"/>
            <a:ext cx="4023360" cy="7315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week number"/>
          <p:cNvSpPr/>
          <p:nvPr/>
        </p:nvSpPr>
        <p:spPr>
          <a:xfrm>
            <a:off x="640080" y="1435608"/>
            <a:ext cx="420624" cy="4206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14356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234440" y="12801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Setup &amp; Tooling</a:t>
            </a:r>
            <a:endParaRPr lang="en-US" sz="1700" dirty="0"/>
          </a:p>
        </p:txBody>
      </p:sp>
      <p:sp>
        <p:nvSpPr>
          <p:cNvPr id="8" name="chip"/>
          <p:cNvSpPr/>
          <p:nvPr/>
        </p:nvSpPr>
        <p:spPr>
          <a:xfrm>
            <a:off x="3383280" y="1508760"/>
            <a:ext cx="1005840" cy="274320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383280" y="15087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You are here</a:t>
            </a:r>
            <a:endParaRPr lang="en-US" sz="1200" dirty="0"/>
          </a:p>
        </p:txBody>
      </p:sp>
      <p:sp>
        <p:nvSpPr>
          <p:cNvPr id="10" name="week card"/>
          <p:cNvSpPr/>
          <p:nvPr/>
        </p:nvSpPr>
        <p:spPr>
          <a:xfrm>
            <a:off x="457200" y="2148840"/>
            <a:ext cx="402336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week number"/>
          <p:cNvSpPr/>
          <p:nvPr/>
        </p:nvSpPr>
        <p:spPr>
          <a:xfrm>
            <a:off x="640080" y="2304288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0080" y="2304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1234440" y="214884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Python Fundamentals</a:t>
            </a:r>
            <a:endParaRPr lang="en-US" sz="1700" dirty="0"/>
          </a:p>
        </p:txBody>
      </p:sp>
      <p:sp>
        <p:nvSpPr>
          <p:cNvPr id="14" name="week card"/>
          <p:cNvSpPr/>
          <p:nvPr/>
        </p:nvSpPr>
        <p:spPr>
          <a:xfrm>
            <a:off x="457200" y="3017520"/>
            <a:ext cx="402336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week number"/>
          <p:cNvSpPr/>
          <p:nvPr/>
        </p:nvSpPr>
        <p:spPr>
          <a:xfrm>
            <a:off x="640080" y="3172968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0080" y="31729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1234440" y="301752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JavaScript Fundamentals</a:t>
            </a:r>
            <a:endParaRPr lang="en-US" sz="1700" dirty="0"/>
          </a:p>
        </p:txBody>
      </p:sp>
      <p:sp>
        <p:nvSpPr>
          <p:cNvPr id="18" name="week card"/>
          <p:cNvSpPr/>
          <p:nvPr/>
        </p:nvSpPr>
        <p:spPr>
          <a:xfrm>
            <a:off x="457200" y="3886200"/>
            <a:ext cx="402336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week number"/>
          <p:cNvSpPr/>
          <p:nvPr/>
        </p:nvSpPr>
        <p:spPr>
          <a:xfrm>
            <a:off x="640080" y="4041648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40080" y="40416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1234440" y="388620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Backend with FastAPI</a:t>
            </a:r>
            <a:endParaRPr lang="en-US" sz="1700" dirty="0"/>
          </a:p>
        </p:txBody>
      </p:sp>
      <p:sp>
        <p:nvSpPr>
          <p:cNvPr id="22" name="week card"/>
          <p:cNvSpPr/>
          <p:nvPr/>
        </p:nvSpPr>
        <p:spPr>
          <a:xfrm>
            <a:off x="4663440" y="1280160"/>
            <a:ext cx="402336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week number"/>
          <p:cNvSpPr/>
          <p:nvPr/>
        </p:nvSpPr>
        <p:spPr>
          <a:xfrm>
            <a:off x="4846320" y="1435608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846320" y="14356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5440680" y="12801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HTML, CSS &amp; Vanilla JS</a:t>
            </a:r>
            <a:endParaRPr lang="en-US" sz="1700" dirty="0"/>
          </a:p>
        </p:txBody>
      </p:sp>
      <p:sp>
        <p:nvSpPr>
          <p:cNvPr id="26" name="week card"/>
          <p:cNvSpPr/>
          <p:nvPr/>
        </p:nvSpPr>
        <p:spPr>
          <a:xfrm>
            <a:off x="4663440" y="2148840"/>
            <a:ext cx="402336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week number"/>
          <p:cNvSpPr/>
          <p:nvPr/>
        </p:nvSpPr>
        <p:spPr>
          <a:xfrm>
            <a:off x="4846320" y="2304288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846320" y="2304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5440680" y="214884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React, Rebuilt</a:t>
            </a:r>
            <a:endParaRPr lang="en-US" sz="1700" dirty="0"/>
          </a:p>
        </p:txBody>
      </p:sp>
      <p:sp>
        <p:nvSpPr>
          <p:cNvPr id="30" name="week card"/>
          <p:cNvSpPr/>
          <p:nvPr/>
        </p:nvSpPr>
        <p:spPr>
          <a:xfrm>
            <a:off x="4663440" y="3017520"/>
            <a:ext cx="402336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1" name="week number"/>
          <p:cNvSpPr/>
          <p:nvPr/>
        </p:nvSpPr>
        <p:spPr>
          <a:xfrm>
            <a:off x="4846320" y="3172968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846320" y="31729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440680" y="301752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Full-Stack Integration</a:t>
            </a:r>
            <a:endParaRPr lang="en-US" sz="1700" dirty="0"/>
          </a:p>
        </p:txBody>
      </p:sp>
      <p:sp>
        <p:nvSpPr>
          <p:cNvPr id="34" name="week card"/>
          <p:cNvSpPr/>
          <p:nvPr/>
        </p:nvSpPr>
        <p:spPr>
          <a:xfrm>
            <a:off x="4663440" y="3886200"/>
            <a:ext cx="402336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5" name="week number"/>
          <p:cNvSpPr/>
          <p:nvPr/>
        </p:nvSpPr>
        <p:spPr>
          <a:xfrm>
            <a:off x="4846320" y="4041648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4846320" y="40416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8</a:t>
            </a:r>
            <a:endParaRPr lang="en-US" sz="1600" dirty="0"/>
          </a:p>
        </p:txBody>
      </p:sp>
      <p:sp>
        <p:nvSpPr>
          <p:cNvPr id="37" name="Text 34"/>
          <p:cNvSpPr txBox="1"/>
          <p:nvPr/>
        </p:nvSpPr>
        <p:spPr>
          <a:xfrm>
            <a:off x="5440680" y="388620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Capstone &amp; Demo Day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About this course</a:t>
            </a:r>
            <a:endParaRPr lang="en-US" sz="3000" dirty="0"/>
          </a:p>
        </p:txBody>
      </p:sp>
      <p:sp>
        <p:nvSpPr>
          <p:cNvPr id="4" name="about card"/>
          <p:cNvSpPr/>
          <p:nvPr/>
        </p:nvSpPr>
        <p:spPr>
          <a:xfrm>
            <a:off x="457200" y="1280160"/>
            <a:ext cx="3840480" cy="3108960"/>
          </a:xfrm>
          <a:prstGeom prst="roundRect">
            <a:avLst>
              <a:gd name="adj" fmla="val 235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85800" y="141732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What it is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920240"/>
            <a:ext cx="33832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 hands-on, task-based course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Learn by doing, not by watching slides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No programming experience needed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Includes working with modern tools, including AI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4572000" y="12801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How the course goes</a:t>
            </a:r>
            <a:endParaRPr lang="en-US" sz="1800" dirty="0"/>
          </a:p>
        </p:txBody>
      </p:sp>
      <p:sp>
        <p:nvSpPr>
          <p:cNvPr id="8" name="course step"/>
          <p:cNvSpPr/>
          <p:nvPr/>
        </p:nvSpPr>
        <p:spPr>
          <a:xfrm>
            <a:off x="4572000" y="1783080"/>
            <a:ext cx="411480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tep number"/>
          <p:cNvSpPr/>
          <p:nvPr/>
        </p:nvSpPr>
        <p:spPr>
          <a:xfrm>
            <a:off x="4754880" y="1984248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754880" y="1984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5349240" y="185623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Live class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5349240" y="2185416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You code alongside the instructor</a:t>
            </a:r>
            <a:endParaRPr lang="en-US" sz="1300" dirty="0"/>
          </a:p>
        </p:txBody>
      </p:sp>
      <p:sp>
        <p:nvSpPr>
          <p:cNvPr id="13" name="course step"/>
          <p:cNvSpPr/>
          <p:nvPr/>
        </p:nvSpPr>
        <p:spPr>
          <a:xfrm>
            <a:off x="4572000" y="2697480"/>
            <a:ext cx="411480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tep number"/>
          <p:cNvSpPr/>
          <p:nvPr/>
        </p:nvSpPr>
        <p:spPr>
          <a:xfrm>
            <a:off x="4754880" y="2898648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754880" y="2898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5349240" y="277063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After-class tasks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5349240" y="3099816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Finish more tasks on your own</a:t>
            </a:r>
            <a:endParaRPr lang="en-US" sz="1300" dirty="0"/>
          </a:p>
        </p:txBody>
      </p:sp>
      <p:sp>
        <p:nvSpPr>
          <p:cNvPr id="18" name="course step"/>
          <p:cNvSpPr/>
          <p:nvPr/>
        </p:nvSpPr>
        <p:spPr>
          <a:xfrm>
            <a:off x="4572000" y="3611880"/>
            <a:ext cx="411480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tep number"/>
          <p:cNvSpPr/>
          <p:nvPr/>
        </p:nvSpPr>
        <p:spPr>
          <a:xfrm>
            <a:off x="4754880" y="3813048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754880" y="3813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5349240" y="368503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Submit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5349240" y="4014216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Push your work to your GitHub repo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learn in this course</a:t>
            </a:r>
            <a:endParaRPr lang="en-US" sz="3000" dirty="0"/>
          </a:p>
        </p:txBody>
      </p:sp>
      <p:sp>
        <p:nvSpPr>
          <p:cNvPr id="4" name="rule card"/>
          <p:cNvSpPr/>
          <p:nvPr/>
        </p:nvSpPr>
        <p:spPr>
          <a:xfrm>
            <a:off x="457200" y="1371600"/>
            <a:ext cx="2651760" cy="274320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tep number"/>
          <p:cNvSpPr/>
          <p:nvPr/>
        </p:nvSpPr>
        <p:spPr>
          <a:xfrm>
            <a:off x="685800" y="16002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2402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Type it yourself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301752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We code from minute one. No copy-paste.</a:t>
            </a:r>
            <a:endParaRPr lang="en-US" sz="1500" dirty="0"/>
          </a:p>
        </p:txBody>
      </p:sp>
      <p:sp>
        <p:nvSpPr>
          <p:cNvPr id="9" name="rule card"/>
          <p:cNvSpPr/>
          <p:nvPr/>
        </p:nvSpPr>
        <p:spPr>
          <a:xfrm>
            <a:off x="3291840" y="1371600"/>
            <a:ext cx="2651760" cy="274320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tep number"/>
          <p:cNvSpPr/>
          <p:nvPr/>
        </p:nvSpPr>
        <p:spPr>
          <a:xfrm>
            <a:off x="3520440" y="160020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520440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3520440" y="22402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Break it, fix it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3520440" y="301752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Errors are how programmers learn.</a:t>
            </a:r>
            <a:endParaRPr lang="en-US" sz="1500" dirty="0"/>
          </a:p>
        </p:txBody>
      </p:sp>
      <p:sp>
        <p:nvSpPr>
          <p:cNvPr id="14" name="rule card"/>
          <p:cNvSpPr/>
          <p:nvPr/>
        </p:nvSpPr>
        <p:spPr>
          <a:xfrm>
            <a:off x="6126480" y="1371600"/>
            <a:ext cx="2651760" cy="274320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step number"/>
          <p:cNvSpPr/>
          <p:nvPr/>
        </p:nvSpPr>
        <p:spPr>
          <a:xfrm>
            <a:off x="6355080" y="160020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355080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6355080" y="22402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Ask early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6355080" y="301752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Stuck for 3 minutes? Put your hand up.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Today's plan</a:t>
            </a:r>
            <a:endParaRPr lang="en-US" sz="3000" dirty="0"/>
          </a:p>
        </p:txBody>
      </p:sp>
      <p:sp>
        <p:nvSpPr>
          <p:cNvPr id="4" name="plan card"/>
          <p:cNvSpPr/>
          <p:nvPr/>
        </p:nvSpPr>
        <p:spPr>
          <a:xfrm>
            <a:off x="457200" y="1371600"/>
            <a:ext cx="1508760" cy="2651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tep number"/>
          <p:cNvSpPr/>
          <p:nvPr/>
        </p:nvSpPr>
        <p:spPr>
          <a:xfrm>
            <a:off x="594360" y="15544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94360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210312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Git and GitHub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283464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What they are, account, fork, clone</a:t>
            </a:r>
            <a:endParaRPr lang="en-US" sz="1400" dirty="0"/>
          </a:p>
        </p:txBody>
      </p:sp>
      <p:sp>
        <p:nvSpPr>
          <p:cNvPr id="9" name="plan card"/>
          <p:cNvSpPr/>
          <p:nvPr/>
        </p:nvSpPr>
        <p:spPr>
          <a:xfrm>
            <a:off x="2103120" y="1371600"/>
            <a:ext cx="1508760" cy="2651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tep number"/>
          <p:cNvSpPr/>
          <p:nvPr/>
        </p:nvSpPr>
        <p:spPr>
          <a:xfrm>
            <a:off x="2240280" y="15544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240280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2240280" y="210312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Install tools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2240280" y="283464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Node.js, Python, VS Code</a:t>
            </a:r>
            <a:endParaRPr lang="en-US" sz="1400" dirty="0"/>
          </a:p>
        </p:txBody>
      </p:sp>
      <p:sp>
        <p:nvSpPr>
          <p:cNvPr id="14" name="plan card"/>
          <p:cNvSpPr/>
          <p:nvPr/>
        </p:nvSpPr>
        <p:spPr>
          <a:xfrm>
            <a:off x="3749040" y="1371600"/>
            <a:ext cx="1508760" cy="2651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step number"/>
          <p:cNvSpPr/>
          <p:nvPr/>
        </p:nvSpPr>
        <p:spPr>
          <a:xfrm>
            <a:off x="3886200" y="15544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886200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3886200" y="210312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Verify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3886200" y="283464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Run check_setup.py</a:t>
            </a:r>
            <a:endParaRPr lang="en-US" sz="1400" dirty="0"/>
          </a:p>
        </p:txBody>
      </p:sp>
      <p:sp>
        <p:nvSpPr>
          <p:cNvPr id="19" name="plan card"/>
          <p:cNvSpPr/>
          <p:nvPr/>
        </p:nvSpPr>
        <p:spPr>
          <a:xfrm>
            <a:off x="5394960" y="1371600"/>
            <a:ext cx="1508760" cy="2651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step number"/>
          <p:cNvSpPr/>
          <p:nvPr/>
        </p:nvSpPr>
        <p:spPr>
          <a:xfrm>
            <a:off x="5532120" y="155448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532120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532120" y="210312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Write Python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5532120" y="283464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Live coding together</a:t>
            </a:r>
            <a:endParaRPr lang="en-US" sz="1400" dirty="0"/>
          </a:p>
        </p:txBody>
      </p:sp>
      <p:sp>
        <p:nvSpPr>
          <p:cNvPr id="24" name="plan card"/>
          <p:cNvSpPr/>
          <p:nvPr/>
        </p:nvSpPr>
        <p:spPr>
          <a:xfrm>
            <a:off x="7040880" y="1371600"/>
            <a:ext cx="1508760" cy="2651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step number"/>
          <p:cNvSpPr/>
          <p:nvPr/>
        </p:nvSpPr>
        <p:spPr>
          <a:xfrm>
            <a:off x="7178040" y="155448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178040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7178040" y="210312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Homework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7178040" y="283464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Practice problems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Green = setup (before we code).  Blue = coding.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Git, GitHub and GitHub Desktop</a:t>
            </a:r>
            <a:endParaRPr lang="en-US" sz="3000" dirty="0"/>
          </a:p>
        </p:txBody>
      </p:sp>
      <p:sp>
        <p:nvSpPr>
          <p:cNvPr id="4" name="concept card"/>
          <p:cNvSpPr/>
          <p:nvPr/>
        </p:nvSpPr>
        <p:spPr>
          <a:xfrm>
            <a:off x="457200" y="1371600"/>
            <a:ext cx="265176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oncept dot"/>
          <p:cNvSpPr/>
          <p:nvPr/>
        </p:nvSpPr>
        <p:spPr>
          <a:xfrm>
            <a:off x="685800" y="1600200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21945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65176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tool on your laptop that records every version of your files. Like unlimited undo.</a:t>
            </a:r>
            <a:endParaRPr lang="en-US" sz="1400" dirty="0"/>
          </a:p>
        </p:txBody>
      </p:sp>
      <p:sp>
        <p:nvSpPr>
          <p:cNvPr id="8" name="concept card"/>
          <p:cNvSpPr/>
          <p:nvPr/>
        </p:nvSpPr>
        <p:spPr>
          <a:xfrm>
            <a:off x="3291840" y="1371600"/>
            <a:ext cx="265176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concept dot"/>
          <p:cNvSpPr/>
          <p:nvPr/>
        </p:nvSpPr>
        <p:spPr>
          <a:xfrm>
            <a:off x="3520440" y="1600200"/>
            <a:ext cx="457200" cy="45720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520440" y="21945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GitHub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3520440" y="265176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website that stores your Git projects online. Your backup, and how you share work.</a:t>
            </a:r>
            <a:endParaRPr lang="en-US" sz="1400" dirty="0"/>
          </a:p>
        </p:txBody>
      </p:sp>
      <p:sp>
        <p:nvSpPr>
          <p:cNvPr id="12" name="concept card"/>
          <p:cNvSpPr/>
          <p:nvPr/>
        </p:nvSpPr>
        <p:spPr>
          <a:xfrm>
            <a:off x="6126480" y="1371600"/>
            <a:ext cx="265176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concept dot"/>
          <p:cNvSpPr/>
          <p:nvPr/>
        </p:nvSpPr>
        <p:spPr>
          <a:xfrm>
            <a:off x="6355080" y="16002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355080" y="21945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GitHub Desktop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6355080" y="265176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 app with buttons for Git. No commands to memorize.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4023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6"/>
                </a:solidFill>
              </a:rPr>
              <a:t>Every developer uses Git. It is how teams work on the same code without overwriting each other.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your copy of the course works</a:t>
            </a:r>
            <a:endParaRPr lang="en-US" sz="3000" dirty="0"/>
          </a:p>
        </p:txBody>
      </p:sp>
      <p:sp>
        <p:nvSpPr>
          <p:cNvPr id="4" name="flow box"/>
          <p:cNvSpPr/>
          <p:nvPr/>
        </p:nvSpPr>
        <p:spPr>
          <a:xfrm>
            <a:off x="457200" y="1554480"/>
            <a:ext cx="2377440" cy="1554480"/>
          </a:xfrm>
          <a:prstGeom prst="roundRect">
            <a:avLst>
              <a:gd name="adj" fmla="val 4706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457200" y="1783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Course repo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23774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Original, on GitHub</a:t>
            </a:r>
            <a:endParaRPr lang="en-US" sz="1400" dirty="0"/>
          </a:p>
        </p:txBody>
      </p:sp>
      <p:sp>
        <p:nvSpPr>
          <p:cNvPr id="7" name="flow arrow"/>
          <p:cNvSpPr/>
          <p:nvPr/>
        </p:nvSpPr>
        <p:spPr>
          <a:xfrm>
            <a:off x="2926080" y="2148840"/>
            <a:ext cx="457200" cy="36576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834640" y="26060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Fork</a:t>
            </a:r>
            <a:endParaRPr lang="en-US" sz="1400" dirty="0"/>
          </a:p>
        </p:txBody>
      </p:sp>
      <p:sp>
        <p:nvSpPr>
          <p:cNvPr id="9" name="flow box"/>
          <p:cNvSpPr/>
          <p:nvPr/>
        </p:nvSpPr>
        <p:spPr>
          <a:xfrm>
            <a:off x="3474720" y="1554480"/>
            <a:ext cx="2377440" cy="1554480"/>
          </a:xfrm>
          <a:prstGeom prst="roundRect">
            <a:avLst>
              <a:gd name="adj" fmla="val 4706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474720" y="1783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fork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3474720" y="23774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Your copy, on GitHub</a:t>
            </a:r>
            <a:endParaRPr lang="en-US" sz="1400" dirty="0"/>
          </a:p>
        </p:txBody>
      </p:sp>
      <p:sp>
        <p:nvSpPr>
          <p:cNvPr id="12" name="flow arrow"/>
          <p:cNvSpPr/>
          <p:nvPr/>
        </p:nvSpPr>
        <p:spPr>
          <a:xfrm>
            <a:off x="5943600" y="2148840"/>
            <a:ext cx="457200" cy="36576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852160" y="26060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Clone</a:t>
            </a:r>
            <a:endParaRPr lang="en-US" sz="1400" dirty="0"/>
          </a:p>
        </p:txBody>
      </p:sp>
      <p:sp>
        <p:nvSpPr>
          <p:cNvPr id="14" name="flow box"/>
          <p:cNvSpPr/>
          <p:nvPr/>
        </p:nvSpPr>
        <p:spPr>
          <a:xfrm>
            <a:off x="6492240" y="1554480"/>
            <a:ext cx="2377440" cy="1554480"/>
          </a:xfrm>
          <a:prstGeom prst="roundRect">
            <a:avLst>
              <a:gd name="adj" fmla="val 470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92240" y="1783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laptop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6492240" y="23774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Cloned folder in VS Code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57200" y="3566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Your work goes into your copy. You can still pull updates from the original.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 in four words</a:t>
            </a:r>
            <a:endParaRPr lang="en-US" sz="3000" dirty="0"/>
          </a:p>
        </p:txBody>
      </p:sp>
      <p:sp>
        <p:nvSpPr>
          <p:cNvPr id="4" name="vocab card"/>
          <p:cNvSpPr/>
          <p:nvPr/>
        </p:nvSpPr>
        <p:spPr>
          <a:xfrm>
            <a:off x="457200" y="1371600"/>
            <a:ext cx="1965960" cy="2468880"/>
          </a:xfrm>
          <a:prstGeom prst="roundRect">
            <a:avLst>
              <a:gd name="adj" fmla="val 37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vocab dot"/>
          <p:cNvSpPr/>
          <p:nvPr/>
        </p:nvSpPr>
        <p:spPr>
          <a:xfrm>
            <a:off x="640080" y="1554480"/>
            <a:ext cx="411480" cy="41148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21031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Repository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60320"/>
            <a:ext cx="1645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project folder plus its full history. Also called a repo.</a:t>
            </a:r>
            <a:endParaRPr lang="en-US" sz="1400" dirty="0"/>
          </a:p>
        </p:txBody>
      </p:sp>
      <p:sp>
        <p:nvSpPr>
          <p:cNvPr id="8" name="vocab card"/>
          <p:cNvSpPr/>
          <p:nvPr/>
        </p:nvSpPr>
        <p:spPr>
          <a:xfrm>
            <a:off x="2560320" y="1371600"/>
            <a:ext cx="1965960" cy="2468880"/>
          </a:xfrm>
          <a:prstGeom prst="roundRect">
            <a:avLst>
              <a:gd name="adj" fmla="val 37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vocab dot"/>
          <p:cNvSpPr/>
          <p:nvPr/>
        </p:nvSpPr>
        <p:spPr>
          <a:xfrm>
            <a:off x="2743200" y="155448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743200" y="21031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Commit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2743200" y="2560320"/>
            <a:ext cx="1645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save point with a short message, like "Add greeting function".</a:t>
            </a:r>
            <a:endParaRPr lang="en-US" sz="1400" dirty="0"/>
          </a:p>
        </p:txBody>
      </p:sp>
      <p:sp>
        <p:nvSpPr>
          <p:cNvPr id="12" name="vocab card"/>
          <p:cNvSpPr/>
          <p:nvPr/>
        </p:nvSpPr>
        <p:spPr>
          <a:xfrm>
            <a:off x="4663440" y="1371600"/>
            <a:ext cx="1965960" cy="2468880"/>
          </a:xfrm>
          <a:prstGeom prst="roundRect">
            <a:avLst>
              <a:gd name="adj" fmla="val 37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vocab dot"/>
          <p:cNvSpPr/>
          <p:nvPr/>
        </p:nvSpPr>
        <p:spPr>
          <a:xfrm>
            <a:off x="4846320" y="1554480"/>
            <a:ext cx="411480" cy="4114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846320" y="21031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Push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4846320" y="2560320"/>
            <a:ext cx="1645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Upload your commits from your laptop to GitHub.</a:t>
            </a:r>
            <a:endParaRPr lang="en-US" sz="1400" dirty="0"/>
          </a:p>
        </p:txBody>
      </p:sp>
      <p:sp>
        <p:nvSpPr>
          <p:cNvPr id="16" name="vocab card"/>
          <p:cNvSpPr/>
          <p:nvPr/>
        </p:nvSpPr>
        <p:spPr>
          <a:xfrm>
            <a:off x="6766560" y="1371600"/>
            <a:ext cx="1965960" cy="2468880"/>
          </a:xfrm>
          <a:prstGeom prst="roundRect">
            <a:avLst>
              <a:gd name="adj" fmla="val 37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vocab dot"/>
          <p:cNvSpPr/>
          <p:nvPr/>
        </p:nvSpPr>
        <p:spPr>
          <a:xfrm>
            <a:off x="6949440" y="1554480"/>
            <a:ext cx="411480" cy="4114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949440" y="21031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Pull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6949440" y="2560320"/>
            <a:ext cx="1645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Download new commits from GitHub to your laptop.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Your daily loop:  edit files  →  commit  →  push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developers use Git</a:t>
            </a:r>
            <a:endParaRPr lang="en-US" sz="3000" dirty="0"/>
          </a:p>
        </p:txBody>
      </p:sp>
      <p:sp>
        <p:nvSpPr>
          <p:cNvPr id="4" name="benefit card"/>
          <p:cNvSpPr/>
          <p:nvPr/>
        </p:nvSpPr>
        <p:spPr>
          <a:xfrm>
            <a:off x="457200" y="1371600"/>
            <a:ext cx="40233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tep number"/>
          <p:cNvSpPr/>
          <p:nvPr/>
        </p:nvSpPr>
        <p:spPr>
          <a:xfrm>
            <a:off x="685800" y="16002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280160" y="15544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Undo anything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280160" y="19659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Every commit is a snapshot. Go back to any earlier version.</a:t>
            </a:r>
            <a:endParaRPr lang="en-US" sz="1400" dirty="0"/>
          </a:p>
        </p:txBody>
      </p:sp>
      <p:sp>
        <p:nvSpPr>
          <p:cNvPr id="9" name="benefit card"/>
          <p:cNvSpPr/>
          <p:nvPr/>
        </p:nvSpPr>
        <p:spPr>
          <a:xfrm>
            <a:off x="4663440" y="1371600"/>
            <a:ext cx="40233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tep number"/>
          <p:cNvSpPr/>
          <p:nvPr/>
        </p:nvSpPr>
        <p:spPr>
          <a:xfrm>
            <a:off x="4892040" y="16002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892040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5486400" y="15544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Nothing gets lost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0" y="19659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Your code lives on GitHub too, not just on one laptop.</a:t>
            </a:r>
            <a:endParaRPr lang="en-US" sz="1400" dirty="0"/>
          </a:p>
        </p:txBody>
      </p:sp>
      <p:sp>
        <p:nvSpPr>
          <p:cNvPr id="14" name="benefit card"/>
          <p:cNvSpPr/>
          <p:nvPr/>
        </p:nvSpPr>
        <p:spPr>
          <a:xfrm>
            <a:off x="457200" y="2926080"/>
            <a:ext cx="40233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step number"/>
          <p:cNvSpPr/>
          <p:nvPr/>
        </p:nvSpPr>
        <p:spPr>
          <a:xfrm>
            <a:off x="685800" y="31546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85800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1280160" y="31089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Work together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1280160" y="35204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Many people change the same project without overwriting each other.</a:t>
            </a:r>
            <a:endParaRPr lang="en-US" sz="1400" dirty="0"/>
          </a:p>
        </p:txBody>
      </p:sp>
      <p:sp>
        <p:nvSpPr>
          <p:cNvPr id="19" name="benefit card"/>
          <p:cNvSpPr/>
          <p:nvPr/>
        </p:nvSpPr>
        <p:spPr>
          <a:xfrm>
            <a:off x="4663440" y="2926080"/>
            <a:ext cx="40233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step number"/>
          <p:cNvSpPr/>
          <p:nvPr/>
        </p:nvSpPr>
        <p:spPr>
          <a:xfrm>
            <a:off x="4892040" y="31546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892040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0" y="31089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Show your work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5486400" y="35204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Your GitHub profile becomes your portfolio for clients and employers.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teams work on GitHub</a:t>
            </a:r>
            <a:endParaRPr lang="en-US" sz="3000" dirty="0"/>
          </a:p>
        </p:txBody>
      </p:sp>
      <p:sp>
        <p:nvSpPr>
          <p:cNvPr id="4" name="workflow box"/>
          <p:cNvSpPr/>
          <p:nvPr/>
        </p:nvSpPr>
        <p:spPr>
          <a:xfrm>
            <a:off x="457200" y="1371600"/>
            <a:ext cx="1463040" cy="201168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tep number"/>
          <p:cNvSpPr/>
          <p:nvPr/>
        </p:nvSpPr>
        <p:spPr>
          <a:xfrm>
            <a:off x="594360" y="150876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9436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205740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Branch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256032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Your own safe copy of the project</a:t>
            </a:r>
            <a:endParaRPr lang="en-US" sz="1300" dirty="0"/>
          </a:p>
        </p:txBody>
      </p:sp>
      <p:sp>
        <p:nvSpPr>
          <p:cNvPr id="9" name="workflow arrow"/>
          <p:cNvSpPr/>
          <p:nvPr/>
        </p:nvSpPr>
        <p:spPr>
          <a:xfrm>
            <a:off x="1947672" y="2240280"/>
            <a:ext cx="173736" cy="27432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workflow box"/>
          <p:cNvSpPr/>
          <p:nvPr/>
        </p:nvSpPr>
        <p:spPr>
          <a:xfrm>
            <a:off x="2148840" y="1371600"/>
            <a:ext cx="1463040" cy="201168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step number"/>
          <p:cNvSpPr/>
          <p:nvPr/>
        </p:nvSpPr>
        <p:spPr>
          <a:xfrm>
            <a:off x="2286000" y="150876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28600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2286000" y="205740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Commit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2286000" y="256032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Save your changes on the branch</a:t>
            </a:r>
            <a:endParaRPr lang="en-US" sz="1300" dirty="0"/>
          </a:p>
        </p:txBody>
      </p:sp>
      <p:sp>
        <p:nvSpPr>
          <p:cNvPr id="15" name="workflow arrow"/>
          <p:cNvSpPr/>
          <p:nvPr/>
        </p:nvSpPr>
        <p:spPr>
          <a:xfrm>
            <a:off x="3639312" y="2240280"/>
            <a:ext cx="173736" cy="27432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workflow box"/>
          <p:cNvSpPr/>
          <p:nvPr/>
        </p:nvSpPr>
        <p:spPr>
          <a:xfrm>
            <a:off x="3840480" y="1371600"/>
            <a:ext cx="1463040" cy="201168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step number"/>
          <p:cNvSpPr/>
          <p:nvPr/>
        </p:nvSpPr>
        <p:spPr>
          <a:xfrm>
            <a:off x="3977640" y="150876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97764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3977640" y="205740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Pull request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3977640" y="256032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Ask the team to add your work</a:t>
            </a:r>
            <a:endParaRPr lang="en-US" sz="1300" dirty="0"/>
          </a:p>
        </p:txBody>
      </p:sp>
      <p:sp>
        <p:nvSpPr>
          <p:cNvPr id="21" name="workflow arrow"/>
          <p:cNvSpPr/>
          <p:nvPr/>
        </p:nvSpPr>
        <p:spPr>
          <a:xfrm>
            <a:off x="5330952" y="2240280"/>
            <a:ext cx="173736" cy="27432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2" name="workflow box"/>
          <p:cNvSpPr/>
          <p:nvPr/>
        </p:nvSpPr>
        <p:spPr>
          <a:xfrm>
            <a:off x="5532120" y="1371600"/>
            <a:ext cx="1463040" cy="201168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step number"/>
          <p:cNvSpPr/>
          <p:nvPr/>
        </p:nvSpPr>
        <p:spPr>
          <a:xfrm>
            <a:off x="5669280" y="150876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66928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5669280" y="205740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Review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5669280" y="256032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Teammates read and comment</a:t>
            </a:r>
            <a:endParaRPr lang="en-US" sz="1300" dirty="0"/>
          </a:p>
        </p:txBody>
      </p:sp>
      <p:sp>
        <p:nvSpPr>
          <p:cNvPr id="27" name="workflow arrow"/>
          <p:cNvSpPr/>
          <p:nvPr/>
        </p:nvSpPr>
        <p:spPr>
          <a:xfrm>
            <a:off x="7022592" y="2240280"/>
            <a:ext cx="173736" cy="27432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8" name="workflow box"/>
          <p:cNvSpPr/>
          <p:nvPr/>
        </p:nvSpPr>
        <p:spPr>
          <a:xfrm>
            <a:off x="7223760" y="1371600"/>
            <a:ext cx="1463040" cy="2011680"/>
          </a:xfrm>
          <a:prstGeom prst="roundRect">
            <a:avLst>
              <a:gd name="adj" fmla="val 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step number"/>
          <p:cNvSpPr/>
          <p:nvPr/>
        </p:nvSpPr>
        <p:spPr>
          <a:xfrm>
            <a:off x="7360920" y="1508760"/>
            <a:ext cx="384048" cy="384048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36092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7360920" y="205740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Merge</a:t>
            </a:r>
            <a:endParaRPr lang="en-US" sz="1600" dirty="0"/>
          </a:p>
        </p:txBody>
      </p:sp>
      <p:sp>
        <p:nvSpPr>
          <p:cNvPr id="32" name="Text 29"/>
          <p:cNvSpPr txBox="1"/>
          <p:nvPr/>
        </p:nvSpPr>
        <p:spPr>
          <a:xfrm>
            <a:off x="7360920" y="256032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Your work joins main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457200" y="3749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main = the stable, shared version.  branch = your own workspace.</a:t>
            </a:r>
            <a:endParaRPr lang="en-US" sz="16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In this course you use a fork and push to it. Later we will practise branches and pull requests.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branches look like</a:t>
            </a:r>
            <a:endParaRPr lang="en-US" sz="3000" dirty="0"/>
          </a:p>
        </p:txBody>
      </p:sp>
      <p:sp>
        <p:nvSpPr>
          <p:cNvPr id="4" name="branch line"/>
          <p:cNvSpPr/>
          <p:nvPr/>
        </p:nvSpPr>
        <p:spPr>
          <a:xfrm>
            <a:off x="914400" y="1783080"/>
            <a:ext cx="7589520" cy="0"/>
          </a:xfrm>
          <a:prstGeom prst="line">
            <a:avLst/>
          </a:prstGeom>
          <a:noFill/>
          <a:ln w="38100">
            <a:solidFill>
              <a:schemeClr val="accent3"/>
            </a:solidFill>
            <a:prstDash val="solid"/>
          </a:ln>
        </p:spPr>
      </p:sp>
      <p:sp>
        <p:nvSpPr>
          <p:cNvPr id="5" name="branch path"/>
          <p:cNvSpPr/>
          <p:nvPr/>
        </p:nvSpPr>
        <p:spPr>
          <a:xfrm>
            <a:off x="2468880" y="1783080"/>
            <a:ext cx="2743200" cy="1097280"/>
          </a:xfrm>
          <a:custGeom>
            <a:avLst/>
            <a:gdLst/>
            <a:ahLst/>
            <a:cxnLst/>
            <a:rect l="l" t="t" r="r" b="b"/>
            <a:pathLst>
              <a:path w="2743200" h="1097280">
                <a:moveTo>
                  <a:pt x="0" y="0"/>
                </a:moveTo>
                <a:lnTo>
                  <a:pt x="640080" y="1097280"/>
                </a:lnTo>
                <a:lnTo>
                  <a:pt x="1737360" y="1097280"/>
                </a:lnTo>
                <a:lnTo>
                  <a:pt x="2743200" y="0"/>
                </a:lnTo>
              </a:path>
            </a:pathLst>
          </a:custGeom>
          <a:solidFill>
            <a:schemeClr val="bg1">
              <a:alpha val="0"/>
            </a:schemeClr>
          </a:solidFill>
          <a:ln w="38100">
            <a:solidFill>
              <a:schemeClr val="accent1"/>
            </a:solidFill>
            <a:prstDash val="solid"/>
          </a:ln>
        </p:spPr>
      </p:sp>
      <p:sp>
        <p:nvSpPr>
          <p:cNvPr id="6" name="branch path"/>
          <p:cNvSpPr/>
          <p:nvPr/>
        </p:nvSpPr>
        <p:spPr>
          <a:xfrm>
            <a:off x="1280160" y="1783080"/>
            <a:ext cx="5943600" cy="2011680"/>
          </a:xfrm>
          <a:custGeom>
            <a:avLst/>
            <a:gdLst/>
            <a:ahLst/>
            <a:cxnLst/>
            <a:rect l="l" t="t" r="r" b="b"/>
            <a:pathLst>
              <a:path w="5943600" h="2011680">
                <a:moveTo>
                  <a:pt x="0" y="0"/>
                </a:moveTo>
                <a:lnTo>
                  <a:pt x="731520" y="2011680"/>
                </a:lnTo>
                <a:lnTo>
                  <a:pt x="4572000" y="2011680"/>
                </a:lnTo>
                <a:lnTo>
                  <a:pt x="5943600" y="0"/>
                </a:lnTo>
              </a:path>
            </a:pathLst>
          </a:custGeom>
          <a:solidFill>
            <a:schemeClr val="bg1">
              <a:alpha val="0"/>
            </a:schemeClr>
          </a:solidFill>
          <a:ln w="38100">
            <a:solidFill>
              <a:schemeClr val="accent2"/>
            </a:solidFill>
            <a:prstDash val="solid"/>
          </a:ln>
        </p:spPr>
      </p:sp>
      <p:sp>
        <p:nvSpPr>
          <p:cNvPr id="7" name="commit dot"/>
          <p:cNvSpPr/>
          <p:nvPr/>
        </p:nvSpPr>
        <p:spPr>
          <a:xfrm>
            <a:off x="1152144" y="1655064"/>
            <a:ext cx="256032" cy="256032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8" name="commit dot"/>
          <p:cNvSpPr/>
          <p:nvPr/>
        </p:nvSpPr>
        <p:spPr>
          <a:xfrm>
            <a:off x="2340864" y="1655064"/>
            <a:ext cx="256032" cy="256032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9" name="commit dot"/>
          <p:cNvSpPr/>
          <p:nvPr/>
        </p:nvSpPr>
        <p:spPr>
          <a:xfrm>
            <a:off x="5084064" y="1655064"/>
            <a:ext cx="256032" cy="256032"/>
          </a:xfrm>
          <a:prstGeom prst="ellipse">
            <a:avLst/>
          </a:prstGeom>
          <a:solidFill>
            <a:schemeClr val="tx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0" name="commit dot"/>
          <p:cNvSpPr/>
          <p:nvPr/>
        </p:nvSpPr>
        <p:spPr>
          <a:xfrm>
            <a:off x="7095744" y="1655064"/>
            <a:ext cx="256032" cy="256032"/>
          </a:xfrm>
          <a:prstGeom prst="ellipse">
            <a:avLst/>
          </a:prstGeom>
          <a:solidFill>
            <a:schemeClr val="tx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1" name="commit dot"/>
          <p:cNvSpPr/>
          <p:nvPr/>
        </p:nvSpPr>
        <p:spPr>
          <a:xfrm>
            <a:off x="2980944" y="2752344"/>
            <a:ext cx="256032" cy="256032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2" name="commit dot"/>
          <p:cNvSpPr/>
          <p:nvPr/>
        </p:nvSpPr>
        <p:spPr>
          <a:xfrm>
            <a:off x="3529584" y="2752344"/>
            <a:ext cx="256032" cy="256032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3" name="commit dot"/>
          <p:cNvSpPr/>
          <p:nvPr/>
        </p:nvSpPr>
        <p:spPr>
          <a:xfrm>
            <a:off x="4078224" y="2752344"/>
            <a:ext cx="256032" cy="256032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4" name="commit dot"/>
          <p:cNvSpPr/>
          <p:nvPr/>
        </p:nvSpPr>
        <p:spPr>
          <a:xfrm>
            <a:off x="1883664" y="3666744"/>
            <a:ext cx="256032" cy="256032"/>
          </a:xfrm>
          <a:prstGeom prst="ellipse">
            <a:avLst/>
          </a:prstGeom>
          <a:solidFill>
            <a:schemeClr val="accent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5" name="commit dot"/>
          <p:cNvSpPr/>
          <p:nvPr/>
        </p:nvSpPr>
        <p:spPr>
          <a:xfrm>
            <a:off x="3163824" y="3666744"/>
            <a:ext cx="256032" cy="256032"/>
          </a:xfrm>
          <a:prstGeom prst="ellipse">
            <a:avLst/>
          </a:prstGeom>
          <a:solidFill>
            <a:schemeClr val="accent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6" name="commit dot"/>
          <p:cNvSpPr/>
          <p:nvPr/>
        </p:nvSpPr>
        <p:spPr>
          <a:xfrm>
            <a:off x="4443984" y="3666744"/>
            <a:ext cx="256032" cy="256032"/>
          </a:xfrm>
          <a:prstGeom prst="ellipse">
            <a:avLst/>
          </a:prstGeom>
          <a:solidFill>
            <a:schemeClr val="accent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7" name="commit dot"/>
          <p:cNvSpPr/>
          <p:nvPr/>
        </p:nvSpPr>
        <p:spPr>
          <a:xfrm>
            <a:off x="5724144" y="3666744"/>
            <a:ext cx="256032" cy="256032"/>
          </a:xfrm>
          <a:prstGeom prst="ellipse">
            <a:avLst/>
          </a:prstGeom>
          <a:solidFill>
            <a:schemeClr val="accent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57200" y="11887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main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3108960" y="3063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Priya's branch: login-page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2011680" y="39776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Sam's branch: greeting-feature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4846320" y="12801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merge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6858000" y="12801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merge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7498080" y="42976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Time  →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457200" y="44348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Each dot is a commit.  Each coloured line is a separate workspace.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to read the branch picture</a:t>
            </a:r>
            <a:endParaRPr lang="en-US" sz="3000" dirty="0"/>
          </a:p>
        </p:txBody>
      </p:sp>
      <p:sp>
        <p:nvSpPr>
          <p:cNvPr id="4" name="read card"/>
          <p:cNvSpPr/>
          <p:nvPr/>
        </p:nvSpPr>
        <p:spPr>
          <a:xfrm>
            <a:off x="457200" y="1371600"/>
            <a:ext cx="40233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read dot"/>
          <p:cNvSpPr/>
          <p:nvPr/>
        </p:nvSpPr>
        <p:spPr>
          <a:xfrm>
            <a:off x="685800" y="1600200"/>
            <a:ext cx="411480" cy="4114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280160" y="15544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main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280160" y="19659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The stable, shared version of the project. It should always work.</a:t>
            </a:r>
            <a:endParaRPr lang="en-US" sz="1400" dirty="0"/>
          </a:p>
        </p:txBody>
      </p:sp>
      <p:sp>
        <p:nvSpPr>
          <p:cNvPr id="8" name="read card"/>
          <p:cNvSpPr/>
          <p:nvPr/>
        </p:nvSpPr>
        <p:spPr>
          <a:xfrm>
            <a:off x="4663440" y="1371600"/>
            <a:ext cx="40233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read dot"/>
          <p:cNvSpPr/>
          <p:nvPr/>
        </p:nvSpPr>
        <p:spPr>
          <a:xfrm>
            <a:off x="4892040" y="160020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0" y="15544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Branch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0" y="19659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A copy where you work freely. You cannot break main from here.</a:t>
            </a:r>
            <a:endParaRPr lang="en-US" sz="1400" dirty="0"/>
          </a:p>
        </p:txBody>
      </p:sp>
      <p:sp>
        <p:nvSpPr>
          <p:cNvPr id="12" name="read card"/>
          <p:cNvSpPr/>
          <p:nvPr/>
        </p:nvSpPr>
        <p:spPr>
          <a:xfrm>
            <a:off x="457200" y="2926080"/>
            <a:ext cx="40233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read dot"/>
          <p:cNvSpPr/>
          <p:nvPr/>
        </p:nvSpPr>
        <p:spPr>
          <a:xfrm>
            <a:off x="685800" y="3154680"/>
            <a:ext cx="411480" cy="4114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280160" y="31089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Commits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1280160" y="35204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Save points on your branch. Make small ones as you go.</a:t>
            </a:r>
            <a:endParaRPr lang="en-US" sz="1400" dirty="0"/>
          </a:p>
        </p:txBody>
      </p:sp>
      <p:sp>
        <p:nvSpPr>
          <p:cNvPr id="16" name="read card"/>
          <p:cNvSpPr/>
          <p:nvPr/>
        </p:nvSpPr>
        <p:spPr>
          <a:xfrm>
            <a:off x="4663440" y="2926080"/>
            <a:ext cx="40233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read dot"/>
          <p:cNvSpPr/>
          <p:nvPr/>
        </p:nvSpPr>
        <p:spPr>
          <a:xfrm>
            <a:off x="4892040" y="3154680"/>
            <a:ext cx="411480" cy="41148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0" y="31089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Merge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0" y="35204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When the work is reviewed and ready, the branch joins main.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Priya and Sam work at the same time, and neither can break the other's work.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Good team habits (and merge conflicts)</a:t>
            </a:r>
            <a:endParaRPr lang="en-US" sz="3000" dirty="0"/>
          </a:p>
        </p:txBody>
      </p:sp>
      <p:sp>
        <p:nvSpPr>
          <p:cNvPr id="4" name="habits card"/>
          <p:cNvSpPr/>
          <p:nvPr/>
        </p:nvSpPr>
        <p:spPr>
          <a:xfrm>
            <a:off x="457200" y="1280160"/>
            <a:ext cx="4023360" cy="3108960"/>
          </a:xfrm>
          <a:prstGeom prst="roundRect">
            <a:avLst>
              <a:gd name="adj" fmla="val 235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85800" y="1417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Team habits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920240"/>
            <a:ext cx="3566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Pull before you start working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Make small, frequent commits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Write clear commit messages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Never work directly on main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Ask for review before merging</a:t>
            </a:r>
            <a:endParaRPr lang="en-US" sz="1500" dirty="0"/>
          </a:p>
        </p:txBody>
      </p:sp>
      <p:sp>
        <p:nvSpPr>
          <p:cNvPr id="7" name="conflict card"/>
          <p:cNvSpPr/>
          <p:nvPr/>
        </p:nvSpPr>
        <p:spPr>
          <a:xfrm>
            <a:off x="4663440" y="1280160"/>
            <a:ext cx="4023360" cy="3108960"/>
          </a:xfrm>
          <a:prstGeom prst="roundRect">
            <a:avLst>
              <a:gd name="adj" fmla="val 235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892040" y="1417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Merge conflict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4892040" y="187452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Two people edited the same line. Git marks both versions and you choose what to keep.</a:t>
            </a:r>
            <a:endParaRPr lang="en-US" sz="1400" dirty="0"/>
          </a:p>
        </p:txBody>
      </p:sp>
      <p:sp>
        <p:nvSpPr>
          <p:cNvPr id="10" name="code block"/>
          <p:cNvSpPr/>
          <p:nvPr/>
        </p:nvSpPr>
        <p:spPr>
          <a:xfrm>
            <a:off x="4892040" y="2743200"/>
            <a:ext cx="3566160" cy="1463040"/>
          </a:xfrm>
          <a:prstGeom prst="roundRect">
            <a:avLst>
              <a:gd name="adj" fmla="val 5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074920" y="2852928"/>
            <a:ext cx="320040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&lt;&lt;&lt;&lt;&lt;&lt;&lt; yours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print("Hello")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=======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print("Hi")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&gt;&gt;&gt;&gt;&gt;&gt;&gt; theirs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1: Create a GitHub account</a:t>
            </a:r>
            <a:endParaRPr lang="en-US" sz="3000" dirty="0"/>
          </a:p>
        </p:txBody>
      </p:sp>
      <p:sp>
        <p:nvSpPr>
          <p:cNvPr id="3" name="step number"/>
          <p:cNvSpPr/>
          <p:nvPr/>
        </p:nvSpPr>
        <p:spPr>
          <a:xfrm>
            <a:off x="457200" y="13716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1371600"/>
            <a:ext cx="429768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Open github.com/signup</a:t>
            </a:r>
            <a:endParaRPr lang="en-US" sz="1600" dirty="0"/>
          </a:p>
        </p:txBody>
      </p:sp>
      <p:sp>
        <p:nvSpPr>
          <p:cNvPr id="6" name="step number"/>
          <p:cNvSpPr/>
          <p:nvPr/>
        </p:nvSpPr>
        <p:spPr>
          <a:xfrm>
            <a:off x="457200" y="21488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2148840"/>
            <a:ext cx="429768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Sign up with your email and pick a username</a:t>
            </a:r>
            <a:endParaRPr lang="en-US" sz="1600" dirty="0"/>
          </a:p>
        </p:txBody>
      </p:sp>
      <p:sp>
        <p:nvSpPr>
          <p:cNvPr id="9" name="step number"/>
          <p:cNvSpPr/>
          <p:nvPr/>
        </p:nvSpPr>
        <p:spPr>
          <a:xfrm>
            <a:off x="457200" y="29260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926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2926080"/>
            <a:ext cx="429768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Verify your email</a:t>
            </a:r>
            <a:endParaRPr lang="en-US" sz="1600" dirty="0"/>
          </a:p>
        </p:txBody>
      </p:sp>
      <p:sp>
        <p:nvSpPr>
          <p:cNvPr id="12" name="step number"/>
          <p:cNvSpPr/>
          <p:nvPr/>
        </p:nvSpPr>
        <p:spPr>
          <a:xfrm>
            <a:off x="457200" y="37033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3703320"/>
            <a:ext cx="429768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Write down your username and password</a:t>
            </a:r>
            <a:endParaRPr lang="en-US" sz="1600" dirty="0"/>
          </a:p>
        </p:txBody>
      </p:sp>
      <p:sp>
        <p:nvSpPr>
          <p:cNvPr id="15" name="tip card"/>
          <p:cNvSpPr/>
          <p:nvPr/>
        </p:nvSpPr>
        <p:spPr>
          <a:xfrm>
            <a:off x="5669280" y="1371600"/>
            <a:ext cx="301752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897880" y="15544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Tip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5897880" y="2011680"/>
            <a:ext cx="2560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Pick a username you are happy to show an employer or client later.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4805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Video: step 1 in the setup guide (docs/)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2: Install GitHub Desktop</a:t>
            </a:r>
            <a:endParaRPr lang="en-US" sz="3000" dirty="0"/>
          </a:p>
        </p:txBody>
      </p:sp>
      <p:sp>
        <p:nvSpPr>
          <p:cNvPr id="3" name="step number"/>
          <p:cNvSpPr/>
          <p:nvPr/>
        </p:nvSpPr>
        <p:spPr>
          <a:xfrm>
            <a:off x="457200" y="13716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1371600"/>
            <a:ext cx="768096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Open desktop.github.com and download for your computer</a:t>
            </a:r>
            <a:endParaRPr lang="en-US" sz="1600" dirty="0"/>
          </a:p>
        </p:txBody>
      </p:sp>
      <p:sp>
        <p:nvSpPr>
          <p:cNvPr id="6" name="step number"/>
          <p:cNvSpPr/>
          <p:nvPr/>
        </p:nvSpPr>
        <p:spPr>
          <a:xfrm>
            <a:off x="457200" y="21488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2148840"/>
            <a:ext cx="768096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Mac: unzip and drag to Applications.  Windows: run the installer</a:t>
            </a:r>
            <a:endParaRPr lang="en-US" sz="1600" dirty="0"/>
          </a:p>
        </p:txBody>
      </p:sp>
      <p:sp>
        <p:nvSpPr>
          <p:cNvPr id="9" name="step number"/>
          <p:cNvSpPr/>
          <p:nvPr/>
        </p:nvSpPr>
        <p:spPr>
          <a:xfrm>
            <a:off x="457200" y="29260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926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2926080"/>
            <a:ext cx="768096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Click Sign in to GitHub.com and authorize</a:t>
            </a:r>
            <a:endParaRPr lang="en-US" sz="1600" dirty="0"/>
          </a:p>
        </p:txBody>
      </p:sp>
      <p:sp>
        <p:nvSpPr>
          <p:cNvPr id="12" name="step number"/>
          <p:cNvSpPr/>
          <p:nvPr/>
        </p:nvSpPr>
        <p:spPr>
          <a:xfrm>
            <a:off x="457200" y="37033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3703320"/>
            <a:ext cx="768096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Keep the name and email it suggests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4805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Only need to sign in once.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3: Fork and clone the course repo</a:t>
            </a:r>
            <a:endParaRPr lang="en-US" sz="3000" dirty="0"/>
          </a:p>
        </p:txBody>
      </p:sp>
      <p:sp>
        <p:nvSpPr>
          <p:cNvPr id="3" name="step number"/>
          <p:cNvSpPr/>
          <p:nvPr/>
        </p:nvSpPr>
        <p:spPr>
          <a:xfrm>
            <a:off x="457200" y="12801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128016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Open github.com/ccunnect-tech/BFA, click Fork, then Create fork</a:t>
            </a:r>
            <a:endParaRPr lang="en-US" sz="1600" dirty="0"/>
          </a:p>
        </p:txBody>
      </p:sp>
      <p:sp>
        <p:nvSpPr>
          <p:cNvPr id="6" name="step number"/>
          <p:cNvSpPr/>
          <p:nvPr/>
        </p:nvSpPr>
        <p:spPr>
          <a:xfrm>
            <a:off x="457200" y="1920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19202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In GitHub Desktop: File, Clone Repository</a:t>
            </a:r>
            <a:endParaRPr lang="en-US" sz="1600" dirty="0"/>
          </a:p>
        </p:txBody>
      </p:sp>
      <p:sp>
        <p:nvSpPr>
          <p:cNvPr id="9" name="step number"/>
          <p:cNvSpPr/>
          <p:nvPr/>
        </p:nvSpPr>
        <p:spPr>
          <a:xfrm>
            <a:off x="457200" y="25603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560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256032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Pick your fork on the GitHub.com tab</a:t>
            </a:r>
            <a:endParaRPr lang="en-US" sz="1600" dirty="0"/>
          </a:p>
        </p:txBody>
      </p:sp>
      <p:sp>
        <p:nvSpPr>
          <p:cNvPr id="12" name="step number"/>
          <p:cNvSpPr/>
          <p:nvPr/>
        </p:nvSpPr>
        <p:spPr>
          <a:xfrm>
            <a:off x="457200" y="32004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200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320040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Choose a folder you will remember, click Clone</a:t>
            </a:r>
            <a:endParaRPr lang="en-US" sz="1600" dirty="0"/>
          </a:p>
        </p:txBody>
      </p:sp>
      <p:sp>
        <p:nvSpPr>
          <p:cNvPr id="15" name="step number"/>
          <p:cNvSpPr/>
          <p:nvPr/>
        </p:nvSpPr>
        <p:spPr>
          <a:xfrm>
            <a:off x="457200" y="38404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005840" y="384048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Choose "To contribute to the parent project"</a:t>
            </a:r>
            <a:endParaRPr lang="en-US" sz="1600" dirty="0"/>
          </a:p>
        </p:txBody>
      </p:sp>
      <p:sp>
        <p:nvSpPr>
          <p:cNvPr id="18" name="chip"/>
          <p:cNvSpPr/>
          <p:nvPr/>
        </p:nvSpPr>
        <p:spPr>
          <a:xfrm>
            <a:off x="457200" y="4526280"/>
            <a:ext cx="640080" cy="274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7200" y="452628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Mac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188720" y="4526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Documents/course</a:t>
            </a:r>
            <a:endParaRPr lang="en-US" sz="1300" dirty="0"/>
          </a:p>
        </p:txBody>
      </p:sp>
      <p:sp>
        <p:nvSpPr>
          <p:cNvPr id="21" name="chip"/>
          <p:cNvSpPr/>
          <p:nvPr/>
        </p:nvSpPr>
        <p:spPr>
          <a:xfrm>
            <a:off x="3291840" y="4526280"/>
            <a:ext cx="822960" cy="27432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291840" y="45262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Windows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251960" y="45262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Documents\course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4: Install Node.js and npm</a:t>
            </a:r>
            <a:endParaRPr lang="en-US" sz="3000" dirty="0"/>
          </a:p>
        </p:txBody>
      </p:sp>
      <p:sp>
        <p:nvSpPr>
          <p:cNvPr id="4" name="step number"/>
          <p:cNvSpPr/>
          <p:nvPr/>
        </p:nvSpPr>
        <p:spPr>
          <a:xfrm>
            <a:off x="457200" y="13716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45720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1005840" y="1371600"/>
            <a:ext cx="43891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Open nodejs.org, click the LTS button (not Current)</a:t>
            </a:r>
            <a:endParaRPr lang="en-US" sz="1600" dirty="0"/>
          </a:p>
        </p:txBody>
      </p:sp>
      <p:sp>
        <p:nvSpPr>
          <p:cNvPr id="7" name="step number"/>
          <p:cNvSpPr/>
          <p:nvPr/>
        </p:nvSpPr>
        <p:spPr>
          <a:xfrm>
            <a:off x="457200" y="21488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57200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005840" y="2148840"/>
            <a:ext cx="43891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Run the installer with default options</a:t>
            </a:r>
            <a:endParaRPr lang="en-US" sz="1600" dirty="0"/>
          </a:p>
        </p:txBody>
      </p:sp>
      <p:sp>
        <p:nvSpPr>
          <p:cNvPr id="10" name="step number"/>
          <p:cNvSpPr/>
          <p:nvPr/>
        </p:nvSpPr>
        <p:spPr>
          <a:xfrm>
            <a:off x="457200" y="29260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7200" y="2926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005840" y="2926080"/>
            <a:ext cx="43891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Close and reopen VS Code and your terminal</a:t>
            </a:r>
            <a:endParaRPr lang="en-US" sz="1600" dirty="0"/>
          </a:p>
        </p:txBody>
      </p:sp>
      <p:sp>
        <p:nvSpPr>
          <p:cNvPr id="13" name="step number"/>
          <p:cNvSpPr/>
          <p:nvPr/>
        </p:nvSpPr>
        <p:spPr>
          <a:xfrm>
            <a:off x="457200" y="37033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57200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005840" y="3703320"/>
            <a:ext cx="43891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Check both versions</a:t>
            </a:r>
            <a:endParaRPr lang="en-US" sz="1600" dirty="0"/>
          </a:p>
        </p:txBody>
      </p:sp>
      <p:sp>
        <p:nvSpPr>
          <p:cNvPr id="16" name="code block"/>
          <p:cNvSpPr/>
          <p:nvPr/>
        </p:nvSpPr>
        <p:spPr>
          <a:xfrm>
            <a:off x="5669280" y="1463040"/>
            <a:ext cx="3017520" cy="914400"/>
          </a:xfrm>
          <a:prstGeom prst="roundRect">
            <a:avLst>
              <a:gd name="adj" fmla="val 8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852160" y="1572768"/>
            <a:ext cx="26517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--version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--version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5669280" y="260604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Expected: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v22.x.x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10.x.x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5: Install Python</a:t>
            </a:r>
            <a:endParaRPr lang="en-US" sz="30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python.org/downloads, click the yellow Download button</a:t>
            </a:r>
            <a:endParaRPr lang="en-US" sz="1600" dirty="0"/>
          </a:p>
        </p:txBody>
      </p:sp>
      <p:sp>
        <p:nvSpPr>
          <p:cNvPr id="5" name="mac card"/>
          <p:cNvSpPr/>
          <p:nvPr/>
        </p:nvSpPr>
        <p:spPr>
          <a:xfrm>
            <a:off x="457200" y="1737360"/>
            <a:ext cx="40233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chip"/>
          <p:cNvSpPr/>
          <p:nvPr/>
        </p:nvSpPr>
        <p:spPr>
          <a:xfrm>
            <a:off x="640080" y="1874520"/>
            <a:ext cx="868680" cy="274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40080" y="187452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Mac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228600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Open the .pkg, keep defaults.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Then open Terminal.</a:t>
            </a:r>
            <a:endParaRPr lang="en-US" sz="1400" dirty="0"/>
          </a:p>
        </p:txBody>
      </p:sp>
      <p:sp>
        <p:nvSpPr>
          <p:cNvPr id="9" name="code block"/>
          <p:cNvSpPr/>
          <p:nvPr/>
        </p:nvSpPr>
        <p:spPr>
          <a:xfrm>
            <a:off x="640080" y="3108960"/>
            <a:ext cx="3657600" cy="457200"/>
          </a:xfrm>
          <a:prstGeom prst="roundRect">
            <a:avLst>
              <a:gd name="adj" fmla="val 16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2960" y="3218688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python3 --version</a:t>
            </a:r>
            <a:endParaRPr lang="en-US" sz="1400" dirty="0"/>
          </a:p>
        </p:txBody>
      </p:sp>
      <p:sp>
        <p:nvSpPr>
          <p:cNvPr id="11" name="windows card"/>
          <p:cNvSpPr/>
          <p:nvPr/>
        </p:nvSpPr>
        <p:spPr>
          <a:xfrm>
            <a:off x="4663440" y="1737360"/>
            <a:ext cx="40233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chip"/>
          <p:cNvSpPr/>
          <p:nvPr/>
        </p:nvSpPr>
        <p:spPr>
          <a:xfrm>
            <a:off x="4846320" y="1874520"/>
            <a:ext cx="868680" cy="27432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846320" y="187452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Windows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4846320" y="228600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Tick "Add python.exe to PATH"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before Install Now. Then open Command Prompt.</a:t>
            </a:r>
            <a:endParaRPr lang="en-US" sz="1400" dirty="0"/>
          </a:p>
        </p:txBody>
      </p:sp>
      <p:sp>
        <p:nvSpPr>
          <p:cNvPr id="15" name="code block"/>
          <p:cNvSpPr/>
          <p:nvPr/>
        </p:nvSpPr>
        <p:spPr>
          <a:xfrm>
            <a:off x="4846320" y="3108960"/>
            <a:ext cx="3657600" cy="457200"/>
          </a:xfrm>
          <a:prstGeom prst="roundRect">
            <a:avLst>
              <a:gd name="adj" fmla="val 16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0" y="3218688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--version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57200" y="4023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Expected: Python 3.12.x (or newer)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6: Install VS Code</a:t>
            </a:r>
            <a:endParaRPr lang="en-US" sz="3000" dirty="0"/>
          </a:p>
        </p:txBody>
      </p:sp>
      <p:sp>
        <p:nvSpPr>
          <p:cNvPr id="3" name="step number"/>
          <p:cNvSpPr/>
          <p:nvPr/>
        </p:nvSpPr>
        <p:spPr>
          <a:xfrm>
            <a:off x="457200" y="13716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1371600"/>
            <a:ext cx="45720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Open code.visualstudio.com and download for your computer</a:t>
            </a:r>
            <a:endParaRPr lang="en-US" sz="1600" dirty="0"/>
          </a:p>
        </p:txBody>
      </p:sp>
      <p:sp>
        <p:nvSpPr>
          <p:cNvPr id="6" name="step number"/>
          <p:cNvSpPr/>
          <p:nvPr/>
        </p:nvSpPr>
        <p:spPr>
          <a:xfrm>
            <a:off x="457200" y="21488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2148840"/>
            <a:ext cx="45720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Mac: drag to Applications.  Windows: run installer, tick Add to PATH</a:t>
            </a:r>
            <a:endParaRPr lang="en-US" sz="1600" dirty="0"/>
          </a:p>
        </p:txBody>
      </p:sp>
      <p:sp>
        <p:nvSpPr>
          <p:cNvPr id="9" name="step number"/>
          <p:cNvSpPr/>
          <p:nvPr/>
        </p:nvSpPr>
        <p:spPr>
          <a:xfrm>
            <a:off x="457200" y="29260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926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2926080"/>
            <a:ext cx="45720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Open VS Code</a:t>
            </a:r>
            <a:endParaRPr lang="en-US" sz="1600" dirty="0"/>
          </a:p>
        </p:txBody>
      </p:sp>
      <p:sp>
        <p:nvSpPr>
          <p:cNvPr id="12" name="step number"/>
          <p:cNvSpPr/>
          <p:nvPr/>
        </p:nvSpPr>
        <p:spPr>
          <a:xfrm>
            <a:off x="457200" y="37033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3703320"/>
            <a:ext cx="45720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Extensions icon (left sidebar), search Python, install the one by Microsoft</a:t>
            </a:r>
            <a:endParaRPr lang="en-US" sz="1600" dirty="0"/>
          </a:p>
        </p:txBody>
      </p:sp>
      <p:sp>
        <p:nvSpPr>
          <p:cNvPr id="15" name="shortcut card"/>
          <p:cNvSpPr/>
          <p:nvPr/>
        </p:nvSpPr>
        <p:spPr>
          <a:xfrm>
            <a:off x="5943600" y="1371600"/>
            <a:ext cx="274320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126480" y="1554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Open Extensions</a:t>
            </a:r>
            <a:endParaRPr lang="en-US" sz="1600" dirty="0"/>
          </a:p>
        </p:txBody>
      </p:sp>
      <p:sp>
        <p:nvSpPr>
          <p:cNvPr id="17" name="chip"/>
          <p:cNvSpPr/>
          <p:nvPr/>
        </p:nvSpPr>
        <p:spPr>
          <a:xfrm>
            <a:off x="6126480" y="2057400"/>
            <a:ext cx="640080" cy="274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126480" y="20574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Mac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858000" y="20574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Cmd+Shift+X</a:t>
            </a:r>
            <a:endParaRPr lang="en-US" sz="1400" dirty="0"/>
          </a:p>
        </p:txBody>
      </p:sp>
      <p:sp>
        <p:nvSpPr>
          <p:cNvPr id="20" name="chip"/>
          <p:cNvSpPr/>
          <p:nvPr/>
        </p:nvSpPr>
        <p:spPr>
          <a:xfrm>
            <a:off x="6126480" y="2560320"/>
            <a:ext cx="822960" cy="27432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126480" y="25603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Windows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040880" y="25603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Ctrl+Shift+X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7: Run the setup check</a:t>
            </a:r>
            <a:endParaRPr lang="en-US" sz="3000" dirty="0"/>
          </a:p>
        </p:txBody>
      </p:sp>
      <p:sp>
        <p:nvSpPr>
          <p:cNvPr id="4" name="step number"/>
          <p:cNvSpPr/>
          <p:nvPr/>
        </p:nvSpPr>
        <p:spPr>
          <a:xfrm>
            <a:off x="457200" y="12801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45720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1005840" y="1280160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GitHub Desktop: Open in Visual Studio Code</a:t>
            </a:r>
            <a:endParaRPr lang="en-US" sz="1600" dirty="0"/>
          </a:p>
        </p:txBody>
      </p:sp>
      <p:sp>
        <p:nvSpPr>
          <p:cNvPr id="7" name="step number"/>
          <p:cNvSpPr/>
          <p:nvPr/>
        </p:nvSpPr>
        <p:spPr>
          <a:xfrm>
            <a:off x="457200" y="20116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57200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005840" y="2011680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Click Yes, I trust the authors</a:t>
            </a:r>
            <a:endParaRPr lang="en-US" sz="1600" dirty="0"/>
          </a:p>
        </p:txBody>
      </p:sp>
      <p:sp>
        <p:nvSpPr>
          <p:cNvPr id="10" name="step number"/>
          <p:cNvSpPr/>
          <p:nvPr/>
        </p:nvSpPr>
        <p:spPr>
          <a:xfrm>
            <a:off x="457200" y="27432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7200" y="2743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005840" y="2743200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Terminal, New Terminal</a:t>
            </a:r>
            <a:endParaRPr lang="en-US" sz="1600" dirty="0"/>
          </a:p>
        </p:txBody>
      </p:sp>
      <p:sp>
        <p:nvSpPr>
          <p:cNvPr id="13" name="step number"/>
          <p:cNvSpPr/>
          <p:nvPr/>
        </p:nvSpPr>
        <p:spPr>
          <a:xfrm>
            <a:off x="457200" y="34747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57200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005840" y="3474720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Run the command, then screenshot the output</a:t>
            </a:r>
            <a:endParaRPr lang="en-US" sz="1600" dirty="0"/>
          </a:p>
        </p:txBody>
      </p:sp>
      <p:sp>
        <p:nvSpPr>
          <p:cNvPr id="16" name="chip"/>
          <p:cNvSpPr/>
          <p:nvPr/>
        </p:nvSpPr>
        <p:spPr>
          <a:xfrm>
            <a:off x="457200" y="4343400"/>
            <a:ext cx="640080" cy="274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57200" y="43434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Mac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188720" y="43434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check_setup.py</a:t>
            </a:r>
            <a:endParaRPr lang="en-US" sz="1300" dirty="0"/>
          </a:p>
        </p:txBody>
      </p:sp>
      <p:sp>
        <p:nvSpPr>
          <p:cNvPr id="19" name="chip"/>
          <p:cNvSpPr/>
          <p:nvPr/>
        </p:nvSpPr>
        <p:spPr>
          <a:xfrm>
            <a:off x="457200" y="4709160"/>
            <a:ext cx="822960" cy="27432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57200" y="47091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Windows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371600" y="47091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check_setup.py</a:t>
            </a:r>
            <a:endParaRPr lang="en-US" sz="1300" dirty="0"/>
          </a:p>
        </p:txBody>
      </p:sp>
      <p:sp>
        <p:nvSpPr>
          <p:cNvPr id="22" name="code block"/>
          <p:cNvSpPr/>
          <p:nvPr/>
        </p:nvSpPr>
        <p:spPr>
          <a:xfrm>
            <a:off x="4846320" y="1280160"/>
            <a:ext cx="3840480" cy="3017520"/>
          </a:xfrm>
          <a:prstGeom prst="roundRect">
            <a:avLst>
              <a:gd name="adj" fmla="val 2424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029200" y="1389888"/>
            <a:ext cx="3474720" cy="2798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✅ Python 3.x.x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✅ Visual Studio Code installed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✅ VS Code Python extension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✅ GitHub Desktop installed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✅ git version 2.x.x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✅ Node.js v22.x.x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✅ npm 10.x.x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Setup complete!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4846320" y="443484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❌ must be fixed.  ⚠️ is optional.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FA Class">
  <a:themeElements>
    <a:clrScheme name="BFA Class">
      <a:dk1>
        <a:srgbClr val="0B1F2A"/>
      </a:dk1>
      <a:lt1>
        <a:srgbClr val="FFFFFF"/>
      </a:lt1>
      <a:dk2>
        <a:srgbClr val="16384A"/>
      </a:dk2>
      <a:lt2>
        <a:srgbClr val="EEF3F5"/>
      </a:lt2>
      <a:accent1>
        <a:srgbClr val="1FA67A"/>
      </a:accent1>
      <a:accent2>
        <a:srgbClr val="F2B134"/>
      </a:accent2>
      <a:accent3>
        <a:srgbClr val="3B82C4"/>
      </a:accent3>
      <a:accent4>
        <a:srgbClr val="E5534B"/>
      </a:accent4>
      <a:accent5>
        <a:srgbClr val="7C6FD6"/>
      </a:accent5>
      <a:accent6>
        <a:srgbClr val="6B7F8A"/>
      </a:accent6>
      <a:hlink>
        <a:srgbClr val="3B82C4"/>
      </a:hlink>
      <a:folHlink>
        <a:srgbClr val="7C6FD6"/>
      </a:folHlink>
    </a:clrScheme>
    <a:fontScheme name="BFA Class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Class 1: Set Up Your Computer</dc:title>
  <dc:subject>PptxGenJS Presentation</dc:subject>
  <dc:creator>PptxGenJS</dc:creator>
  <cp:lastModifiedBy>PptxGenJS</cp:lastModifiedBy>
  <cp:revision>1</cp:revision>
  <dcterms:created xsi:type="dcterms:W3CDTF">2026-10-10T15:10:53Z</dcterms:created>
  <dcterms:modified xsi:type="dcterms:W3CDTF">2026-10-10T15:10:53Z</dcterms:modified>
</cp:coreProperties>
</file>
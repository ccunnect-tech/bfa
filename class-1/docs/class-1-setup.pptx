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1695" cy="6858000"/>
  <p:notesSz cx="6858000" cy="12191695"/>
  <p:embeddedFontLst>
    <p:embeddedFont>
      <p:font typeface="Caladea Bold"/>
      <p:regular r:id="rId201314"/>
    </p:embeddedFont>
    <p:embeddedFont>
      <p:font typeface="Carlito"/>
      <p:regular r:id="rId201315"/>
    </p:embeddedFont>
    <p:embeddedFont>
      <p:font typeface="Carlito Bold"/>
      <p:regular r:id="rId201316"/>
    </p:embeddedFont>
    <p:embeddedFont>
      <p:font typeface="Roboto Mono"/>
      <p:regular r:id="rId201317"/>
    </p:embeddedFont>
    <p:embeddedFont>
      <p:font typeface="Roboto Mono Bold"/>
      <p:regular r:id="rId2013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everyone. BFA stands for Build Full Stack Application.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Raji. Details come from her profile headline.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yourself. Mention you have worked across full stack, SDE and AI roles, so you know what the industry expects.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what BFA is in your own words here. Hands-on, no prior experience needed, everything lives in one repository.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Today is Week 1: setup and the start of Python. Next lecture is Week 2: Python Fundamentals. The course ends with a capstone and demo 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everyone. Today we get every laptop ready, then write our first Python.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Roughly: 45-60 min setup, 10 min break/checkpoint, 45 min coding, 5 min homework.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Analogy: Git is the save-game system on your laptop. GitHub is the cloud where saves live. GitHub Desktop is the friendly buttons.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right. Original repo is ours. Fork is yours on GitHub. Clone puts it on the laptop.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save-game analogy. Repository = project folder with history. Commit = a save point. Push = upload saves. Pull = download others' saves.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Real-world: freelancers and teams both rely on this daily.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Main is the stable version. Nobody edits it directly. Each person works on a branch, then asks to merge with a pull request.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the picture. Main is the stable line. Priya and Sam each branch off, commit on their own line, then merge back. Nobody breaks main while working.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four ideas, then tell the story: Priya and Sam work at the same time without touching each other's files.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merge conflict happens when two people edit the same lines. Git asks a human to decide. It is normal, not a disaster.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Node runs JavaScript on your computer. We use it with React in later classes. npm comes with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Windows: the PATH checkbox is the number one cause of problems. Say it loudly.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Everyone must show a screenshot of the output. Walk the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Today is Week 1: setup and the start of Python. Next lecture is Week 2: Python Fundamentals. The course ends with a capstone and demo 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B1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1.png"/><Relationship Id="rId3" Type="http://schemas.openxmlformats.org/officeDocument/2006/relationships/image" Target="../media/image-13-1.png"/><Relationship Id="rId4" Type="http://schemas.openxmlformats.org/officeDocument/2006/relationships/image" Target="../media/image-13-1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16300" y="6375549"/>
            <a:ext cx="695208" cy="253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B7F8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</a:t>
            </a:r>
            <a:endParaRPr lang="en-US" sz="13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2436" y="539452"/>
            <a:ext cx="11385265" cy="589706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56475" y="2314377"/>
            <a:ext cx="10484778" cy="1950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800" b="1" spc="141" kern="100" dirty="0">
                <a:solidFill>
                  <a:srgbClr val="FFFFFF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Introduction</a:t>
            </a:r>
            <a:endParaRPr lang="en-US" sz="1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16300" y="6375549"/>
            <a:ext cx="695208" cy="253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B7F8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609585" y="593328"/>
            <a:ext cx="10972526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b="1" spc="44" kern="100" dirty="0">
                <a:solidFill>
                  <a:srgbClr val="0B1F2A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Your instructor: Raji RV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877766" y="1853109"/>
            <a:ext cx="3121046" cy="3121124"/>
          </a:xfrm>
          <a:prstGeom prst="ellipse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5296" y="1950641"/>
            <a:ext cx="2925987" cy="29260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9585" y="5120580"/>
            <a:ext cx="3657509" cy="487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200" b="1" spc="35" kern="100" dirty="0">
                <a:solidFill>
                  <a:srgbClr val="0B1F2A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Raji RV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304792" y="5716191"/>
            <a:ext cx="4267093" cy="405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150" b="1" dirty="0">
                <a:solidFill>
                  <a:srgbClr val="3B82C4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AI – FDE  ·  IBM</a:t>
            </a:r>
            <a:endParaRPr lang="en-US" sz="2150" dirty="0"/>
          </a:p>
        </p:txBody>
      </p:sp>
      <p:sp>
        <p:nvSpPr>
          <p:cNvPr id="8" name="Text 5"/>
          <p:cNvSpPr/>
          <p:nvPr/>
        </p:nvSpPr>
        <p:spPr>
          <a:xfrm>
            <a:off x="5120452" y="1818135"/>
            <a:ext cx="6461559" cy="406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50" b="1" dirty="0">
                <a:solidFill>
                  <a:srgbClr val="3B82C4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AI Forward Deployed Engineer</a:t>
            </a:r>
            <a:endParaRPr lang="en-US" sz="2650" dirty="0"/>
          </a:p>
        </p:txBody>
      </p:sp>
      <p:sp>
        <p:nvSpPr>
          <p:cNvPr id="9" name="Shape 6"/>
          <p:cNvSpPr/>
          <p:nvPr/>
        </p:nvSpPr>
        <p:spPr>
          <a:xfrm>
            <a:off x="5120452" y="2621260"/>
            <a:ext cx="6461559" cy="877788"/>
          </a:xfrm>
          <a:prstGeom prst="roundRect">
            <a:avLst>
              <a:gd name="adj" fmla="val 13334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303308" y="2804120"/>
            <a:ext cx="511956" cy="511969"/>
          </a:xfrm>
          <a:prstGeom prst="ellipse">
            <a:avLst/>
          </a:prstGeom>
          <a:solidFill>
            <a:srgbClr val="1FA67A"/>
          </a:solidFill>
          <a:ln w="12700">
            <a:solidFill>
              <a:srgbClr val="1FA67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998516" y="2893814"/>
            <a:ext cx="1121541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1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6156766" y="2883595"/>
            <a:ext cx="5851974" cy="405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50" b="1" dirty="0">
                <a:solidFill>
                  <a:srgbClr val="0B1F2A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Enterprise AI &amp; Agentic Systems</a:t>
            </a:r>
            <a:endParaRPr lang="en-US" sz="2150" dirty="0"/>
          </a:p>
        </p:txBody>
      </p:sp>
      <p:sp>
        <p:nvSpPr>
          <p:cNvPr id="13" name="Shape 10"/>
          <p:cNvSpPr/>
          <p:nvPr/>
        </p:nvSpPr>
        <p:spPr>
          <a:xfrm>
            <a:off x="5120452" y="3718520"/>
            <a:ext cx="6461559" cy="877788"/>
          </a:xfrm>
          <a:prstGeom prst="roundRect">
            <a:avLst>
              <a:gd name="adj" fmla="val 13334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303308" y="3901380"/>
            <a:ext cx="511956" cy="511969"/>
          </a:xfrm>
          <a:prstGeom prst="ellipse">
            <a:avLst/>
          </a:prstGeom>
          <a:solidFill>
            <a:srgbClr val="1FA67A"/>
          </a:solidFill>
          <a:ln w="12700">
            <a:solidFill>
              <a:srgbClr val="1FA67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998516" y="3991074"/>
            <a:ext cx="1121541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6156766" y="3980855"/>
            <a:ext cx="5851974" cy="405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50" b="1" dirty="0">
                <a:solidFill>
                  <a:srgbClr val="0B1F2A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From Prototype to Production</a:t>
            </a:r>
            <a:endParaRPr lang="en-US" sz="2150" dirty="0"/>
          </a:p>
        </p:txBody>
      </p:sp>
      <p:sp>
        <p:nvSpPr>
          <p:cNvPr id="17" name="Shape 14"/>
          <p:cNvSpPr/>
          <p:nvPr/>
        </p:nvSpPr>
        <p:spPr>
          <a:xfrm>
            <a:off x="5120452" y="4815780"/>
            <a:ext cx="6461559" cy="877788"/>
          </a:xfrm>
          <a:prstGeom prst="roundRect">
            <a:avLst>
              <a:gd name="adj" fmla="val 13334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303308" y="4998641"/>
            <a:ext cx="511956" cy="511969"/>
          </a:xfrm>
          <a:prstGeom prst="ellipse">
            <a:avLst/>
          </a:prstGeom>
          <a:solidFill>
            <a:srgbClr val="1FA67A"/>
          </a:solidFill>
          <a:ln w="12700">
            <a:solidFill>
              <a:srgbClr val="1FA67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998516" y="5088334"/>
            <a:ext cx="1121541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6156766" y="5078214"/>
            <a:ext cx="5851974" cy="405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50" b="1" dirty="0">
                <a:solidFill>
                  <a:srgbClr val="0B1F2A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Leading Women 2026</a:t>
            </a:r>
            <a:endParaRPr lang="en-US" sz="2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16300" y="6375549"/>
            <a:ext cx="695208" cy="253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B7F8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4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609585" y="593328"/>
            <a:ext cx="10972526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b="1" spc="44" kern="100" dirty="0">
                <a:solidFill>
                  <a:srgbClr val="0B1F2A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Your instructor: Faisal K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877766" y="1853109"/>
            <a:ext cx="3121046" cy="3121124"/>
          </a:xfrm>
          <a:prstGeom prst="ellipse">
            <a:avLst/>
          </a:prstGeom>
          <a:solidFill>
            <a:srgbClr val="1FA67A"/>
          </a:solidFill>
          <a:ln w="12700">
            <a:solidFill>
              <a:srgbClr val="1FA67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5296" y="1950641"/>
            <a:ext cx="2925987" cy="29260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9585" y="5120580"/>
            <a:ext cx="3657509" cy="487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200" b="1" spc="35" kern="100" dirty="0">
                <a:solidFill>
                  <a:srgbClr val="0B1F2A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Faisal K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304792" y="5716191"/>
            <a:ext cx="4267093" cy="405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150" b="1" dirty="0">
                <a:solidFill>
                  <a:srgbClr val="3B82C4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AI – FDE</a:t>
            </a:r>
            <a:endParaRPr lang="en-US" sz="2150" dirty="0"/>
          </a:p>
        </p:txBody>
      </p:sp>
      <p:sp>
        <p:nvSpPr>
          <p:cNvPr id="8" name="Text 5"/>
          <p:cNvSpPr/>
          <p:nvPr/>
        </p:nvSpPr>
        <p:spPr>
          <a:xfrm>
            <a:off x="5120452" y="1816349"/>
            <a:ext cx="6461559" cy="365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6B7F8A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Previously worked as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5120452" y="2438400"/>
            <a:ext cx="6461559" cy="1097260"/>
          </a:xfrm>
          <a:prstGeom prst="roundRect">
            <a:avLst>
              <a:gd name="adj" fmla="val 10667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364326" y="2730996"/>
            <a:ext cx="511956" cy="511969"/>
          </a:xfrm>
          <a:prstGeom prst="ellipse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59534" y="2820591"/>
            <a:ext cx="1121541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1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6217685" y="2521942"/>
            <a:ext cx="5851974" cy="432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50" b="1" dirty="0">
                <a:solidFill>
                  <a:srgbClr val="0B1F2A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Full-stack developer</a:t>
            </a:r>
            <a:endParaRPr lang="en-US" sz="2250" dirty="0"/>
          </a:p>
        </p:txBody>
      </p:sp>
      <p:sp>
        <p:nvSpPr>
          <p:cNvPr id="13" name="Text 10"/>
          <p:cNvSpPr/>
          <p:nvPr/>
        </p:nvSpPr>
        <p:spPr>
          <a:xfrm>
            <a:off x="6217685" y="3009602"/>
            <a:ext cx="5851974" cy="329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dirty="0">
                <a:solidFill>
                  <a:srgbClr val="6B7F8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Built web apps end to end, front end to back end.</a:t>
            </a:r>
            <a:endParaRPr lang="en-US" sz="1750" dirty="0"/>
          </a:p>
        </p:txBody>
      </p:sp>
      <p:sp>
        <p:nvSpPr>
          <p:cNvPr id="14" name="Shape 11"/>
          <p:cNvSpPr/>
          <p:nvPr/>
        </p:nvSpPr>
        <p:spPr>
          <a:xfrm>
            <a:off x="5120452" y="3718520"/>
            <a:ext cx="6461559" cy="1097260"/>
          </a:xfrm>
          <a:prstGeom prst="roundRect">
            <a:avLst>
              <a:gd name="adj" fmla="val 10667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364326" y="4011116"/>
            <a:ext cx="511956" cy="511969"/>
          </a:xfrm>
          <a:prstGeom prst="ellipse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059534" y="4100810"/>
            <a:ext cx="1121541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6217685" y="3802063"/>
            <a:ext cx="5851974" cy="432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50" b="1" dirty="0">
                <a:solidFill>
                  <a:srgbClr val="0B1F2A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Software engineer (SDE)</a:t>
            </a:r>
            <a:endParaRPr lang="en-US" sz="2250" dirty="0"/>
          </a:p>
        </p:txBody>
      </p:sp>
      <p:sp>
        <p:nvSpPr>
          <p:cNvPr id="18" name="Text 15"/>
          <p:cNvSpPr/>
          <p:nvPr/>
        </p:nvSpPr>
        <p:spPr>
          <a:xfrm>
            <a:off x="6217685" y="4289723"/>
            <a:ext cx="5851974" cy="329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dirty="0">
                <a:solidFill>
                  <a:srgbClr val="6B7F8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Shipped and maintained production software.</a:t>
            </a:r>
            <a:endParaRPr lang="en-US" sz="1750" dirty="0"/>
          </a:p>
        </p:txBody>
      </p:sp>
      <p:sp>
        <p:nvSpPr>
          <p:cNvPr id="19" name="Shape 16"/>
          <p:cNvSpPr/>
          <p:nvPr/>
        </p:nvSpPr>
        <p:spPr>
          <a:xfrm>
            <a:off x="5120452" y="4998641"/>
            <a:ext cx="6461559" cy="1097260"/>
          </a:xfrm>
          <a:prstGeom prst="roundRect">
            <a:avLst>
              <a:gd name="adj" fmla="val 10667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364326" y="5291237"/>
            <a:ext cx="511956" cy="511969"/>
          </a:xfrm>
          <a:prstGeom prst="ellipse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059534" y="5380930"/>
            <a:ext cx="1121541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6217685" y="5082282"/>
            <a:ext cx="5851974" cy="432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50" b="1" dirty="0">
                <a:solidFill>
                  <a:srgbClr val="0B1F2A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AI engineer</a:t>
            </a:r>
            <a:endParaRPr lang="en-US" sz="2250" dirty="0"/>
          </a:p>
        </p:txBody>
      </p:sp>
      <p:sp>
        <p:nvSpPr>
          <p:cNvPr id="23" name="Text 20"/>
          <p:cNvSpPr/>
          <p:nvPr/>
        </p:nvSpPr>
        <p:spPr>
          <a:xfrm>
            <a:off x="6217685" y="5569942"/>
            <a:ext cx="5851974" cy="329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dirty="0">
                <a:solidFill>
                  <a:srgbClr val="6B7F8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Built AI-powered features and systems.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16300" y="6375549"/>
            <a:ext cx="695208" cy="253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B7F8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5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609585" y="593328"/>
            <a:ext cx="10972526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b="1" spc="44" kern="100" dirty="0">
                <a:solidFill>
                  <a:srgbClr val="0B1F2A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About this course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09585" y="1706860"/>
            <a:ext cx="5120452" cy="4145260"/>
          </a:xfrm>
          <a:prstGeom prst="roundRect">
            <a:avLst>
              <a:gd name="adj" fmla="val 2823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377" y="1877269"/>
            <a:ext cx="4510868" cy="365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FA67A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What it is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377" y="2546350"/>
            <a:ext cx="4447369" cy="19303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457200" indent="-457200">
              <a:lnSpc>
                <a:spcPct val="100000"/>
              </a:lnSpc>
              <a:buSzPct val="100000"/>
              <a:buChar char="•"/>
            </a:pPr>
            <a:r>
              <a:rPr lang="en-US" sz="2000" dirty="0">
                <a:solidFill>
                  <a:srgbClr val="0B1F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hands-on, task-based course</a:t>
            </a:r>
            <a:endParaRPr lang="en-US" sz="2000" dirty="0"/>
          </a:p>
          <a:p>
            <a:pPr algn="l" marL="457200" indent="-457200">
              <a:lnSpc>
                <a:spcPct val="100000"/>
              </a:lnSpc>
              <a:buSzPct val="100000"/>
              <a:buChar char="•"/>
            </a:pPr>
            <a:r>
              <a:rPr lang="en-US" sz="2000" dirty="0">
                <a:solidFill>
                  <a:srgbClr val="0B1F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Learn by doing, not by watching slides</a:t>
            </a:r>
            <a:endParaRPr lang="en-US" sz="2000" dirty="0"/>
          </a:p>
          <a:p>
            <a:pPr algn="l" marL="457200" indent="-457200">
              <a:lnSpc>
                <a:spcPct val="100000"/>
              </a:lnSpc>
              <a:buSzPct val="100000"/>
              <a:buChar char="•"/>
            </a:pPr>
            <a:r>
              <a:rPr lang="en-US" sz="2000" dirty="0">
                <a:solidFill>
                  <a:srgbClr val="0B1F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 programming experience needed</a:t>
            </a:r>
            <a:endParaRPr lang="en-US" sz="2000" dirty="0"/>
          </a:p>
          <a:p>
            <a:pPr algn="l" marL="457200" indent="-457200">
              <a:lnSpc>
                <a:spcPct val="100000"/>
              </a:lnSpc>
              <a:buSzPct val="100000"/>
              <a:buChar char="•"/>
            </a:pPr>
            <a:r>
              <a:rPr lang="en-US" sz="2000" dirty="0">
                <a:solidFill>
                  <a:srgbClr val="0B1F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Includes working with modern tools, including AI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095848" y="1694409"/>
            <a:ext cx="5486263" cy="365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3B82C4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How the course goes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095848" y="2377380"/>
            <a:ext cx="5486263" cy="1036241"/>
          </a:xfrm>
          <a:prstGeom prst="roundRect">
            <a:avLst>
              <a:gd name="adj" fmla="val 11295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39622" y="2645569"/>
            <a:ext cx="511956" cy="511969"/>
          </a:xfrm>
          <a:prstGeom prst="ellipse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34829" y="2735263"/>
            <a:ext cx="1121541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132062" y="2899866"/>
            <a:ext cx="4876678" cy="329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dirty="0">
                <a:solidFill>
                  <a:srgbClr val="6B7F8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You code alongside the instructor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095551" y="2573337"/>
            <a:ext cx="4876678" cy="405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50" b="1" dirty="0">
                <a:solidFill>
                  <a:srgbClr val="0B1F2A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Live class</a:t>
            </a:r>
            <a:endParaRPr lang="en-US" sz="2150" dirty="0"/>
          </a:p>
        </p:txBody>
      </p:sp>
      <p:sp>
        <p:nvSpPr>
          <p:cNvPr id="13" name="Text 11"/>
          <p:cNvSpPr/>
          <p:nvPr/>
        </p:nvSpPr>
        <p:spPr>
          <a:xfrm>
            <a:off x="4651755" y="6130727"/>
            <a:ext cx="8357879" cy="405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50" b="1" dirty="0">
                <a:solidFill>
                  <a:srgbClr val="0B1F2A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Kick start your github portfolio to showcase!!</a:t>
            </a:r>
            <a:endParaRPr lang="en-US" sz="2150" dirty="0"/>
          </a:p>
        </p:txBody>
      </p:sp>
      <p:sp>
        <p:nvSpPr>
          <p:cNvPr id="14" name="Shape 12"/>
          <p:cNvSpPr/>
          <p:nvPr/>
        </p:nvSpPr>
        <p:spPr>
          <a:xfrm>
            <a:off x="6095848" y="3596580"/>
            <a:ext cx="5486263" cy="1036241"/>
          </a:xfrm>
          <a:prstGeom prst="roundRect">
            <a:avLst>
              <a:gd name="adj" fmla="val 11295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39622" y="3864769"/>
            <a:ext cx="511956" cy="511969"/>
          </a:xfrm>
          <a:prstGeom prst="ellipse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4829" y="3954463"/>
            <a:ext cx="1121541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132062" y="3680123"/>
            <a:ext cx="4876678" cy="405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50" b="1" dirty="0">
                <a:solidFill>
                  <a:srgbClr val="0B1F2A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After-class tasks</a:t>
            </a:r>
            <a:endParaRPr lang="en-US" sz="2150" dirty="0"/>
          </a:p>
        </p:txBody>
      </p:sp>
      <p:sp>
        <p:nvSpPr>
          <p:cNvPr id="18" name="Text 16"/>
          <p:cNvSpPr/>
          <p:nvPr/>
        </p:nvSpPr>
        <p:spPr>
          <a:xfrm>
            <a:off x="7132062" y="4119066"/>
            <a:ext cx="4876678" cy="329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dirty="0">
                <a:solidFill>
                  <a:srgbClr val="6B7F8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Finish more tasks on your own</a:t>
            </a:r>
            <a:endParaRPr lang="en-US" sz="1750" dirty="0"/>
          </a:p>
        </p:txBody>
      </p:sp>
      <p:sp>
        <p:nvSpPr>
          <p:cNvPr id="19" name="Shape 17"/>
          <p:cNvSpPr/>
          <p:nvPr/>
        </p:nvSpPr>
        <p:spPr>
          <a:xfrm>
            <a:off x="6095848" y="4815780"/>
            <a:ext cx="5486263" cy="1036241"/>
          </a:xfrm>
          <a:prstGeom prst="roundRect">
            <a:avLst>
              <a:gd name="adj" fmla="val 11295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39622" y="5083969"/>
            <a:ext cx="511956" cy="511969"/>
          </a:xfrm>
          <a:prstGeom prst="ellipse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34829" y="5173663"/>
            <a:ext cx="1121541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132062" y="4899323"/>
            <a:ext cx="4876678" cy="405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50" b="1" dirty="0">
                <a:solidFill>
                  <a:srgbClr val="0B1F2A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Submit</a:t>
            </a:r>
            <a:endParaRPr lang="en-US" sz="2150" dirty="0"/>
          </a:p>
        </p:txBody>
      </p:sp>
      <p:sp>
        <p:nvSpPr>
          <p:cNvPr id="23" name="Text 21"/>
          <p:cNvSpPr/>
          <p:nvPr/>
        </p:nvSpPr>
        <p:spPr>
          <a:xfrm>
            <a:off x="7132062" y="5338266"/>
            <a:ext cx="4876678" cy="329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dirty="0">
                <a:solidFill>
                  <a:srgbClr val="6B7F8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Push </a:t>
            </a:r>
            <a:pPr algn="l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4736BE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your</a:t>
            </a:r>
            <a:pPr algn="l" indent="0" marL="0">
              <a:lnSpc>
                <a:spcPct val="125000"/>
              </a:lnSpc>
              <a:buNone/>
            </a:pPr>
            <a:r>
              <a:rPr lang="en-US" sz="1750" dirty="0">
                <a:solidFill>
                  <a:srgbClr val="6B7F8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work to </a:t>
            </a:r>
            <a:pPr algn="l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4736BE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your</a:t>
            </a:r>
            <a:pPr algn="l" indent="0" marL="0">
              <a:lnSpc>
                <a:spcPct val="125000"/>
              </a:lnSpc>
              <a:buNone/>
            </a:pPr>
            <a:r>
              <a:rPr lang="en-US" sz="1750" dirty="0">
                <a:solidFill>
                  <a:srgbClr val="6B7F8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GitHub repo</a:t>
            </a:r>
            <a:endParaRPr lang="en-US" sz="1750" dirty="0"/>
          </a:p>
        </p:txBody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09538" y="6130528"/>
            <a:ext cx="418693" cy="41870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16300" y="6375549"/>
            <a:ext cx="695208" cy="253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B7F8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6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609585" y="593328"/>
            <a:ext cx="10972526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b="1" spc="44" kern="100" dirty="0">
                <a:solidFill>
                  <a:srgbClr val="0B1F2A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The 8-week roadmap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09585" y="1706860"/>
            <a:ext cx="5364326" cy="975320"/>
          </a:xfrm>
          <a:prstGeom prst="roundRect">
            <a:avLst>
              <a:gd name="adj" fmla="val 12000"/>
            </a:avLst>
          </a:prstGeom>
          <a:solidFill>
            <a:srgbClr val="1FA67A"/>
          </a:solidFill>
          <a:ln w="12700">
            <a:solidFill>
              <a:srgbClr val="1FA67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3359" y="1914128"/>
            <a:ext cx="560770" cy="5607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567" y="2018010"/>
            <a:ext cx="1170355" cy="405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150" b="1" dirty="0">
                <a:solidFill>
                  <a:srgbClr val="1FA67A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1</a:t>
            </a:r>
            <a:endParaRPr lang="en-US" sz="2150" dirty="0"/>
          </a:p>
        </p:txBody>
      </p:sp>
      <p:sp>
        <p:nvSpPr>
          <p:cNvPr id="7" name="Text 5"/>
          <p:cNvSpPr/>
          <p:nvPr/>
        </p:nvSpPr>
        <p:spPr>
          <a:xfrm>
            <a:off x="1645799" y="2007791"/>
            <a:ext cx="3535572" cy="432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Setup &amp; Tooling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4510868" y="2011660"/>
            <a:ext cx="1341007" cy="365720"/>
          </a:xfrm>
          <a:prstGeom prst="roundRect">
            <a:avLst>
              <a:gd name="adj" fmla="val 49999"/>
            </a:avLst>
          </a:prstGeom>
          <a:solidFill>
            <a:srgbClr val="0B1F2A"/>
          </a:solidFill>
          <a:ln w="12700">
            <a:solidFill>
              <a:srgbClr val="0B1F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6075" y="2058591"/>
            <a:ext cx="195059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You are here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09585" y="2865041"/>
            <a:ext cx="5364326" cy="97532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3359" y="3072309"/>
            <a:ext cx="560770" cy="560784"/>
          </a:xfrm>
          <a:prstGeom prst="ellipse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567" y="3176191"/>
            <a:ext cx="1170355" cy="405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15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2</a:t>
            </a:r>
            <a:endParaRPr lang="en-US" sz="2150" dirty="0"/>
          </a:p>
        </p:txBody>
      </p:sp>
      <p:sp>
        <p:nvSpPr>
          <p:cNvPr id="13" name="Text 11"/>
          <p:cNvSpPr/>
          <p:nvPr/>
        </p:nvSpPr>
        <p:spPr>
          <a:xfrm>
            <a:off x="1645799" y="3166070"/>
            <a:ext cx="4754741" cy="432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50" b="1" dirty="0">
                <a:solidFill>
                  <a:srgbClr val="0B1F2A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Python Fundamentals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609585" y="4023320"/>
            <a:ext cx="5364326" cy="97532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3359" y="4230588"/>
            <a:ext cx="560770" cy="560784"/>
          </a:xfrm>
          <a:prstGeom prst="ellipse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567" y="4334470"/>
            <a:ext cx="1170355" cy="405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15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3</a:t>
            </a:r>
            <a:endParaRPr lang="en-US" sz="2150" dirty="0"/>
          </a:p>
        </p:txBody>
      </p:sp>
      <p:sp>
        <p:nvSpPr>
          <p:cNvPr id="17" name="Text 15"/>
          <p:cNvSpPr/>
          <p:nvPr/>
        </p:nvSpPr>
        <p:spPr>
          <a:xfrm>
            <a:off x="1645799" y="4324350"/>
            <a:ext cx="4754741" cy="432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50" b="1" dirty="0">
                <a:solidFill>
                  <a:srgbClr val="0B1F2A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JavaScript Fundamentals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609585" y="5181600"/>
            <a:ext cx="5364326" cy="97532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3359" y="5388769"/>
            <a:ext cx="560770" cy="560784"/>
          </a:xfrm>
          <a:prstGeom prst="ellipse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567" y="5492750"/>
            <a:ext cx="1170355" cy="405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15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4</a:t>
            </a:r>
            <a:endParaRPr lang="en-US" sz="2150" dirty="0"/>
          </a:p>
        </p:txBody>
      </p:sp>
      <p:sp>
        <p:nvSpPr>
          <p:cNvPr id="21" name="Text 19"/>
          <p:cNvSpPr/>
          <p:nvPr/>
        </p:nvSpPr>
        <p:spPr>
          <a:xfrm>
            <a:off x="1645799" y="5482530"/>
            <a:ext cx="4754741" cy="432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50" b="1" dirty="0">
                <a:solidFill>
                  <a:srgbClr val="0B1F2A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Backend with FastAPI</a:t>
            </a:r>
            <a:endParaRPr lang="en-US" sz="2250" dirty="0"/>
          </a:p>
        </p:txBody>
      </p:sp>
      <p:sp>
        <p:nvSpPr>
          <p:cNvPr id="22" name="Shape 20"/>
          <p:cNvSpPr/>
          <p:nvPr/>
        </p:nvSpPr>
        <p:spPr>
          <a:xfrm>
            <a:off x="6217685" y="1706860"/>
            <a:ext cx="5364326" cy="97532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61559" y="1914128"/>
            <a:ext cx="560770" cy="560784"/>
          </a:xfrm>
          <a:prstGeom prst="ellipse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56766" y="2018010"/>
            <a:ext cx="1170355" cy="405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15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5</a:t>
            </a:r>
            <a:endParaRPr lang="en-US" sz="2150" dirty="0"/>
          </a:p>
        </p:txBody>
      </p:sp>
      <p:sp>
        <p:nvSpPr>
          <p:cNvPr id="25" name="Text 23"/>
          <p:cNvSpPr/>
          <p:nvPr/>
        </p:nvSpPr>
        <p:spPr>
          <a:xfrm>
            <a:off x="7253999" y="2007791"/>
            <a:ext cx="4754741" cy="432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50" b="1" dirty="0">
                <a:solidFill>
                  <a:srgbClr val="0B1F2A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HTML, CSS &amp; Vanilla JS</a:t>
            </a:r>
            <a:endParaRPr lang="en-US" sz="2250" dirty="0"/>
          </a:p>
        </p:txBody>
      </p:sp>
      <p:sp>
        <p:nvSpPr>
          <p:cNvPr id="26" name="Shape 24"/>
          <p:cNvSpPr/>
          <p:nvPr/>
        </p:nvSpPr>
        <p:spPr>
          <a:xfrm>
            <a:off x="6217685" y="2865041"/>
            <a:ext cx="5364326" cy="97532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61559" y="3072309"/>
            <a:ext cx="560770" cy="560784"/>
          </a:xfrm>
          <a:prstGeom prst="ellipse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56766" y="3176191"/>
            <a:ext cx="1170355" cy="405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15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6</a:t>
            </a:r>
            <a:endParaRPr lang="en-US" sz="2150" dirty="0"/>
          </a:p>
        </p:txBody>
      </p:sp>
      <p:sp>
        <p:nvSpPr>
          <p:cNvPr id="29" name="Text 27"/>
          <p:cNvSpPr/>
          <p:nvPr/>
        </p:nvSpPr>
        <p:spPr>
          <a:xfrm>
            <a:off x="7253999" y="3166070"/>
            <a:ext cx="4754741" cy="432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50" b="1" dirty="0">
                <a:solidFill>
                  <a:srgbClr val="0B1F2A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React, Rebuilt</a:t>
            </a:r>
            <a:endParaRPr lang="en-US" sz="2250" dirty="0"/>
          </a:p>
        </p:txBody>
      </p:sp>
      <p:sp>
        <p:nvSpPr>
          <p:cNvPr id="30" name="Shape 28"/>
          <p:cNvSpPr/>
          <p:nvPr/>
        </p:nvSpPr>
        <p:spPr>
          <a:xfrm>
            <a:off x="6217685" y="4023320"/>
            <a:ext cx="5364326" cy="97532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61559" y="4230588"/>
            <a:ext cx="560770" cy="560784"/>
          </a:xfrm>
          <a:prstGeom prst="ellipse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56766" y="4334470"/>
            <a:ext cx="1170355" cy="405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15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7</a:t>
            </a:r>
            <a:endParaRPr lang="en-US" sz="2150" dirty="0"/>
          </a:p>
        </p:txBody>
      </p:sp>
      <p:sp>
        <p:nvSpPr>
          <p:cNvPr id="33" name="Text 31"/>
          <p:cNvSpPr/>
          <p:nvPr/>
        </p:nvSpPr>
        <p:spPr>
          <a:xfrm>
            <a:off x="7253999" y="4324350"/>
            <a:ext cx="4754741" cy="432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50" b="1" dirty="0">
                <a:solidFill>
                  <a:srgbClr val="0B1F2A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Full-Stack Integration</a:t>
            </a:r>
            <a:endParaRPr lang="en-US" sz="2250" dirty="0"/>
          </a:p>
        </p:txBody>
      </p:sp>
      <p:sp>
        <p:nvSpPr>
          <p:cNvPr id="34" name="Shape 32"/>
          <p:cNvSpPr/>
          <p:nvPr/>
        </p:nvSpPr>
        <p:spPr>
          <a:xfrm>
            <a:off x="6217685" y="5181600"/>
            <a:ext cx="5364326" cy="97532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61559" y="5388769"/>
            <a:ext cx="560770" cy="560784"/>
          </a:xfrm>
          <a:prstGeom prst="ellipse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56766" y="5492750"/>
            <a:ext cx="1170355" cy="405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15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8</a:t>
            </a:r>
            <a:endParaRPr lang="en-US" sz="2150" dirty="0"/>
          </a:p>
        </p:txBody>
      </p:sp>
      <p:sp>
        <p:nvSpPr>
          <p:cNvPr id="37" name="Text 35"/>
          <p:cNvSpPr/>
          <p:nvPr/>
        </p:nvSpPr>
        <p:spPr>
          <a:xfrm>
            <a:off x="7253999" y="5482530"/>
            <a:ext cx="4754741" cy="432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50" b="1" dirty="0">
                <a:solidFill>
                  <a:srgbClr val="0B1F2A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Capstone &amp; Demo Day</a:t>
            </a:r>
            <a:endParaRPr lang="en-US" sz="2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3359" y="1207589"/>
            <a:ext cx="10363139" cy="324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50" b="1" spc="800" kern="100" dirty="0">
                <a:solidFill>
                  <a:srgbClr val="1FA67A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CLASS 1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853359" y="1828701"/>
            <a:ext cx="10484977" cy="16244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350" b="1" spc="59" kern="100" dirty="0">
                <a:solidFill>
                  <a:srgbClr val="FFFFFF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Set up your computer,</a:t>
            </a:r>
            <a:endParaRPr lang="en-US" sz="53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5350" b="1" spc="59" kern="100" dirty="0">
                <a:solidFill>
                  <a:srgbClr val="FFFFFF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then write your first code</a:t>
            </a:r>
            <a:endParaRPr lang="en-US" sz="5350" dirty="0"/>
          </a:p>
        </p:txBody>
      </p:sp>
      <p:sp>
        <p:nvSpPr>
          <p:cNvPr id="4" name="Text 2"/>
          <p:cNvSpPr/>
          <p:nvPr/>
        </p:nvSpPr>
        <p:spPr>
          <a:xfrm>
            <a:off x="853359" y="4376490"/>
            <a:ext cx="9753554" cy="365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F2B13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Git and GitHub  ·  Node.js  ·  Python  ·  VS Code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3359" y="5481828"/>
            <a:ext cx="10363139" cy="2849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50" dirty="0">
                <a:solidFill>
                  <a:srgbClr val="6B7F8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Hands-on course. No slides to memorize, just tasks to do.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11216300" y="6375549"/>
            <a:ext cx="695208" cy="253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B7F8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7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16300" y="6375549"/>
            <a:ext cx="695208" cy="253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B7F8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9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609585" y="593328"/>
            <a:ext cx="10972526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b="1" spc="44" kern="100" dirty="0">
                <a:solidFill>
                  <a:srgbClr val="0B1F2A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Today's plan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09585" y="1828800"/>
            <a:ext cx="2011610" cy="3535660"/>
          </a:xfrm>
          <a:prstGeom prst="roundRect">
            <a:avLst>
              <a:gd name="adj" fmla="val 5818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2440" y="2072580"/>
            <a:ext cx="511956" cy="511969"/>
          </a:xfrm>
          <a:prstGeom prst="ellipse">
            <a:avLst/>
          </a:prstGeom>
          <a:solidFill>
            <a:srgbClr val="1FA67A"/>
          </a:solidFill>
          <a:ln w="12700">
            <a:solidFill>
              <a:srgbClr val="1FA6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7648" y="2162274"/>
            <a:ext cx="1121541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92440" y="2790130"/>
            <a:ext cx="1649669" cy="8649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50" b="1" dirty="0">
                <a:solidFill>
                  <a:srgbClr val="0B1F2A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Git and GitHub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792440" y="3765550"/>
            <a:ext cx="1649669" cy="1068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50" dirty="0">
                <a:solidFill>
                  <a:srgbClr val="6B7F8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they are, account, fork, clone</a:t>
            </a:r>
            <a:endParaRPr lang="en-US" sz="1850" dirty="0"/>
          </a:p>
        </p:txBody>
      </p:sp>
      <p:sp>
        <p:nvSpPr>
          <p:cNvPr id="9" name="Shape 7"/>
          <p:cNvSpPr/>
          <p:nvPr/>
        </p:nvSpPr>
        <p:spPr>
          <a:xfrm>
            <a:off x="2804050" y="1828800"/>
            <a:ext cx="2011610" cy="3535660"/>
          </a:xfrm>
          <a:prstGeom prst="roundRect">
            <a:avLst>
              <a:gd name="adj" fmla="val 5818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86906" y="2072580"/>
            <a:ext cx="511956" cy="511969"/>
          </a:xfrm>
          <a:prstGeom prst="ellipse">
            <a:avLst/>
          </a:prstGeom>
          <a:solidFill>
            <a:srgbClr val="1FA67A"/>
          </a:solidFill>
          <a:ln w="12700">
            <a:solidFill>
              <a:srgbClr val="1FA6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82113" y="2162274"/>
            <a:ext cx="1121541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986906" y="2790130"/>
            <a:ext cx="2316402" cy="432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50" b="1" dirty="0">
                <a:solidFill>
                  <a:srgbClr val="0B1F2A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Install tools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2986906" y="3765550"/>
            <a:ext cx="1649669" cy="71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50" dirty="0">
                <a:solidFill>
                  <a:srgbClr val="6B7F8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Node.js, Python, VS Code</a:t>
            </a:r>
            <a:endParaRPr lang="en-US" sz="1850" dirty="0"/>
          </a:p>
        </p:txBody>
      </p:sp>
      <p:sp>
        <p:nvSpPr>
          <p:cNvPr id="14" name="Shape 12"/>
          <p:cNvSpPr/>
          <p:nvPr/>
        </p:nvSpPr>
        <p:spPr>
          <a:xfrm>
            <a:off x="4998516" y="1828800"/>
            <a:ext cx="2011610" cy="3535660"/>
          </a:xfrm>
          <a:prstGeom prst="roundRect">
            <a:avLst>
              <a:gd name="adj" fmla="val 5818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81470" y="2072580"/>
            <a:ext cx="511956" cy="511969"/>
          </a:xfrm>
          <a:prstGeom prst="ellipse">
            <a:avLst/>
          </a:prstGeom>
          <a:solidFill>
            <a:srgbClr val="1FA67A"/>
          </a:solidFill>
          <a:ln w="12700">
            <a:solidFill>
              <a:srgbClr val="1FA67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76678" y="2162274"/>
            <a:ext cx="1121541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181470" y="2790130"/>
            <a:ext cx="2316402" cy="432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50" b="1" dirty="0">
                <a:solidFill>
                  <a:srgbClr val="0B1F2A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Verify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5181470" y="3765550"/>
            <a:ext cx="1649669" cy="71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50" dirty="0">
                <a:solidFill>
                  <a:srgbClr val="6B7F8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Run check_setup.py</a:t>
            </a:r>
            <a:endParaRPr lang="en-US" sz="1850" dirty="0"/>
          </a:p>
        </p:txBody>
      </p:sp>
      <p:sp>
        <p:nvSpPr>
          <p:cNvPr id="19" name="Shape 17"/>
          <p:cNvSpPr/>
          <p:nvPr/>
        </p:nvSpPr>
        <p:spPr>
          <a:xfrm>
            <a:off x="7193080" y="1828800"/>
            <a:ext cx="2011610" cy="3535660"/>
          </a:xfrm>
          <a:prstGeom prst="roundRect">
            <a:avLst>
              <a:gd name="adj" fmla="val 5818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75936" y="2072580"/>
            <a:ext cx="511956" cy="511969"/>
          </a:xfrm>
          <a:prstGeom prst="ellipse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71143" y="2162274"/>
            <a:ext cx="1121541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375936" y="2790130"/>
            <a:ext cx="2316402" cy="432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50" b="1" dirty="0">
                <a:solidFill>
                  <a:srgbClr val="0B1F2A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Write Python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7375936" y="3765550"/>
            <a:ext cx="1649669" cy="71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50" dirty="0">
                <a:solidFill>
                  <a:srgbClr val="6B7F8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Live coding together</a:t>
            </a:r>
            <a:endParaRPr lang="en-US" sz="1850" dirty="0"/>
          </a:p>
        </p:txBody>
      </p:sp>
      <p:sp>
        <p:nvSpPr>
          <p:cNvPr id="24" name="Shape 22"/>
          <p:cNvSpPr/>
          <p:nvPr/>
        </p:nvSpPr>
        <p:spPr>
          <a:xfrm>
            <a:off x="9387546" y="1828800"/>
            <a:ext cx="2011610" cy="3535660"/>
          </a:xfrm>
          <a:prstGeom prst="roundRect">
            <a:avLst>
              <a:gd name="adj" fmla="val 5818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570401" y="2072580"/>
            <a:ext cx="511956" cy="511969"/>
          </a:xfrm>
          <a:prstGeom prst="ellipse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65609" y="2162274"/>
            <a:ext cx="1121541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9570401" y="2790130"/>
            <a:ext cx="2316402" cy="432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50" b="1" dirty="0">
                <a:solidFill>
                  <a:srgbClr val="0B1F2A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Homework</a:t>
            </a:r>
            <a:endParaRPr lang="en-US" sz="2250" dirty="0"/>
          </a:p>
        </p:txBody>
      </p:sp>
      <p:sp>
        <p:nvSpPr>
          <p:cNvPr id="28" name="Text 26"/>
          <p:cNvSpPr/>
          <p:nvPr/>
        </p:nvSpPr>
        <p:spPr>
          <a:xfrm>
            <a:off x="9570401" y="3765550"/>
            <a:ext cx="1649669" cy="71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50" dirty="0">
                <a:solidFill>
                  <a:srgbClr val="6B7F8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Practice problems</a:t>
            </a:r>
            <a:endParaRPr lang="en-US" sz="1850" dirty="0"/>
          </a:p>
        </p:txBody>
      </p:sp>
      <p:sp>
        <p:nvSpPr>
          <p:cNvPr id="29" name="Text 27"/>
          <p:cNvSpPr/>
          <p:nvPr/>
        </p:nvSpPr>
        <p:spPr>
          <a:xfrm>
            <a:off x="609585" y="5594350"/>
            <a:ext cx="11582110" cy="356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50" dirty="0">
                <a:solidFill>
                  <a:srgbClr val="6B7F8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Green = setup (before we code).  Blue = coding.</a:t>
            </a:r>
            <a:endParaRPr lang="en-US" sz="1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16300" y="6375549"/>
            <a:ext cx="780832" cy="253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B7F8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10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609585" y="593328"/>
            <a:ext cx="10972526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b="1" spc="44" kern="100" dirty="0">
                <a:solidFill>
                  <a:srgbClr val="0B1F2A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Git, GitHub and GitHub Desktop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09585" y="1828800"/>
            <a:ext cx="3535472" cy="3169741"/>
          </a:xfrm>
          <a:prstGeom prst="roundRect">
            <a:avLst>
              <a:gd name="adj" fmla="val 3692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278" y="2133501"/>
            <a:ext cx="609486" cy="609501"/>
          </a:xfrm>
          <a:prstGeom prst="ellipse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278" y="2933775"/>
            <a:ext cx="2925888" cy="4067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50" b="1" spc="29" kern="100" dirty="0">
                <a:solidFill>
                  <a:srgbClr val="0B1F2A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Git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914278" y="3524394"/>
            <a:ext cx="2868838" cy="854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50" dirty="0">
                <a:solidFill>
                  <a:srgbClr val="0B1F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tool on your laptop that records every version of your files. Like unlimited undo.</a:t>
            </a:r>
            <a:endParaRPr lang="en-US" sz="1850" dirty="0"/>
          </a:p>
        </p:txBody>
      </p:sp>
      <p:sp>
        <p:nvSpPr>
          <p:cNvPr id="8" name="Shape 6"/>
          <p:cNvSpPr/>
          <p:nvPr/>
        </p:nvSpPr>
        <p:spPr>
          <a:xfrm>
            <a:off x="4388931" y="1828800"/>
            <a:ext cx="3535472" cy="3169741"/>
          </a:xfrm>
          <a:prstGeom prst="roundRect">
            <a:avLst>
              <a:gd name="adj" fmla="val 3692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93624" y="2133501"/>
            <a:ext cx="609486" cy="609501"/>
          </a:xfrm>
          <a:prstGeom prst="ellipse">
            <a:avLst/>
          </a:prstGeom>
          <a:solidFill>
            <a:srgbClr val="0B1F2A"/>
          </a:solidFill>
          <a:ln w="12700">
            <a:solidFill>
              <a:srgbClr val="0B1F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93624" y="2933775"/>
            <a:ext cx="2925888" cy="4067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50" b="1" spc="29" kern="100" dirty="0">
                <a:solidFill>
                  <a:srgbClr val="0B1F2A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GitHub</a:t>
            </a:r>
            <a:endParaRPr lang="en-US" sz="2650" dirty="0"/>
          </a:p>
        </p:txBody>
      </p:sp>
      <p:sp>
        <p:nvSpPr>
          <p:cNvPr id="11" name="Text 9"/>
          <p:cNvSpPr/>
          <p:nvPr/>
        </p:nvSpPr>
        <p:spPr>
          <a:xfrm>
            <a:off x="4693624" y="3524394"/>
            <a:ext cx="2868838" cy="854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50" dirty="0">
                <a:solidFill>
                  <a:srgbClr val="0B1F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website that stores your Git projects online. Your backup, and how you share work.</a:t>
            </a:r>
            <a:endParaRPr lang="en-US" sz="1850" dirty="0"/>
          </a:p>
        </p:txBody>
      </p:sp>
      <p:sp>
        <p:nvSpPr>
          <p:cNvPr id="12" name="Shape 10"/>
          <p:cNvSpPr/>
          <p:nvPr/>
        </p:nvSpPr>
        <p:spPr>
          <a:xfrm>
            <a:off x="8168277" y="1828800"/>
            <a:ext cx="3535472" cy="3169741"/>
          </a:xfrm>
          <a:prstGeom prst="roundRect">
            <a:avLst>
              <a:gd name="adj" fmla="val 3692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72970" y="2133501"/>
            <a:ext cx="609486" cy="609501"/>
          </a:xfrm>
          <a:prstGeom prst="ellipse">
            <a:avLst/>
          </a:prstGeom>
          <a:solidFill>
            <a:srgbClr val="1FA67A"/>
          </a:solidFill>
          <a:ln w="12700">
            <a:solidFill>
              <a:srgbClr val="1FA6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72970" y="2933775"/>
            <a:ext cx="2925888" cy="4067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50" b="1" spc="29" kern="100" dirty="0">
                <a:solidFill>
                  <a:srgbClr val="0B1F2A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GitHub Desktop</a:t>
            </a:r>
            <a:endParaRPr lang="en-US" sz="2650" dirty="0"/>
          </a:p>
        </p:txBody>
      </p:sp>
      <p:sp>
        <p:nvSpPr>
          <p:cNvPr id="15" name="Text 13"/>
          <p:cNvSpPr/>
          <p:nvPr/>
        </p:nvSpPr>
        <p:spPr>
          <a:xfrm>
            <a:off x="8472970" y="3521571"/>
            <a:ext cx="2868838" cy="71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50" dirty="0">
                <a:solidFill>
                  <a:srgbClr val="0B1F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An app with buttons for Git. No commands to memorize.</a:t>
            </a:r>
            <a:endParaRPr lang="en-US" sz="1850" dirty="0"/>
          </a:p>
        </p:txBody>
      </p:sp>
      <p:sp>
        <p:nvSpPr>
          <p:cNvPr id="16" name="Text 14"/>
          <p:cNvSpPr/>
          <p:nvPr/>
        </p:nvSpPr>
        <p:spPr>
          <a:xfrm>
            <a:off x="609585" y="5350470"/>
            <a:ext cx="11582110" cy="405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50" i="1" dirty="0">
                <a:solidFill>
                  <a:srgbClr val="6B7F8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Every developer uses Git. It is how teams work on the same code without overwriting each other.</a:t>
            </a:r>
            <a:endParaRPr lang="en-US" sz="2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16300" y="6375549"/>
            <a:ext cx="780832" cy="253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B7F8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11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609585" y="593328"/>
            <a:ext cx="10972526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b="1" spc="44" kern="100" dirty="0">
                <a:solidFill>
                  <a:srgbClr val="0B1F2A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How your copy of the course works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09585" y="2072580"/>
            <a:ext cx="3169761" cy="2072580"/>
          </a:xfrm>
          <a:prstGeom prst="roundRect">
            <a:avLst>
              <a:gd name="adj" fmla="val 5647"/>
            </a:avLst>
          </a:prstGeom>
          <a:solidFill>
            <a:srgbClr val="0B1F2A"/>
          </a:solidFill>
          <a:ln w="12700">
            <a:solidFill>
              <a:srgbClr val="0B1F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9585" y="2377380"/>
            <a:ext cx="3169761" cy="446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950" b="1" spc="32" kern="100" dirty="0">
                <a:solidFill>
                  <a:srgbClr val="FFFFFF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Course repo</a:t>
            </a:r>
            <a:endParaRPr lang="en-US" sz="2950" dirty="0"/>
          </a:p>
        </p:txBody>
      </p:sp>
      <p:sp>
        <p:nvSpPr>
          <p:cNvPr id="6" name="Text 4"/>
          <p:cNvSpPr/>
          <p:nvPr/>
        </p:nvSpPr>
        <p:spPr>
          <a:xfrm>
            <a:off x="304792" y="3155950"/>
            <a:ext cx="3779346" cy="356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Original, on GitHub</a:t>
            </a:r>
            <a:endParaRPr lang="en-US" sz="1850" dirty="0"/>
          </a:p>
        </p:txBody>
      </p:sp>
      <p:sp>
        <p:nvSpPr>
          <p:cNvPr id="7" name="Shape 5"/>
          <p:cNvSpPr/>
          <p:nvPr/>
        </p:nvSpPr>
        <p:spPr>
          <a:xfrm>
            <a:off x="3901283" y="2865041"/>
            <a:ext cx="609585" cy="487660"/>
          </a:xfrm>
          <a:custGeom>
            <a:avLst/>
            <a:gdLst/>
            <a:ahLst/>
            <a:cxnLst/>
            <a:rect l="l" t="t" r="r" b="b"/>
            <a:pathLst>
              <a:path w="609585" h="487660">
                <a:moveTo>
                  <a:pt x="0" y="121915"/>
                </a:moveTo>
                <a:lnTo>
                  <a:pt x="365751" y="121915"/>
                </a:lnTo>
                <a:lnTo>
                  <a:pt x="365751" y="0"/>
                </a:lnTo>
                <a:lnTo>
                  <a:pt x="609585" y="243830"/>
                </a:lnTo>
                <a:lnTo>
                  <a:pt x="365751" y="487660"/>
                </a:lnTo>
                <a:lnTo>
                  <a:pt x="365751" y="365745"/>
                </a:lnTo>
                <a:lnTo>
                  <a:pt x="0" y="365745"/>
                </a:lnTo>
                <a:close/>
              </a:path>
            </a:pathLst>
          </a:custGeom>
          <a:solidFill>
            <a:srgbClr val="F2B134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0051" y="2844006"/>
            <a:ext cx="651851" cy="52992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474554" y="3460750"/>
            <a:ext cx="1462944" cy="356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850" b="1" dirty="0">
                <a:solidFill>
                  <a:srgbClr val="0B1F2A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Fork</a:t>
            </a:r>
            <a:endParaRPr lang="en-US" sz="1850" dirty="0"/>
          </a:p>
        </p:txBody>
      </p:sp>
      <p:sp>
        <p:nvSpPr>
          <p:cNvPr id="10" name="Shape 7"/>
          <p:cNvSpPr/>
          <p:nvPr/>
        </p:nvSpPr>
        <p:spPr>
          <a:xfrm>
            <a:off x="4632804" y="2072580"/>
            <a:ext cx="3169761" cy="2072580"/>
          </a:xfrm>
          <a:prstGeom prst="roundRect">
            <a:avLst>
              <a:gd name="adj" fmla="val 5647"/>
            </a:avLst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32804" y="2377380"/>
            <a:ext cx="3169761" cy="446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950" b="1" spc="32" kern="100" dirty="0">
                <a:solidFill>
                  <a:srgbClr val="FFFFFF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Your fork</a:t>
            </a:r>
            <a:endParaRPr lang="en-US" sz="2950" dirty="0"/>
          </a:p>
        </p:txBody>
      </p:sp>
      <p:sp>
        <p:nvSpPr>
          <p:cNvPr id="12" name="Text 9"/>
          <p:cNvSpPr/>
          <p:nvPr/>
        </p:nvSpPr>
        <p:spPr>
          <a:xfrm>
            <a:off x="4328012" y="3155950"/>
            <a:ext cx="3779346" cy="356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Your copy, on GitHub</a:t>
            </a:r>
            <a:endParaRPr lang="en-US" sz="1850" dirty="0"/>
          </a:p>
        </p:txBody>
      </p:sp>
      <p:sp>
        <p:nvSpPr>
          <p:cNvPr id="13" name="Shape 10"/>
          <p:cNvSpPr/>
          <p:nvPr/>
        </p:nvSpPr>
        <p:spPr>
          <a:xfrm>
            <a:off x="7924602" y="2865041"/>
            <a:ext cx="609585" cy="487660"/>
          </a:xfrm>
          <a:custGeom>
            <a:avLst/>
            <a:gdLst/>
            <a:ahLst/>
            <a:cxnLst/>
            <a:rect l="l" t="t" r="r" b="b"/>
            <a:pathLst>
              <a:path w="609585" h="487660">
                <a:moveTo>
                  <a:pt x="0" y="121915"/>
                </a:moveTo>
                <a:lnTo>
                  <a:pt x="365751" y="121915"/>
                </a:lnTo>
                <a:lnTo>
                  <a:pt x="365751" y="0"/>
                </a:lnTo>
                <a:lnTo>
                  <a:pt x="609585" y="243830"/>
                </a:lnTo>
                <a:lnTo>
                  <a:pt x="365751" y="487660"/>
                </a:lnTo>
                <a:lnTo>
                  <a:pt x="365751" y="365745"/>
                </a:lnTo>
                <a:lnTo>
                  <a:pt x="0" y="365745"/>
                </a:lnTo>
                <a:close/>
              </a:path>
            </a:pathLst>
          </a:custGeom>
          <a:solidFill>
            <a:srgbClr val="F2B134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3469" y="2844006"/>
            <a:ext cx="651851" cy="529927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497873" y="3460750"/>
            <a:ext cx="1462944" cy="356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850" b="1" dirty="0">
                <a:solidFill>
                  <a:srgbClr val="0B1F2A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Clone</a:t>
            </a:r>
            <a:endParaRPr lang="en-US" sz="1850" dirty="0"/>
          </a:p>
        </p:txBody>
      </p:sp>
      <p:sp>
        <p:nvSpPr>
          <p:cNvPr id="16" name="Shape 12"/>
          <p:cNvSpPr/>
          <p:nvPr/>
        </p:nvSpPr>
        <p:spPr>
          <a:xfrm>
            <a:off x="8656024" y="2072580"/>
            <a:ext cx="3169761" cy="2072580"/>
          </a:xfrm>
          <a:prstGeom prst="roundRect">
            <a:avLst>
              <a:gd name="adj" fmla="val 5647"/>
            </a:avLst>
          </a:prstGeom>
          <a:solidFill>
            <a:srgbClr val="1FA67A"/>
          </a:solidFill>
          <a:ln w="12700">
            <a:solidFill>
              <a:srgbClr val="1FA67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656024" y="2377380"/>
            <a:ext cx="3169761" cy="446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950" b="1" spc="32" kern="100" dirty="0">
                <a:solidFill>
                  <a:srgbClr val="FFFFFF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Your laptop</a:t>
            </a:r>
            <a:endParaRPr lang="en-US" sz="2950" dirty="0"/>
          </a:p>
        </p:txBody>
      </p:sp>
      <p:sp>
        <p:nvSpPr>
          <p:cNvPr id="18" name="Text 14"/>
          <p:cNvSpPr/>
          <p:nvPr/>
        </p:nvSpPr>
        <p:spPr>
          <a:xfrm>
            <a:off x="8351232" y="3155950"/>
            <a:ext cx="3779346" cy="356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Cloned folder in VS Code</a:t>
            </a:r>
            <a:endParaRPr lang="en-US" sz="1850" dirty="0"/>
          </a:p>
        </p:txBody>
      </p:sp>
      <p:sp>
        <p:nvSpPr>
          <p:cNvPr id="19" name="Text 15"/>
          <p:cNvSpPr/>
          <p:nvPr/>
        </p:nvSpPr>
        <p:spPr>
          <a:xfrm>
            <a:off x="609585" y="4740870"/>
            <a:ext cx="11582110" cy="405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50" dirty="0">
                <a:solidFill>
                  <a:srgbClr val="6B7F8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Your work goes into your copy. You can still pull updates from the original.</a:t>
            </a:r>
            <a:endParaRPr lang="en-US" sz="2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16300" y="6375549"/>
            <a:ext cx="780832" cy="253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B7F8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12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609585" y="593328"/>
            <a:ext cx="10972526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b="1" spc="44" kern="100" dirty="0">
                <a:solidFill>
                  <a:srgbClr val="0B1F2A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Git in four words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09585" y="1828800"/>
            <a:ext cx="2621095" cy="3291681"/>
          </a:xfrm>
          <a:prstGeom prst="roundRect">
            <a:avLst>
              <a:gd name="adj" fmla="val 4465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3359" y="2072580"/>
            <a:ext cx="548567" cy="548580"/>
          </a:xfrm>
          <a:prstGeom prst="ellipse">
            <a:avLst/>
          </a:prstGeom>
          <a:solidFill>
            <a:srgbClr val="0B1F2A"/>
          </a:solidFill>
          <a:ln w="12700">
            <a:solidFill>
              <a:srgbClr val="0B1F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3359" y="2812598"/>
            <a:ext cx="2194366" cy="365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spc="26" kern="100" dirty="0">
                <a:solidFill>
                  <a:srgbClr val="0B1F2A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Repository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53359" y="3402456"/>
            <a:ext cx="2137317" cy="8545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50" dirty="0">
                <a:solidFill>
                  <a:srgbClr val="0B1F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project folder plus its full history. Also called a repo.</a:t>
            </a:r>
            <a:endParaRPr lang="en-US" sz="1850" dirty="0"/>
          </a:p>
        </p:txBody>
      </p:sp>
      <p:sp>
        <p:nvSpPr>
          <p:cNvPr id="8" name="Shape 6"/>
          <p:cNvSpPr/>
          <p:nvPr/>
        </p:nvSpPr>
        <p:spPr>
          <a:xfrm>
            <a:off x="3413536" y="1828800"/>
            <a:ext cx="2621095" cy="3291681"/>
          </a:xfrm>
          <a:prstGeom prst="roundRect">
            <a:avLst>
              <a:gd name="adj" fmla="val 4465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310" y="2072580"/>
            <a:ext cx="548567" cy="548580"/>
          </a:xfrm>
          <a:prstGeom prst="ellipse">
            <a:avLst/>
          </a:prstGeom>
          <a:solidFill>
            <a:srgbClr val="1FA67A"/>
          </a:solidFill>
          <a:ln w="12700">
            <a:solidFill>
              <a:srgbClr val="1FA6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310" y="2812598"/>
            <a:ext cx="2194366" cy="365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spc="26" kern="100" dirty="0">
                <a:solidFill>
                  <a:srgbClr val="0B1F2A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Commit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310" y="3402456"/>
            <a:ext cx="2137317" cy="11394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50" dirty="0">
                <a:solidFill>
                  <a:srgbClr val="0B1F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save point with a short message, like "Add greeting function".</a:t>
            </a:r>
            <a:endParaRPr lang="en-US" sz="1850" dirty="0"/>
          </a:p>
        </p:txBody>
      </p:sp>
      <p:sp>
        <p:nvSpPr>
          <p:cNvPr id="12" name="Shape 10"/>
          <p:cNvSpPr/>
          <p:nvPr/>
        </p:nvSpPr>
        <p:spPr>
          <a:xfrm>
            <a:off x="6217685" y="1828800"/>
            <a:ext cx="2621095" cy="3291681"/>
          </a:xfrm>
          <a:prstGeom prst="roundRect">
            <a:avLst>
              <a:gd name="adj" fmla="val 4465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61459" y="2072580"/>
            <a:ext cx="548567" cy="548580"/>
          </a:xfrm>
          <a:prstGeom prst="ellipse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61459" y="2812598"/>
            <a:ext cx="2194366" cy="365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spc="26" kern="100" dirty="0">
                <a:solidFill>
                  <a:srgbClr val="0B1F2A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Push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461459" y="3402456"/>
            <a:ext cx="2137317" cy="8545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50" dirty="0">
                <a:solidFill>
                  <a:srgbClr val="0B1F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Upload your commits from your laptop to GitHub.</a:t>
            </a:r>
            <a:endParaRPr lang="en-US" sz="1850" dirty="0"/>
          </a:p>
        </p:txBody>
      </p:sp>
      <p:sp>
        <p:nvSpPr>
          <p:cNvPr id="16" name="Shape 14"/>
          <p:cNvSpPr/>
          <p:nvPr/>
        </p:nvSpPr>
        <p:spPr>
          <a:xfrm>
            <a:off x="9021735" y="1828800"/>
            <a:ext cx="2621095" cy="3291681"/>
          </a:xfrm>
          <a:prstGeom prst="roundRect">
            <a:avLst>
              <a:gd name="adj" fmla="val 4465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265510" y="2072580"/>
            <a:ext cx="548567" cy="548580"/>
          </a:xfrm>
          <a:prstGeom prst="ellipse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65510" y="2812598"/>
            <a:ext cx="2194366" cy="365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spc="26" kern="100" dirty="0">
                <a:solidFill>
                  <a:srgbClr val="0B1F2A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Pull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9265510" y="3402456"/>
            <a:ext cx="2137317" cy="8545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50" dirty="0">
                <a:solidFill>
                  <a:srgbClr val="0B1F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Download new commits from GitHub to your laptop.</a:t>
            </a:r>
            <a:endParaRPr lang="en-US" sz="1850" dirty="0"/>
          </a:p>
        </p:txBody>
      </p:sp>
      <p:sp>
        <p:nvSpPr>
          <p:cNvPr id="20" name="Text 18"/>
          <p:cNvSpPr/>
          <p:nvPr/>
        </p:nvSpPr>
        <p:spPr>
          <a:xfrm>
            <a:off x="609585" y="5473949"/>
            <a:ext cx="10972526" cy="365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FA67A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Your daily loop:  edit files  →  commit  →  push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16300" y="6375549"/>
            <a:ext cx="780832" cy="253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B7F8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13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609585" y="593328"/>
            <a:ext cx="10972526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b="1" spc="44" kern="100" dirty="0">
                <a:solidFill>
                  <a:srgbClr val="0B1F2A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Why developers use Git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09585" y="1828800"/>
            <a:ext cx="5364326" cy="1828800"/>
          </a:xfrm>
          <a:prstGeom prst="roundRect">
            <a:avLst>
              <a:gd name="adj" fmla="val 6400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377" y="2133600"/>
            <a:ext cx="511956" cy="511969"/>
          </a:xfrm>
          <a:prstGeom prst="ellipse">
            <a:avLst/>
          </a:prstGeom>
          <a:solidFill>
            <a:srgbClr val="1FA67A"/>
          </a:solidFill>
          <a:ln w="12700">
            <a:solidFill>
              <a:srgbClr val="1FA6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9585" y="2223195"/>
            <a:ext cx="1121541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706817" y="2060129"/>
            <a:ext cx="4023220" cy="365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B1F2A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Undo anything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706817" y="2607270"/>
            <a:ext cx="3966071" cy="71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50" dirty="0">
                <a:solidFill>
                  <a:srgbClr val="6B7F8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Every commit is a snapshot. Go back to any earlier version.</a:t>
            </a:r>
            <a:endParaRPr lang="en-US" sz="1850" dirty="0"/>
          </a:p>
        </p:txBody>
      </p:sp>
      <p:sp>
        <p:nvSpPr>
          <p:cNvPr id="9" name="Shape 7"/>
          <p:cNvSpPr/>
          <p:nvPr/>
        </p:nvSpPr>
        <p:spPr>
          <a:xfrm>
            <a:off x="6217685" y="1828800"/>
            <a:ext cx="5364326" cy="1828800"/>
          </a:xfrm>
          <a:prstGeom prst="roundRect">
            <a:avLst>
              <a:gd name="adj" fmla="val 6400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22477" y="2133600"/>
            <a:ext cx="511956" cy="511969"/>
          </a:xfrm>
          <a:prstGeom prst="ellipse">
            <a:avLst/>
          </a:prstGeom>
          <a:solidFill>
            <a:srgbClr val="1FA67A"/>
          </a:solidFill>
          <a:ln w="12700">
            <a:solidFill>
              <a:srgbClr val="1FA6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685" y="2223195"/>
            <a:ext cx="1121541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315017" y="2060129"/>
            <a:ext cx="4023220" cy="365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B1F2A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Nothing gets lost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7315017" y="2607270"/>
            <a:ext cx="3966071" cy="71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50" dirty="0">
                <a:solidFill>
                  <a:srgbClr val="6B7F8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Your code lives on GitHub too, not just on one laptop.</a:t>
            </a:r>
            <a:endParaRPr lang="en-US" sz="1850" dirty="0"/>
          </a:p>
        </p:txBody>
      </p:sp>
      <p:sp>
        <p:nvSpPr>
          <p:cNvPr id="14" name="Shape 12"/>
          <p:cNvSpPr/>
          <p:nvPr/>
        </p:nvSpPr>
        <p:spPr>
          <a:xfrm>
            <a:off x="609585" y="3901380"/>
            <a:ext cx="5364326" cy="1828800"/>
          </a:xfrm>
          <a:prstGeom prst="roundRect">
            <a:avLst>
              <a:gd name="adj" fmla="val 6400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377" y="4206180"/>
            <a:ext cx="511956" cy="511969"/>
          </a:xfrm>
          <a:prstGeom prst="ellipse">
            <a:avLst/>
          </a:prstGeom>
          <a:solidFill>
            <a:srgbClr val="1FA67A"/>
          </a:solidFill>
          <a:ln w="12700">
            <a:solidFill>
              <a:srgbClr val="1FA67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9585" y="4295874"/>
            <a:ext cx="1121541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706817" y="4132809"/>
            <a:ext cx="4023220" cy="365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B1F2A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Work together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706817" y="4679950"/>
            <a:ext cx="3966071" cy="71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50" dirty="0">
                <a:solidFill>
                  <a:srgbClr val="6B7F8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Many people change the same project without overwriting each other.</a:t>
            </a:r>
            <a:endParaRPr lang="en-US" sz="1850" dirty="0"/>
          </a:p>
        </p:txBody>
      </p:sp>
      <p:sp>
        <p:nvSpPr>
          <p:cNvPr id="19" name="Shape 17"/>
          <p:cNvSpPr/>
          <p:nvPr/>
        </p:nvSpPr>
        <p:spPr>
          <a:xfrm>
            <a:off x="6217685" y="3901380"/>
            <a:ext cx="5364326" cy="1828800"/>
          </a:xfrm>
          <a:prstGeom prst="roundRect">
            <a:avLst>
              <a:gd name="adj" fmla="val 6400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22477" y="4206180"/>
            <a:ext cx="511956" cy="511969"/>
          </a:xfrm>
          <a:prstGeom prst="ellipse">
            <a:avLst/>
          </a:prstGeom>
          <a:solidFill>
            <a:srgbClr val="1FA67A"/>
          </a:solidFill>
          <a:ln w="12700">
            <a:solidFill>
              <a:srgbClr val="1FA67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685" y="4295874"/>
            <a:ext cx="1121541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315017" y="4132809"/>
            <a:ext cx="4023220" cy="365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B1F2A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Show your work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7315017" y="4679950"/>
            <a:ext cx="3966071" cy="71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50" dirty="0">
                <a:solidFill>
                  <a:srgbClr val="6B7F8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Your GitHub profile becomes your portfolio for clients and employers.</a:t>
            </a:r>
            <a:endParaRPr lang="en-US" sz="1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16300" y="6375549"/>
            <a:ext cx="780832" cy="253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B7F8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14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609585" y="593328"/>
            <a:ext cx="10972526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b="1" spc="44" kern="100" dirty="0">
                <a:solidFill>
                  <a:srgbClr val="0B1F2A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How teams work on GitHub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09585" y="1828800"/>
            <a:ext cx="1950592" cy="2682180"/>
          </a:xfrm>
          <a:prstGeom prst="roundRect">
            <a:avLst>
              <a:gd name="adj" fmla="val 6000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2440" y="2011660"/>
            <a:ext cx="511956" cy="511969"/>
          </a:xfrm>
          <a:prstGeom prst="ellipse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7648" y="2101255"/>
            <a:ext cx="1121541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92440" y="2729210"/>
            <a:ext cx="2255384" cy="405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50" b="1" dirty="0">
                <a:solidFill>
                  <a:srgbClr val="0B1F2A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Branch</a:t>
            </a:r>
            <a:endParaRPr lang="en-US" sz="2150" dirty="0"/>
          </a:p>
        </p:txBody>
      </p:sp>
      <p:sp>
        <p:nvSpPr>
          <p:cNvPr id="8" name="Text 6"/>
          <p:cNvSpPr/>
          <p:nvPr/>
        </p:nvSpPr>
        <p:spPr>
          <a:xfrm>
            <a:off x="792440" y="3399730"/>
            <a:ext cx="1588651" cy="988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dirty="0">
                <a:solidFill>
                  <a:srgbClr val="6B7F8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Your own safe copy of the project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2596787" y="2986980"/>
            <a:ext cx="231571" cy="365720"/>
          </a:xfrm>
          <a:custGeom>
            <a:avLst/>
            <a:gdLst/>
            <a:ahLst/>
            <a:cxnLst/>
            <a:rect l="l" t="t" r="r" b="b"/>
            <a:pathLst>
              <a:path w="231571" h="365720">
                <a:moveTo>
                  <a:pt x="0" y="91430"/>
                </a:moveTo>
                <a:lnTo>
                  <a:pt x="115785" y="91430"/>
                </a:lnTo>
                <a:lnTo>
                  <a:pt x="115785" y="0"/>
                </a:lnTo>
                <a:lnTo>
                  <a:pt x="231571" y="182860"/>
                </a:lnTo>
                <a:lnTo>
                  <a:pt x="115785" y="365720"/>
                </a:lnTo>
                <a:lnTo>
                  <a:pt x="115785" y="274290"/>
                </a:lnTo>
                <a:lnTo>
                  <a:pt x="0" y="274290"/>
                </a:lnTo>
                <a:close/>
              </a:path>
            </a:pathLst>
          </a:custGeom>
          <a:solidFill>
            <a:srgbClr val="F2B134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75654" y="2965946"/>
            <a:ext cx="273837" cy="40798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864969" y="1828800"/>
            <a:ext cx="1950592" cy="2682180"/>
          </a:xfrm>
          <a:prstGeom prst="roundRect">
            <a:avLst>
              <a:gd name="adj" fmla="val 6000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047924" y="2011660"/>
            <a:ext cx="511956" cy="511969"/>
          </a:xfrm>
          <a:prstGeom prst="ellipse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743131" y="2101255"/>
            <a:ext cx="1121541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3047924" y="2729210"/>
            <a:ext cx="2255384" cy="405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50" b="1" dirty="0">
                <a:solidFill>
                  <a:srgbClr val="0B1F2A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Commit</a:t>
            </a:r>
            <a:endParaRPr lang="en-US" sz="2150" dirty="0"/>
          </a:p>
        </p:txBody>
      </p:sp>
      <p:sp>
        <p:nvSpPr>
          <p:cNvPr id="15" name="Text 12"/>
          <p:cNvSpPr/>
          <p:nvPr/>
        </p:nvSpPr>
        <p:spPr>
          <a:xfrm>
            <a:off x="3047924" y="3399730"/>
            <a:ext cx="1588651" cy="988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dirty="0">
                <a:solidFill>
                  <a:srgbClr val="6B7F8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Save your changes on the branch</a:t>
            </a:r>
            <a:endParaRPr lang="en-US" sz="1750" dirty="0"/>
          </a:p>
        </p:txBody>
      </p:sp>
      <p:sp>
        <p:nvSpPr>
          <p:cNvPr id="16" name="Shape 13"/>
          <p:cNvSpPr/>
          <p:nvPr/>
        </p:nvSpPr>
        <p:spPr>
          <a:xfrm>
            <a:off x="4852271" y="2986980"/>
            <a:ext cx="231571" cy="365720"/>
          </a:xfrm>
          <a:custGeom>
            <a:avLst/>
            <a:gdLst/>
            <a:ahLst/>
            <a:cxnLst/>
            <a:rect l="l" t="t" r="r" b="b"/>
            <a:pathLst>
              <a:path w="231571" h="365720">
                <a:moveTo>
                  <a:pt x="0" y="91430"/>
                </a:moveTo>
                <a:lnTo>
                  <a:pt x="115785" y="91430"/>
                </a:lnTo>
                <a:lnTo>
                  <a:pt x="115785" y="0"/>
                </a:lnTo>
                <a:lnTo>
                  <a:pt x="231571" y="182860"/>
                </a:lnTo>
                <a:lnTo>
                  <a:pt x="115785" y="365720"/>
                </a:lnTo>
                <a:lnTo>
                  <a:pt x="115785" y="274290"/>
                </a:lnTo>
                <a:lnTo>
                  <a:pt x="0" y="274290"/>
                </a:lnTo>
                <a:close/>
              </a:path>
            </a:pathLst>
          </a:custGeom>
          <a:solidFill>
            <a:srgbClr val="F2B134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1138" y="2965946"/>
            <a:ext cx="273837" cy="407988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5120452" y="1828800"/>
            <a:ext cx="1950592" cy="2682180"/>
          </a:xfrm>
          <a:prstGeom prst="roundRect">
            <a:avLst>
              <a:gd name="adj" fmla="val 6000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303308" y="2011660"/>
            <a:ext cx="511956" cy="511969"/>
          </a:xfrm>
          <a:prstGeom prst="ellipse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998516" y="2101255"/>
            <a:ext cx="1121541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7"/>
          <p:cNvSpPr/>
          <p:nvPr/>
        </p:nvSpPr>
        <p:spPr>
          <a:xfrm>
            <a:off x="5303308" y="2729210"/>
            <a:ext cx="2255384" cy="405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50" b="1" dirty="0">
                <a:solidFill>
                  <a:srgbClr val="0B1F2A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Pull request</a:t>
            </a:r>
            <a:endParaRPr lang="en-US" sz="2150" dirty="0"/>
          </a:p>
        </p:txBody>
      </p:sp>
      <p:sp>
        <p:nvSpPr>
          <p:cNvPr id="22" name="Text 18"/>
          <p:cNvSpPr/>
          <p:nvPr/>
        </p:nvSpPr>
        <p:spPr>
          <a:xfrm>
            <a:off x="5303308" y="3399730"/>
            <a:ext cx="1588651" cy="6590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dirty="0">
                <a:solidFill>
                  <a:srgbClr val="6B7F8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Ask the team to add your work</a:t>
            </a:r>
            <a:endParaRPr lang="en-US" sz="1750" dirty="0"/>
          </a:p>
        </p:txBody>
      </p:sp>
      <p:sp>
        <p:nvSpPr>
          <p:cNvPr id="23" name="Shape 19"/>
          <p:cNvSpPr/>
          <p:nvPr/>
        </p:nvSpPr>
        <p:spPr>
          <a:xfrm>
            <a:off x="7107754" y="2986980"/>
            <a:ext cx="231571" cy="365720"/>
          </a:xfrm>
          <a:custGeom>
            <a:avLst/>
            <a:gdLst/>
            <a:ahLst/>
            <a:cxnLst/>
            <a:rect l="l" t="t" r="r" b="b"/>
            <a:pathLst>
              <a:path w="231571" h="365720">
                <a:moveTo>
                  <a:pt x="0" y="91430"/>
                </a:moveTo>
                <a:lnTo>
                  <a:pt x="115785" y="91430"/>
                </a:lnTo>
                <a:lnTo>
                  <a:pt x="115785" y="0"/>
                </a:lnTo>
                <a:lnTo>
                  <a:pt x="231571" y="182860"/>
                </a:lnTo>
                <a:lnTo>
                  <a:pt x="115785" y="365720"/>
                </a:lnTo>
                <a:lnTo>
                  <a:pt x="115785" y="274290"/>
                </a:lnTo>
                <a:lnTo>
                  <a:pt x="0" y="274290"/>
                </a:lnTo>
                <a:close/>
              </a:path>
            </a:pathLst>
          </a:custGeom>
          <a:solidFill>
            <a:srgbClr val="F2B134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21" y="2965946"/>
            <a:ext cx="273837" cy="407988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7375936" y="1828800"/>
            <a:ext cx="1950592" cy="2682180"/>
          </a:xfrm>
          <a:prstGeom prst="roundRect">
            <a:avLst>
              <a:gd name="adj" fmla="val 6000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7558791" y="2011660"/>
            <a:ext cx="511956" cy="511969"/>
          </a:xfrm>
          <a:prstGeom prst="ellipse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7253999" y="2101255"/>
            <a:ext cx="1121541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4</a:t>
            </a:r>
            <a:endParaRPr lang="en-US" sz="2000" dirty="0"/>
          </a:p>
        </p:txBody>
      </p:sp>
      <p:sp>
        <p:nvSpPr>
          <p:cNvPr id="28" name="Text 23"/>
          <p:cNvSpPr/>
          <p:nvPr/>
        </p:nvSpPr>
        <p:spPr>
          <a:xfrm>
            <a:off x="7558791" y="2729210"/>
            <a:ext cx="2255384" cy="405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50" b="1" dirty="0">
                <a:solidFill>
                  <a:srgbClr val="0B1F2A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Review</a:t>
            </a:r>
            <a:endParaRPr lang="en-US" sz="2150" dirty="0"/>
          </a:p>
        </p:txBody>
      </p:sp>
      <p:sp>
        <p:nvSpPr>
          <p:cNvPr id="29" name="Text 24"/>
          <p:cNvSpPr/>
          <p:nvPr/>
        </p:nvSpPr>
        <p:spPr>
          <a:xfrm>
            <a:off x="7558791" y="3399730"/>
            <a:ext cx="1588651" cy="6590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dirty="0">
                <a:solidFill>
                  <a:srgbClr val="6B7F8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Teammates read and comment</a:t>
            </a:r>
            <a:endParaRPr lang="en-US" sz="1750" dirty="0"/>
          </a:p>
        </p:txBody>
      </p:sp>
      <p:sp>
        <p:nvSpPr>
          <p:cNvPr id="30" name="Shape 25"/>
          <p:cNvSpPr/>
          <p:nvPr/>
        </p:nvSpPr>
        <p:spPr>
          <a:xfrm>
            <a:off x="9363138" y="2986980"/>
            <a:ext cx="231571" cy="365720"/>
          </a:xfrm>
          <a:custGeom>
            <a:avLst/>
            <a:gdLst/>
            <a:ahLst/>
            <a:cxnLst/>
            <a:rect l="l" t="t" r="r" b="b"/>
            <a:pathLst>
              <a:path w="231571" h="365720">
                <a:moveTo>
                  <a:pt x="0" y="91430"/>
                </a:moveTo>
                <a:lnTo>
                  <a:pt x="115785" y="91430"/>
                </a:lnTo>
                <a:lnTo>
                  <a:pt x="115785" y="0"/>
                </a:lnTo>
                <a:lnTo>
                  <a:pt x="231571" y="182860"/>
                </a:lnTo>
                <a:lnTo>
                  <a:pt x="115785" y="365720"/>
                </a:lnTo>
                <a:lnTo>
                  <a:pt x="115785" y="274290"/>
                </a:lnTo>
                <a:lnTo>
                  <a:pt x="0" y="274290"/>
                </a:lnTo>
                <a:close/>
              </a:path>
            </a:pathLst>
          </a:custGeom>
          <a:solidFill>
            <a:srgbClr val="F2B134"/>
          </a:solidFill>
          <a:ln/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2105" y="2965946"/>
            <a:ext cx="273837" cy="407988"/>
          </a:xfrm>
          <a:prstGeom prst="rect">
            <a:avLst/>
          </a:prstGeom>
        </p:spPr>
      </p:pic>
      <p:sp>
        <p:nvSpPr>
          <p:cNvPr id="32" name="Shape 26"/>
          <p:cNvSpPr/>
          <p:nvPr/>
        </p:nvSpPr>
        <p:spPr>
          <a:xfrm>
            <a:off x="9631419" y="1828800"/>
            <a:ext cx="1950592" cy="2682180"/>
          </a:xfrm>
          <a:prstGeom prst="roundRect">
            <a:avLst>
              <a:gd name="adj" fmla="val 6000"/>
            </a:avLst>
          </a:prstGeom>
          <a:solidFill>
            <a:srgbClr val="1FA67A"/>
          </a:solidFill>
          <a:ln w="12700">
            <a:solidFill>
              <a:srgbClr val="1FA67A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9814275" y="2011660"/>
            <a:ext cx="511956" cy="511969"/>
          </a:xfrm>
          <a:prstGeom prst="ellipse">
            <a:avLst/>
          </a:prstGeom>
          <a:solidFill>
            <a:srgbClr val="0B1F2A"/>
          </a:solidFill>
          <a:ln w="12700">
            <a:solidFill>
              <a:srgbClr val="0B1F2A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9509482" y="2101255"/>
            <a:ext cx="1121541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5</a:t>
            </a:r>
            <a:endParaRPr lang="en-US" sz="2000" dirty="0"/>
          </a:p>
        </p:txBody>
      </p:sp>
      <p:sp>
        <p:nvSpPr>
          <p:cNvPr id="35" name="Text 29"/>
          <p:cNvSpPr/>
          <p:nvPr/>
        </p:nvSpPr>
        <p:spPr>
          <a:xfrm>
            <a:off x="9814275" y="2729210"/>
            <a:ext cx="2255384" cy="405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5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Merge</a:t>
            </a:r>
            <a:endParaRPr lang="en-US" sz="2150" dirty="0"/>
          </a:p>
        </p:txBody>
      </p:sp>
      <p:sp>
        <p:nvSpPr>
          <p:cNvPr id="36" name="Text 30"/>
          <p:cNvSpPr/>
          <p:nvPr/>
        </p:nvSpPr>
        <p:spPr>
          <a:xfrm>
            <a:off x="9814275" y="3399730"/>
            <a:ext cx="1588651" cy="6590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Your work joins main</a:t>
            </a:r>
            <a:endParaRPr lang="en-US" sz="1750" dirty="0"/>
          </a:p>
        </p:txBody>
      </p:sp>
      <p:sp>
        <p:nvSpPr>
          <p:cNvPr id="37" name="Text 31"/>
          <p:cNvSpPr/>
          <p:nvPr/>
        </p:nvSpPr>
        <p:spPr>
          <a:xfrm>
            <a:off x="609585" y="4984750"/>
            <a:ext cx="11582110" cy="405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50" b="1" dirty="0">
                <a:solidFill>
                  <a:srgbClr val="1FA67A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main = the stable, shared version.  branch = your own workspace.</a:t>
            </a:r>
            <a:endParaRPr lang="en-US" sz="2150" dirty="0"/>
          </a:p>
        </p:txBody>
      </p:sp>
      <p:sp>
        <p:nvSpPr>
          <p:cNvPr id="38" name="Text 32"/>
          <p:cNvSpPr/>
          <p:nvPr/>
        </p:nvSpPr>
        <p:spPr>
          <a:xfrm>
            <a:off x="609585" y="5533330"/>
            <a:ext cx="11582110" cy="356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50" dirty="0">
                <a:solidFill>
                  <a:srgbClr val="6B7F8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 this course you use a fork and push to it. Later we will practise branches and pull requests.</a:t>
            </a:r>
            <a:endParaRPr lang="en-US" sz="1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16300" y="6375549"/>
            <a:ext cx="780832" cy="253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B7F8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15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609585" y="593328"/>
            <a:ext cx="10972526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b="1" spc="44" kern="100" dirty="0">
                <a:solidFill>
                  <a:srgbClr val="0B1F2A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What branches look like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219170" y="2351980"/>
            <a:ext cx="10119067" cy="50800"/>
          </a:xfrm>
          <a:prstGeom prst="rect">
            <a:avLst/>
          </a:prstGeom>
          <a:solidFill>
            <a:srgbClr val="3B82C4"/>
          </a:solidFill>
          <a:ln/>
        </p:spPr>
      </p:sp>
      <p:sp>
        <p:nvSpPr>
          <p:cNvPr id="5" name="Shape 3"/>
          <p:cNvSpPr/>
          <p:nvPr/>
        </p:nvSpPr>
        <p:spPr>
          <a:xfrm>
            <a:off x="3291698" y="2377380"/>
            <a:ext cx="3657509" cy="1462980"/>
          </a:xfrm>
          <a:custGeom>
            <a:avLst/>
            <a:gdLst/>
            <a:ahLst/>
            <a:cxnLst/>
            <a:rect l="l" t="t" r="r" b="b"/>
            <a:pathLst>
              <a:path w="3657509" h="1462980">
                <a:moveTo>
                  <a:pt x="0" y="0"/>
                </a:moveTo>
                <a:lnTo>
                  <a:pt x="853297" y="1462980"/>
                </a:lnTo>
                <a:lnTo>
                  <a:pt x="2316300" y="1462980"/>
                </a:lnTo>
                <a:lnTo>
                  <a:pt x="3657509" y="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53599" y="2339280"/>
            <a:ext cx="3733707" cy="15391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706817" y="2377380"/>
            <a:ext cx="7924602" cy="2682180"/>
          </a:xfrm>
          <a:custGeom>
            <a:avLst/>
            <a:gdLst/>
            <a:ahLst/>
            <a:cxnLst/>
            <a:rect l="l" t="t" r="r" b="b"/>
            <a:pathLst>
              <a:path w="7924602" h="2682180">
                <a:moveTo>
                  <a:pt x="0" y="0"/>
                </a:moveTo>
                <a:lnTo>
                  <a:pt x="975518" y="2682180"/>
                </a:lnTo>
                <a:lnTo>
                  <a:pt x="6095604" y="2682180"/>
                </a:lnTo>
                <a:lnTo>
                  <a:pt x="7924602" y="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8718" y="2339280"/>
            <a:ext cx="8000800" cy="275838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536066" y="2206724"/>
            <a:ext cx="341304" cy="341313"/>
          </a:xfrm>
          <a:prstGeom prst="ellipse">
            <a:avLst/>
          </a:prstGeom>
          <a:solidFill>
            <a:srgbClr val="3B82C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3121046" y="2206724"/>
            <a:ext cx="341304" cy="341313"/>
          </a:xfrm>
          <a:prstGeom prst="ellipse">
            <a:avLst/>
          </a:prstGeom>
          <a:solidFill>
            <a:srgbClr val="3B82C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778555" y="2206724"/>
            <a:ext cx="341304" cy="341313"/>
          </a:xfrm>
          <a:prstGeom prst="ellipse">
            <a:avLst/>
          </a:prstGeom>
          <a:solidFill>
            <a:srgbClr val="0B1F2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9460668" y="2206724"/>
            <a:ext cx="341304" cy="341313"/>
          </a:xfrm>
          <a:prstGeom prst="ellipse">
            <a:avLst/>
          </a:prstGeom>
          <a:solidFill>
            <a:srgbClr val="0B1F2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974405" y="3669705"/>
            <a:ext cx="341304" cy="341313"/>
          </a:xfrm>
          <a:prstGeom prst="ellipse">
            <a:avLst/>
          </a:prstGeom>
          <a:solidFill>
            <a:srgbClr val="1FA67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705927" y="3669705"/>
            <a:ext cx="341304" cy="341313"/>
          </a:xfrm>
          <a:prstGeom prst="ellipse">
            <a:avLst/>
          </a:prstGeom>
          <a:solidFill>
            <a:srgbClr val="1FA67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437448" y="3669705"/>
            <a:ext cx="341304" cy="341313"/>
          </a:xfrm>
          <a:prstGeom prst="ellipse">
            <a:avLst/>
          </a:prstGeom>
          <a:solidFill>
            <a:srgbClr val="1FA67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2511461" y="4888905"/>
            <a:ext cx="341304" cy="341313"/>
          </a:xfrm>
          <a:prstGeom prst="ellipse">
            <a:avLst/>
          </a:prstGeom>
          <a:solidFill>
            <a:srgbClr val="F2B13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218279" y="4888905"/>
            <a:ext cx="341304" cy="341313"/>
          </a:xfrm>
          <a:prstGeom prst="ellipse">
            <a:avLst/>
          </a:prstGeom>
          <a:solidFill>
            <a:srgbClr val="F2B13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925096" y="4888905"/>
            <a:ext cx="341304" cy="341313"/>
          </a:xfrm>
          <a:prstGeom prst="ellipse">
            <a:avLst/>
          </a:prstGeom>
          <a:solidFill>
            <a:srgbClr val="F2B13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631914" y="4888905"/>
            <a:ext cx="341304" cy="341313"/>
          </a:xfrm>
          <a:prstGeom prst="ellipse">
            <a:avLst/>
          </a:prstGeom>
          <a:solidFill>
            <a:srgbClr val="F2B13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145156" y="4070350"/>
            <a:ext cx="4267093" cy="329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1FA67A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Priya's branch: login-page</a:t>
            </a:r>
            <a:endParaRPr lang="en-US" sz="1750" dirty="0"/>
          </a:p>
        </p:txBody>
      </p:sp>
      <p:sp>
        <p:nvSpPr>
          <p:cNvPr id="21" name="Text 17"/>
          <p:cNvSpPr/>
          <p:nvPr/>
        </p:nvSpPr>
        <p:spPr>
          <a:xfrm>
            <a:off x="609585" y="1584920"/>
            <a:ext cx="2438339" cy="405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50" b="1" dirty="0">
                <a:solidFill>
                  <a:srgbClr val="3B82C4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main</a:t>
            </a:r>
            <a:endParaRPr lang="en-US" sz="2150" dirty="0"/>
          </a:p>
        </p:txBody>
      </p:sp>
      <p:sp>
        <p:nvSpPr>
          <p:cNvPr id="22" name="Text 18"/>
          <p:cNvSpPr/>
          <p:nvPr/>
        </p:nvSpPr>
        <p:spPr>
          <a:xfrm>
            <a:off x="2682113" y="5289550"/>
            <a:ext cx="4876678" cy="329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F2B134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Sam's branch: greeting-feature</a:t>
            </a:r>
            <a:endParaRPr lang="en-US" sz="1750" dirty="0"/>
          </a:p>
        </p:txBody>
      </p:sp>
      <p:sp>
        <p:nvSpPr>
          <p:cNvPr id="23" name="Text 19"/>
          <p:cNvSpPr/>
          <p:nvPr/>
        </p:nvSpPr>
        <p:spPr>
          <a:xfrm>
            <a:off x="6156766" y="1692870"/>
            <a:ext cx="1706817" cy="329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0B1F2A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merge</a:t>
            </a:r>
            <a:endParaRPr lang="en-US" sz="1750" dirty="0"/>
          </a:p>
        </p:txBody>
      </p:sp>
      <p:sp>
        <p:nvSpPr>
          <p:cNvPr id="24" name="Text 20"/>
          <p:cNvSpPr/>
          <p:nvPr/>
        </p:nvSpPr>
        <p:spPr>
          <a:xfrm>
            <a:off x="8838979" y="1692870"/>
            <a:ext cx="1706817" cy="329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0B1F2A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merge</a:t>
            </a:r>
            <a:endParaRPr lang="en-US" sz="1750" dirty="0"/>
          </a:p>
        </p:txBody>
      </p:sp>
      <p:sp>
        <p:nvSpPr>
          <p:cNvPr id="25" name="Text 21"/>
          <p:cNvSpPr/>
          <p:nvPr/>
        </p:nvSpPr>
        <p:spPr>
          <a:xfrm>
            <a:off x="9387546" y="5716191"/>
            <a:ext cx="2194465" cy="329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750" dirty="0">
                <a:solidFill>
                  <a:srgbClr val="6B7F8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Time  →</a:t>
            </a:r>
            <a:endParaRPr lang="en-US" sz="1750" dirty="0"/>
          </a:p>
        </p:txBody>
      </p:sp>
      <p:sp>
        <p:nvSpPr>
          <p:cNvPr id="26" name="Text 22"/>
          <p:cNvSpPr/>
          <p:nvPr/>
        </p:nvSpPr>
        <p:spPr>
          <a:xfrm>
            <a:off x="609585" y="5899150"/>
            <a:ext cx="9753356" cy="356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50" dirty="0">
                <a:solidFill>
                  <a:srgbClr val="6B7F8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Each dot is a commit.  Each coloured line is a separate workspace.</a:t>
            </a:r>
            <a:endParaRPr lang="en-US" sz="1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16300" y="6375549"/>
            <a:ext cx="780832" cy="253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B7F8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16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609585" y="593328"/>
            <a:ext cx="10972526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b="1" spc="44" kern="100" dirty="0">
                <a:solidFill>
                  <a:srgbClr val="0B1F2A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How to read the branch picture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09585" y="1828800"/>
            <a:ext cx="5364326" cy="1828800"/>
          </a:xfrm>
          <a:prstGeom prst="roundRect">
            <a:avLst>
              <a:gd name="adj" fmla="val 6400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377" y="2133600"/>
            <a:ext cx="548567" cy="548580"/>
          </a:xfrm>
          <a:prstGeom prst="ellipse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706817" y="2060129"/>
            <a:ext cx="4023220" cy="365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B1F2A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main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706817" y="2607270"/>
            <a:ext cx="3966071" cy="71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50" dirty="0">
                <a:solidFill>
                  <a:srgbClr val="6B7F8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stable, shared version of the project. It should always work.</a:t>
            </a:r>
            <a:endParaRPr lang="en-US" sz="1850" dirty="0"/>
          </a:p>
        </p:txBody>
      </p:sp>
      <p:sp>
        <p:nvSpPr>
          <p:cNvPr id="8" name="Shape 6"/>
          <p:cNvSpPr/>
          <p:nvPr/>
        </p:nvSpPr>
        <p:spPr>
          <a:xfrm>
            <a:off x="6217685" y="1828800"/>
            <a:ext cx="5364326" cy="1828800"/>
          </a:xfrm>
          <a:prstGeom prst="roundRect">
            <a:avLst>
              <a:gd name="adj" fmla="val 6400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22477" y="2133600"/>
            <a:ext cx="548567" cy="548580"/>
          </a:xfrm>
          <a:prstGeom prst="ellipse">
            <a:avLst/>
          </a:prstGeom>
          <a:solidFill>
            <a:srgbClr val="1FA67A"/>
          </a:solidFill>
          <a:ln w="12700">
            <a:solidFill>
              <a:srgbClr val="1FA6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017" y="2060129"/>
            <a:ext cx="4023220" cy="365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B1F2A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Branch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315017" y="2607270"/>
            <a:ext cx="3966071" cy="71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50" dirty="0">
                <a:solidFill>
                  <a:srgbClr val="6B7F8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copy where you work freely. You cannot break main from here.</a:t>
            </a:r>
            <a:endParaRPr lang="en-US" sz="1850" dirty="0"/>
          </a:p>
        </p:txBody>
      </p:sp>
      <p:sp>
        <p:nvSpPr>
          <p:cNvPr id="12" name="Shape 10"/>
          <p:cNvSpPr/>
          <p:nvPr/>
        </p:nvSpPr>
        <p:spPr>
          <a:xfrm>
            <a:off x="609585" y="3901380"/>
            <a:ext cx="5364326" cy="1828800"/>
          </a:xfrm>
          <a:prstGeom prst="roundRect">
            <a:avLst>
              <a:gd name="adj" fmla="val 6400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377" y="4206180"/>
            <a:ext cx="548567" cy="548580"/>
          </a:xfrm>
          <a:prstGeom prst="ellipse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06817" y="4132809"/>
            <a:ext cx="4023220" cy="365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B1F2A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Commits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706817" y="4679950"/>
            <a:ext cx="3966071" cy="71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50" dirty="0">
                <a:solidFill>
                  <a:srgbClr val="6B7F8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Save points on your branch. Make small ones as you go.</a:t>
            </a:r>
            <a:endParaRPr lang="en-US" sz="1850" dirty="0"/>
          </a:p>
        </p:txBody>
      </p:sp>
      <p:sp>
        <p:nvSpPr>
          <p:cNvPr id="16" name="Shape 14"/>
          <p:cNvSpPr/>
          <p:nvPr/>
        </p:nvSpPr>
        <p:spPr>
          <a:xfrm>
            <a:off x="6217685" y="3901380"/>
            <a:ext cx="5364326" cy="1828800"/>
          </a:xfrm>
          <a:prstGeom prst="roundRect">
            <a:avLst>
              <a:gd name="adj" fmla="val 6400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22477" y="4206180"/>
            <a:ext cx="548567" cy="548580"/>
          </a:xfrm>
          <a:prstGeom prst="ellipse">
            <a:avLst/>
          </a:prstGeom>
          <a:solidFill>
            <a:srgbClr val="0B1F2A"/>
          </a:solidFill>
          <a:ln w="12700">
            <a:solidFill>
              <a:srgbClr val="0B1F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017" y="4132809"/>
            <a:ext cx="4023220" cy="365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B1F2A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Merge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7315017" y="4679950"/>
            <a:ext cx="3966071" cy="71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50" dirty="0">
                <a:solidFill>
                  <a:srgbClr val="6B7F8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When the work is reviewed and ready, the branch joins main.</a:t>
            </a:r>
            <a:endParaRPr lang="en-US" sz="1850" dirty="0"/>
          </a:p>
        </p:txBody>
      </p:sp>
      <p:sp>
        <p:nvSpPr>
          <p:cNvPr id="20" name="Text 18"/>
          <p:cNvSpPr/>
          <p:nvPr/>
        </p:nvSpPr>
        <p:spPr>
          <a:xfrm>
            <a:off x="609585" y="5974060"/>
            <a:ext cx="1158211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1FA67A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Priya and Sam work at the same time, and neither can break the other's work.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16300" y="6375549"/>
            <a:ext cx="780832" cy="253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B7F8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17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609585" y="593328"/>
            <a:ext cx="10972526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b="1" spc="44" kern="100" dirty="0">
                <a:solidFill>
                  <a:srgbClr val="0B1F2A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Good team habits (and merge conflicts)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09585" y="1706860"/>
            <a:ext cx="5364227" cy="4145161"/>
          </a:xfrm>
          <a:prstGeom prst="roundRect">
            <a:avLst>
              <a:gd name="adj" fmla="val 2824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278" y="1877272"/>
            <a:ext cx="4754642" cy="365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FA67A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Team habits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278" y="2546251"/>
            <a:ext cx="4691243" cy="193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457200" indent="-457200">
              <a:lnSpc>
                <a:spcPct val="100000"/>
              </a:lnSpc>
              <a:buSzPct val="100000"/>
              <a:buChar char="•"/>
            </a:pPr>
            <a:r>
              <a:rPr lang="en-US" sz="2000" dirty="0">
                <a:solidFill>
                  <a:srgbClr val="0B1F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Pull before you start working</a:t>
            </a:r>
            <a:endParaRPr lang="en-US" sz="2000" dirty="0"/>
          </a:p>
          <a:p>
            <a:pPr algn="l" marL="457200" indent="-457200">
              <a:lnSpc>
                <a:spcPct val="100000"/>
              </a:lnSpc>
              <a:buSzPct val="100000"/>
              <a:buChar char="•"/>
            </a:pPr>
            <a:r>
              <a:rPr lang="en-US" sz="2000" dirty="0">
                <a:solidFill>
                  <a:srgbClr val="0B1F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Make small, frequent commits</a:t>
            </a:r>
            <a:endParaRPr lang="en-US" sz="2000" dirty="0"/>
          </a:p>
          <a:p>
            <a:pPr algn="l" marL="457200" indent="-457200">
              <a:lnSpc>
                <a:spcPct val="100000"/>
              </a:lnSpc>
              <a:buSzPct val="100000"/>
              <a:buChar char="•"/>
            </a:pPr>
            <a:r>
              <a:rPr lang="en-US" sz="2000" dirty="0">
                <a:solidFill>
                  <a:srgbClr val="0B1F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Write clear commit messages</a:t>
            </a:r>
            <a:endParaRPr lang="en-US" sz="2000" dirty="0"/>
          </a:p>
          <a:p>
            <a:pPr algn="l" marL="457200" indent="-457200">
              <a:lnSpc>
                <a:spcPct val="100000"/>
              </a:lnSpc>
              <a:buSzPct val="100000"/>
              <a:buChar char="•"/>
            </a:pPr>
            <a:r>
              <a:rPr lang="en-US" sz="2000" dirty="0">
                <a:solidFill>
                  <a:srgbClr val="0B1F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Never work directly on main</a:t>
            </a:r>
            <a:endParaRPr lang="en-US" sz="2000" dirty="0"/>
          </a:p>
          <a:p>
            <a:pPr algn="l" marL="457200" indent="-457200">
              <a:lnSpc>
                <a:spcPct val="100000"/>
              </a:lnSpc>
              <a:buSzPct val="100000"/>
              <a:buChar char="•"/>
            </a:pPr>
            <a:r>
              <a:rPr lang="en-US" sz="2000" dirty="0">
                <a:solidFill>
                  <a:srgbClr val="0B1F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Ask for review before merging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217685" y="1706860"/>
            <a:ext cx="5364227" cy="4145161"/>
          </a:xfrm>
          <a:prstGeom prst="roundRect">
            <a:avLst>
              <a:gd name="adj" fmla="val 2824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22378" y="1877272"/>
            <a:ext cx="4754642" cy="365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E5534B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Merge conflict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522378" y="2485330"/>
            <a:ext cx="4697593" cy="71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50" dirty="0">
                <a:solidFill>
                  <a:srgbClr val="0B1F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Two people edited the same line. Git marks both versions and you choose what to keep.</a:t>
            </a:r>
            <a:endParaRPr lang="en-US" sz="1850" dirty="0"/>
          </a:p>
        </p:txBody>
      </p:sp>
      <p:sp>
        <p:nvSpPr>
          <p:cNvPr id="10" name="Shape 8"/>
          <p:cNvSpPr/>
          <p:nvPr/>
        </p:nvSpPr>
        <p:spPr>
          <a:xfrm>
            <a:off x="6522378" y="3657501"/>
            <a:ext cx="4754642" cy="1950641"/>
          </a:xfrm>
          <a:prstGeom prst="roundRect">
            <a:avLst>
              <a:gd name="adj" fmla="val 6000"/>
            </a:avLst>
          </a:prstGeom>
          <a:solidFill>
            <a:srgbClr val="0B1F2A"/>
          </a:solidFill>
          <a:ln w="12700">
            <a:solidFill>
              <a:srgbClr val="0B1F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66252" y="3767004"/>
            <a:ext cx="4266994" cy="1317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&lt;&lt;&lt;&lt;&lt;&lt;&lt; yours</a:t>
            </a:r>
            <a:endParaRPr lang="en-US" sz="17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print("Hello")</a:t>
            </a:r>
            <a:endParaRPr lang="en-US" sz="17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=======</a:t>
            </a:r>
            <a:endParaRPr lang="en-US" sz="17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print("Hi")</a:t>
            </a:r>
            <a:endParaRPr lang="en-US" sz="17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&gt;&gt;&gt;&gt;&gt;&gt;&gt; theirs</a:t>
            </a:r>
            <a:endParaRPr lang="en-US" sz="1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2951" y="2778621"/>
            <a:ext cx="2072826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b="1" spc="44" kern="100" dirty="0">
                <a:solidFill>
                  <a:srgbClr val="0B1F2A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Q&amp;A</a:t>
            </a:r>
            <a:endParaRPr lang="en-US" sz="4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16300" y="6375549"/>
            <a:ext cx="780832" cy="253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B7F8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19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609585" y="593328"/>
            <a:ext cx="10972526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b="1" spc="44" kern="100" dirty="0">
                <a:solidFill>
                  <a:srgbClr val="0B1F2A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Step 1: Create a GitHub account – 2 min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09585" y="1828800"/>
            <a:ext cx="511956" cy="511969"/>
          </a:xfrm>
          <a:prstGeom prst="ellipse">
            <a:avLst/>
          </a:prstGeom>
          <a:solidFill>
            <a:srgbClr val="1FA67A"/>
          </a:solidFill>
          <a:ln w="12700">
            <a:solidFill>
              <a:srgbClr val="1FA67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04792" y="1918395"/>
            <a:ext cx="1121541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41007" y="1814810"/>
            <a:ext cx="6339622" cy="405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50" dirty="0">
                <a:solidFill>
                  <a:srgbClr val="0B1F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Open github.com/signup</a:t>
            </a:r>
            <a:endParaRPr lang="en-US" sz="2150" dirty="0"/>
          </a:p>
        </p:txBody>
      </p:sp>
      <p:sp>
        <p:nvSpPr>
          <p:cNvPr id="7" name="Shape 5"/>
          <p:cNvSpPr/>
          <p:nvPr/>
        </p:nvSpPr>
        <p:spPr>
          <a:xfrm>
            <a:off x="609585" y="2865041"/>
            <a:ext cx="511956" cy="511969"/>
          </a:xfrm>
          <a:prstGeom prst="ellipse">
            <a:avLst/>
          </a:prstGeom>
          <a:solidFill>
            <a:srgbClr val="1FA67A"/>
          </a:solidFill>
          <a:ln w="12700">
            <a:solidFill>
              <a:srgbClr val="1FA6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4792" y="2954734"/>
            <a:ext cx="1121541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41007" y="2851150"/>
            <a:ext cx="6339622" cy="405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50" dirty="0">
                <a:solidFill>
                  <a:srgbClr val="0B1F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Sign up with your email and pick a username</a:t>
            </a:r>
            <a:endParaRPr lang="en-US" sz="2150" dirty="0"/>
          </a:p>
        </p:txBody>
      </p:sp>
      <p:sp>
        <p:nvSpPr>
          <p:cNvPr id="10" name="Shape 8"/>
          <p:cNvSpPr/>
          <p:nvPr/>
        </p:nvSpPr>
        <p:spPr>
          <a:xfrm>
            <a:off x="609585" y="3901380"/>
            <a:ext cx="511956" cy="511969"/>
          </a:xfrm>
          <a:prstGeom prst="ellipse">
            <a:avLst/>
          </a:prstGeom>
          <a:solidFill>
            <a:srgbClr val="1FA67A"/>
          </a:solidFill>
          <a:ln w="12700">
            <a:solidFill>
              <a:srgbClr val="1FA6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4792" y="3991074"/>
            <a:ext cx="1121541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341007" y="3887391"/>
            <a:ext cx="6339622" cy="405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50" dirty="0">
                <a:solidFill>
                  <a:srgbClr val="0B1F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Verify your email</a:t>
            </a:r>
            <a:endParaRPr lang="en-US" sz="2150" dirty="0"/>
          </a:p>
        </p:txBody>
      </p:sp>
      <p:sp>
        <p:nvSpPr>
          <p:cNvPr id="13" name="Shape 11"/>
          <p:cNvSpPr/>
          <p:nvPr/>
        </p:nvSpPr>
        <p:spPr>
          <a:xfrm>
            <a:off x="609585" y="4937720"/>
            <a:ext cx="511956" cy="511969"/>
          </a:xfrm>
          <a:prstGeom prst="ellipse">
            <a:avLst/>
          </a:prstGeom>
          <a:solidFill>
            <a:srgbClr val="1FA67A"/>
          </a:solidFill>
          <a:ln w="12700">
            <a:solidFill>
              <a:srgbClr val="1FA6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4792" y="5027414"/>
            <a:ext cx="1121541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341007" y="4923730"/>
            <a:ext cx="6339622" cy="405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50" dirty="0">
                <a:solidFill>
                  <a:srgbClr val="0B1F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Write down your username and password</a:t>
            </a:r>
            <a:endParaRPr lang="en-US" sz="2150" dirty="0"/>
          </a:p>
        </p:txBody>
      </p:sp>
      <p:sp>
        <p:nvSpPr>
          <p:cNvPr id="16" name="Shape 14"/>
          <p:cNvSpPr/>
          <p:nvPr/>
        </p:nvSpPr>
        <p:spPr>
          <a:xfrm>
            <a:off x="7558791" y="1828800"/>
            <a:ext cx="4023220" cy="3169841"/>
          </a:xfrm>
          <a:prstGeom prst="roundRect">
            <a:avLst>
              <a:gd name="adj" fmla="val 3692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63584" y="2060129"/>
            <a:ext cx="3413635" cy="365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FA67A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Tip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7863584" y="2668191"/>
            <a:ext cx="335648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B1F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Pick a username you are happy to show an employer or client later.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09585" y="5960070"/>
            <a:ext cx="1036294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6B7F8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Video: step 1 in the setup guide (docs/)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16300" y="6375549"/>
            <a:ext cx="780832" cy="253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B7F8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20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609585" y="593328"/>
            <a:ext cx="10972526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b="1" spc="44" kern="100" dirty="0">
                <a:solidFill>
                  <a:srgbClr val="0B1F2A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Step 2: Install GitHub Desktop – 2 min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09585" y="1828800"/>
            <a:ext cx="511956" cy="511969"/>
          </a:xfrm>
          <a:prstGeom prst="ellipse">
            <a:avLst/>
          </a:prstGeom>
          <a:solidFill>
            <a:srgbClr val="1FA67A"/>
          </a:solidFill>
          <a:ln w="12700">
            <a:solidFill>
              <a:srgbClr val="1FA67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04792" y="1918395"/>
            <a:ext cx="1121541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41007" y="1814810"/>
            <a:ext cx="10850589" cy="405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50" dirty="0">
                <a:solidFill>
                  <a:srgbClr val="0B1F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Open desktop.github.com and download for your computer</a:t>
            </a:r>
            <a:endParaRPr lang="en-US" sz="2150" dirty="0"/>
          </a:p>
        </p:txBody>
      </p:sp>
      <p:sp>
        <p:nvSpPr>
          <p:cNvPr id="7" name="Shape 5"/>
          <p:cNvSpPr/>
          <p:nvPr/>
        </p:nvSpPr>
        <p:spPr>
          <a:xfrm>
            <a:off x="609585" y="2865041"/>
            <a:ext cx="511956" cy="511969"/>
          </a:xfrm>
          <a:prstGeom prst="ellipse">
            <a:avLst/>
          </a:prstGeom>
          <a:solidFill>
            <a:srgbClr val="1FA67A"/>
          </a:solidFill>
          <a:ln w="12700">
            <a:solidFill>
              <a:srgbClr val="1FA6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4792" y="2954734"/>
            <a:ext cx="1121541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41007" y="2851150"/>
            <a:ext cx="10850589" cy="405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50" dirty="0">
                <a:solidFill>
                  <a:srgbClr val="0B1F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Mac: unzip and drag to Applications.  Windows: run the installer</a:t>
            </a:r>
            <a:endParaRPr lang="en-US" sz="2150" dirty="0"/>
          </a:p>
        </p:txBody>
      </p:sp>
      <p:sp>
        <p:nvSpPr>
          <p:cNvPr id="10" name="Shape 8"/>
          <p:cNvSpPr/>
          <p:nvPr/>
        </p:nvSpPr>
        <p:spPr>
          <a:xfrm>
            <a:off x="609585" y="3901380"/>
            <a:ext cx="511956" cy="511969"/>
          </a:xfrm>
          <a:prstGeom prst="ellipse">
            <a:avLst/>
          </a:prstGeom>
          <a:solidFill>
            <a:srgbClr val="1FA67A"/>
          </a:solidFill>
          <a:ln w="12700">
            <a:solidFill>
              <a:srgbClr val="1FA6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4792" y="3991074"/>
            <a:ext cx="1121541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341007" y="3887391"/>
            <a:ext cx="10850589" cy="405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50" dirty="0">
                <a:solidFill>
                  <a:srgbClr val="0B1F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Click Sign in to GitHub.com and authorize</a:t>
            </a:r>
            <a:endParaRPr lang="en-US" sz="2150" dirty="0"/>
          </a:p>
        </p:txBody>
      </p:sp>
      <p:sp>
        <p:nvSpPr>
          <p:cNvPr id="13" name="Shape 11"/>
          <p:cNvSpPr/>
          <p:nvPr/>
        </p:nvSpPr>
        <p:spPr>
          <a:xfrm>
            <a:off x="609585" y="4937720"/>
            <a:ext cx="511956" cy="511969"/>
          </a:xfrm>
          <a:prstGeom prst="ellipse">
            <a:avLst/>
          </a:prstGeom>
          <a:solidFill>
            <a:srgbClr val="1FA67A"/>
          </a:solidFill>
          <a:ln w="12700">
            <a:solidFill>
              <a:srgbClr val="1FA6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4792" y="5027414"/>
            <a:ext cx="1121541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341007" y="4923730"/>
            <a:ext cx="10850589" cy="405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50" dirty="0">
                <a:solidFill>
                  <a:srgbClr val="0B1F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Keep the name and email it suggests</a:t>
            </a:r>
            <a:endParaRPr lang="en-US" sz="2150" dirty="0"/>
          </a:p>
        </p:txBody>
      </p:sp>
      <p:sp>
        <p:nvSpPr>
          <p:cNvPr id="16" name="Text 14"/>
          <p:cNvSpPr/>
          <p:nvPr/>
        </p:nvSpPr>
        <p:spPr>
          <a:xfrm>
            <a:off x="609585" y="5960070"/>
            <a:ext cx="1036294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6B7F8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Only need to sign in once.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16300" y="6375549"/>
            <a:ext cx="780832" cy="253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B7F8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21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609585" y="593328"/>
            <a:ext cx="10972526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b="1" spc="44" kern="100" dirty="0">
                <a:solidFill>
                  <a:srgbClr val="0B1F2A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Step 3: Fork and clone the course repo – 2 min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09585" y="1706860"/>
            <a:ext cx="511956" cy="511969"/>
          </a:xfrm>
          <a:prstGeom prst="ellipse">
            <a:avLst/>
          </a:prstGeom>
          <a:solidFill>
            <a:srgbClr val="1FA67A"/>
          </a:solidFill>
          <a:ln w="12700">
            <a:solidFill>
              <a:srgbClr val="1FA67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04792" y="1796455"/>
            <a:ext cx="1121541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41007" y="1692870"/>
            <a:ext cx="10850589" cy="405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50" dirty="0">
                <a:solidFill>
                  <a:srgbClr val="0B1F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Open github.com/ccunnect-tech/BFA, click Fork, then Create fork</a:t>
            </a:r>
            <a:endParaRPr lang="en-US" sz="2150" dirty="0"/>
          </a:p>
        </p:txBody>
      </p:sp>
      <p:sp>
        <p:nvSpPr>
          <p:cNvPr id="7" name="Shape 5"/>
          <p:cNvSpPr/>
          <p:nvPr/>
        </p:nvSpPr>
        <p:spPr>
          <a:xfrm>
            <a:off x="609585" y="2560241"/>
            <a:ext cx="511956" cy="511969"/>
          </a:xfrm>
          <a:prstGeom prst="ellipse">
            <a:avLst/>
          </a:prstGeom>
          <a:solidFill>
            <a:srgbClr val="1FA67A"/>
          </a:solidFill>
          <a:ln w="12700">
            <a:solidFill>
              <a:srgbClr val="1FA6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4792" y="2649934"/>
            <a:ext cx="1121541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41007" y="2546350"/>
            <a:ext cx="10850589" cy="405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50" dirty="0">
                <a:solidFill>
                  <a:srgbClr val="0B1F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 GitHub Desktop: File, Clone Repository</a:t>
            </a:r>
            <a:endParaRPr lang="en-US" sz="2150" dirty="0"/>
          </a:p>
        </p:txBody>
      </p:sp>
      <p:sp>
        <p:nvSpPr>
          <p:cNvPr id="10" name="Shape 8"/>
          <p:cNvSpPr/>
          <p:nvPr/>
        </p:nvSpPr>
        <p:spPr>
          <a:xfrm>
            <a:off x="609585" y="3413720"/>
            <a:ext cx="511956" cy="511969"/>
          </a:xfrm>
          <a:prstGeom prst="ellipse">
            <a:avLst/>
          </a:prstGeom>
          <a:solidFill>
            <a:srgbClr val="1FA67A"/>
          </a:solidFill>
          <a:ln w="12700">
            <a:solidFill>
              <a:srgbClr val="1FA6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4792" y="3503414"/>
            <a:ext cx="1121541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341007" y="3399730"/>
            <a:ext cx="10850589" cy="405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50" dirty="0">
                <a:solidFill>
                  <a:srgbClr val="0B1F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Pick your fork on the GitHub.com tab</a:t>
            </a:r>
            <a:endParaRPr lang="en-US" sz="2150" dirty="0"/>
          </a:p>
        </p:txBody>
      </p:sp>
      <p:sp>
        <p:nvSpPr>
          <p:cNvPr id="13" name="Shape 11"/>
          <p:cNvSpPr/>
          <p:nvPr/>
        </p:nvSpPr>
        <p:spPr>
          <a:xfrm>
            <a:off x="609585" y="4267200"/>
            <a:ext cx="511956" cy="511969"/>
          </a:xfrm>
          <a:prstGeom prst="ellipse">
            <a:avLst/>
          </a:prstGeom>
          <a:solidFill>
            <a:srgbClr val="1FA67A"/>
          </a:solidFill>
          <a:ln w="12700">
            <a:solidFill>
              <a:srgbClr val="1FA6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4792" y="4356795"/>
            <a:ext cx="1121541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341007" y="4253210"/>
            <a:ext cx="10850589" cy="405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50" dirty="0">
                <a:solidFill>
                  <a:srgbClr val="0B1F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Choose a folder you will remember, click Clone</a:t>
            </a:r>
            <a:endParaRPr lang="en-US" sz="2150" dirty="0"/>
          </a:p>
        </p:txBody>
      </p:sp>
      <p:sp>
        <p:nvSpPr>
          <p:cNvPr id="16" name="Shape 14"/>
          <p:cNvSpPr/>
          <p:nvPr/>
        </p:nvSpPr>
        <p:spPr>
          <a:xfrm>
            <a:off x="609585" y="5120580"/>
            <a:ext cx="511956" cy="511969"/>
          </a:xfrm>
          <a:prstGeom prst="ellipse">
            <a:avLst/>
          </a:prstGeom>
          <a:solidFill>
            <a:srgbClr val="1FA67A"/>
          </a:solidFill>
          <a:ln w="12700">
            <a:solidFill>
              <a:srgbClr val="1FA6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4792" y="5210274"/>
            <a:ext cx="1121541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5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341007" y="5106591"/>
            <a:ext cx="10850589" cy="405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50" dirty="0">
                <a:solidFill>
                  <a:srgbClr val="0B1F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Choose "To contribute to the parent project"</a:t>
            </a:r>
            <a:endParaRPr lang="en-US" sz="2150" dirty="0"/>
          </a:p>
        </p:txBody>
      </p:sp>
      <p:sp>
        <p:nvSpPr>
          <p:cNvPr id="19" name="Shape 17"/>
          <p:cNvSpPr/>
          <p:nvPr/>
        </p:nvSpPr>
        <p:spPr>
          <a:xfrm>
            <a:off x="609585" y="6034980"/>
            <a:ext cx="853359" cy="365720"/>
          </a:xfrm>
          <a:prstGeom prst="roundRect">
            <a:avLst>
              <a:gd name="adj" fmla="val 49999"/>
            </a:avLst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4792" y="6082010"/>
            <a:ext cx="146294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Mac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584881" y="6040695"/>
            <a:ext cx="2990775" cy="329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dirty="0">
                <a:solidFill>
                  <a:srgbClr val="0B1F2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Documents/course</a:t>
            </a:r>
            <a:endParaRPr lang="en-US" sz="1750" dirty="0"/>
          </a:p>
        </p:txBody>
      </p:sp>
      <p:sp>
        <p:nvSpPr>
          <p:cNvPr id="22" name="Shape 20"/>
          <p:cNvSpPr/>
          <p:nvPr/>
        </p:nvSpPr>
        <p:spPr>
          <a:xfrm>
            <a:off x="4388931" y="6034980"/>
            <a:ext cx="1097233" cy="365720"/>
          </a:xfrm>
          <a:prstGeom prst="roundRect">
            <a:avLst>
              <a:gd name="adj" fmla="val 49999"/>
            </a:avLst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84138" y="6082010"/>
            <a:ext cx="170681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Windows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669118" y="6040695"/>
            <a:ext cx="3889774" cy="329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dirty="0">
                <a:solidFill>
                  <a:srgbClr val="0B1F2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Documents\course</a:t>
            </a:r>
            <a:endParaRPr lang="en-US" sz="1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16300" y="6375549"/>
            <a:ext cx="780832" cy="253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B7F8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22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609585" y="593328"/>
            <a:ext cx="10972526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b="1" spc="44" kern="100" dirty="0">
                <a:solidFill>
                  <a:srgbClr val="0B1F2A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Step 4: Install Node.js and npm – 2 min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09585" y="1828800"/>
            <a:ext cx="511956" cy="511969"/>
          </a:xfrm>
          <a:prstGeom prst="ellipse">
            <a:avLst/>
          </a:prstGeom>
          <a:solidFill>
            <a:srgbClr val="1FA67A"/>
          </a:solidFill>
          <a:ln w="12700">
            <a:solidFill>
              <a:srgbClr val="1FA67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04792" y="1918395"/>
            <a:ext cx="1121541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41007" y="1814810"/>
            <a:ext cx="6461559" cy="405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50" dirty="0">
                <a:solidFill>
                  <a:srgbClr val="0B1F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Open nodejs.org, click the LTS button (not Current)</a:t>
            </a:r>
            <a:endParaRPr lang="en-US" sz="2150" dirty="0"/>
          </a:p>
        </p:txBody>
      </p:sp>
      <p:sp>
        <p:nvSpPr>
          <p:cNvPr id="7" name="Shape 5"/>
          <p:cNvSpPr/>
          <p:nvPr/>
        </p:nvSpPr>
        <p:spPr>
          <a:xfrm>
            <a:off x="609585" y="2865041"/>
            <a:ext cx="511956" cy="511969"/>
          </a:xfrm>
          <a:prstGeom prst="ellipse">
            <a:avLst/>
          </a:prstGeom>
          <a:solidFill>
            <a:srgbClr val="1FA67A"/>
          </a:solidFill>
          <a:ln w="12700">
            <a:solidFill>
              <a:srgbClr val="1FA6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4792" y="2954734"/>
            <a:ext cx="1121541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41007" y="2851150"/>
            <a:ext cx="6461559" cy="405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50" dirty="0">
                <a:solidFill>
                  <a:srgbClr val="0B1F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Run the installer with default options</a:t>
            </a:r>
            <a:endParaRPr lang="en-US" sz="2150" dirty="0"/>
          </a:p>
        </p:txBody>
      </p:sp>
      <p:sp>
        <p:nvSpPr>
          <p:cNvPr id="10" name="Shape 8"/>
          <p:cNvSpPr/>
          <p:nvPr/>
        </p:nvSpPr>
        <p:spPr>
          <a:xfrm>
            <a:off x="609585" y="3901380"/>
            <a:ext cx="511956" cy="511969"/>
          </a:xfrm>
          <a:prstGeom prst="ellipse">
            <a:avLst/>
          </a:prstGeom>
          <a:solidFill>
            <a:srgbClr val="1FA67A"/>
          </a:solidFill>
          <a:ln w="12700">
            <a:solidFill>
              <a:srgbClr val="1FA6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4792" y="3991074"/>
            <a:ext cx="1121541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341007" y="3887391"/>
            <a:ext cx="6461559" cy="405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50" dirty="0">
                <a:solidFill>
                  <a:srgbClr val="0B1F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Close and reopen VS Code and your terminal</a:t>
            </a:r>
            <a:endParaRPr lang="en-US" sz="2150" dirty="0"/>
          </a:p>
        </p:txBody>
      </p:sp>
      <p:sp>
        <p:nvSpPr>
          <p:cNvPr id="13" name="Shape 11"/>
          <p:cNvSpPr/>
          <p:nvPr/>
        </p:nvSpPr>
        <p:spPr>
          <a:xfrm>
            <a:off x="609585" y="4937720"/>
            <a:ext cx="511956" cy="511969"/>
          </a:xfrm>
          <a:prstGeom prst="ellipse">
            <a:avLst/>
          </a:prstGeom>
          <a:solidFill>
            <a:srgbClr val="1FA67A"/>
          </a:solidFill>
          <a:ln w="12700">
            <a:solidFill>
              <a:srgbClr val="1FA6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4792" y="5027414"/>
            <a:ext cx="1121541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341007" y="4923730"/>
            <a:ext cx="6461559" cy="405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50" dirty="0">
                <a:solidFill>
                  <a:srgbClr val="0B1F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Check both versions</a:t>
            </a:r>
            <a:endParaRPr lang="en-US" sz="2150" dirty="0"/>
          </a:p>
        </p:txBody>
      </p:sp>
      <p:sp>
        <p:nvSpPr>
          <p:cNvPr id="16" name="Shape 14"/>
          <p:cNvSpPr/>
          <p:nvPr/>
        </p:nvSpPr>
        <p:spPr>
          <a:xfrm>
            <a:off x="7558791" y="1950641"/>
            <a:ext cx="4023220" cy="1219200"/>
          </a:xfrm>
          <a:prstGeom prst="roundRect">
            <a:avLst>
              <a:gd name="adj" fmla="val 9600"/>
            </a:avLst>
          </a:prstGeom>
          <a:solidFill>
            <a:srgbClr val="0B1F2A"/>
          </a:solidFill>
          <a:ln w="12700">
            <a:solidFill>
              <a:srgbClr val="0B1F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02665" y="2041128"/>
            <a:ext cx="3535572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node --version</a:t>
            </a:r>
            <a:endParaRPr lang="en-US" sz="20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npm --version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558791" y="3460750"/>
            <a:ext cx="40232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FA67A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Expected:</a:t>
            </a:r>
            <a:endParaRPr lang="en-US" sz="2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FA67A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v22.x.x</a:t>
            </a:r>
            <a:endParaRPr lang="en-US" sz="2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FA67A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10.x.x</a:t>
            </a:r>
            <a:endParaRPr lang="en-US" sz="2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16300" y="6375549"/>
            <a:ext cx="780832" cy="253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B7F8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23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609585" y="593328"/>
            <a:ext cx="10972526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b="1" spc="44" kern="100" dirty="0">
                <a:solidFill>
                  <a:srgbClr val="0B1F2A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Step 5: Install Python – 2 min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09585" y="1570930"/>
            <a:ext cx="11582110" cy="405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50" dirty="0">
                <a:solidFill>
                  <a:srgbClr val="0B1F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python.org/downloads, click the yellow Download button</a:t>
            </a:r>
            <a:endParaRPr lang="en-US" sz="2150" dirty="0"/>
          </a:p>
        </p:txBody>
      </p:sp>
      <p:sp>
        <p:nvSpPr>
          <p:cNvPr id="5" name="Shape 3"/>
          <p:cNvSpPr/>
          <p:nvPr/>
        </p:nvSpPr>
        <p:spPr>
          <a:xfrm>
            <a:off x="609585" y="2316460"/>
            <a:ext cx="5364326" cy="2682180"/>
          </a:xfrm>
          <a:prstGeom prst="roundRect">
            <a:avLst>
              <a:gd name="adj" fmla="val 4364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3359" y="2499320"/>
            <a:ext cx="1158151" cy="365720"/>
          </a:xfrm>
          <a:prstGeom prst="roundRect">
            <a:avLst>
              <a:gd name="adj" fmla="val 49999"/>
            </a:avLst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567" y="2546350"/>
            <a:ext cx="176773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Mac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53359" y="3034010"/>
            <a:ext cx="4876678" cy="71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50" dirty="0">
                <a:solidFill>
                  <a:srgbClr val="0B1F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Open the .pkg, keep defaults.</a:t>
            </a:r>
            <a:endParaRPr lang="en-US" sz="18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850" dirty="0">
                <a:solidFill>
                  <a:srgbClr val="0B1F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Then open Terminal.</a:t>
            </a:r>
            <a:endParaRPr lang="en-US" sz="1850" dirty="0"/>
          </a:p>
        </p:txBody>
      </p:sp>
      <p:sp>
        <p:nvSpPr>
          <p:cNvPr id="9" name="Shape 7"/>
          <p:cNvSpPr/>
          <p:nvPr/>
        </p:nvSpPr>
        <p:spPr>
          <a:xfrm>
            <a:off x="853359" y="4145260"/>
            <a:ext cx="4876678" cy="609600"/>
          </a:xfrm>
          <a:prstGeom prst="roundRect">
            <a:avLst>
              <a:gd name="adj" fmla="val 19200"/>
            </a:avLst>
          </a:prstGeom>
          <a:solidFill>
            <a:srgbClr val="0B1F2A"/>
          </a:solidFill>
          <a:ln w="12700">
            <a:solidFill>
              <a:srgbClr val="0B1F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33" y="4297700"/>
            <a:ext cx="4998516" cy="356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python3 --version</a:t>
            </a:r>
            <a:endParaRPr lang="en-US" sz="1850" dirty="0"/>
          </a:p>
        </p:txBody>
      </p:sp>
      <p:sp>
        <p:nvSpPr>
          <p:cNvPr id="11" name="Shape 9"/>
          <p:cNvSpPr/>
          <p:nvPr/>
        </p:nvSpPr>
        <p:spPr>
          <a:xfrm>
            <a:off x="6217685" y="2316460"/>
            <a:ext cx="5364326" cy="2682180"/>
          </a:xfrm>
          <a:prstGeom prst="roundRect">
            <a:avLst>
              <a:gd name="adj" fmla="val 4364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61559" y="2499320"/>
            <a:ext cx="1158151" cy="365720"/>
          </a:xfrm>
          <a:prstGeom prst="roundRect">
            <a:avLst>
              <a:gd name="adj" fmla="val 49999"/>
            </a:avLst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56766" y="2546350"/>
            <a:ext cx="176773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Windows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61559" y="3034010"/>
            <a:ext cx="4876678" cy="71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50" b="1" dirty="0">
                <a:solidFill>
                  <a:srgbClr val="E5534B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Tick "Add python.exe to PATH"</a:t>
            </a:r>
            <a:endParaRPr lang="en-US" sz="18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850" dirty="0">
                <a:solidFill>
                  <a:srgbClr val="0B1F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before Install Now. Then open Command Prompt.</a:t>
            </a:r>
            <a:endParaRPr lang="en-US" sz="1850" dirty="0"/>
          </a:p>
        </p:txBody>
      </p:sp>
      <p:sp>
        <p:nvSpPr>
          <p:cNvPr id="15" name="Shape 13"/>
          <p:cNvSpPr/>
          <p:nvPr/>
        </p:nvSpPr>
        <p:spPr>
          <a:xfrm>
            <a:off x="6461559" y="4145260"/>
            <a:ext cx="4876678" cy="609600"/>
          </a:xfrm>
          <a:prstGeom prst="roundRect">
            <a:avLst>
              <a:gd name="adj" fmla="val 19200"/>
            </a:avLst>
          </a:prstGeom>
          <a:solidFill>
            <a:srgbClr val="0B1F2A"/>
          </a:solidFill>
          <a:ln w="12700">
            <a:solidFill>
              <a:srgbClr val="0B1F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05432" y="4297700"/>
            <a:ext cx="4998516" cy="356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python --version</a:t>
            </a:r>
            <a:endParaRPr lang="en-US" sz="1850" dirty="0"/>
          </a:p>
        </p:txBody>
      </p:sp>
      <p:sp>
        <p:nvSpPr>
          <p:cNvPr id="17" name="Text 15"/>
          <p:cNvSpPr/>
          <p:nvPr/>
        </p:nvSpPr>
        <p:spPr>
          <a:xfrm>
            <a:off x="609585" y="5350470"/>
            <a:ext cx="11582110" cy="405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50" b="1" dirty="0">
                <a:solidFill>
                  <a:srgbClr val="1FA67A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Expected: Python 3.12.x (or newer)</a:t>
            </a:r>
            <a:endParaRPr lang="en-US" sz="2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16300" y="6375549"/>
            <a:ext cx="780832" cy="253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B7F8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24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609585" y="593328"/>
            <a:ext cx="10972526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b="1" spc="44" kern="100" dirty="0">
                <a:solidFill>
                  <a:srgbClr val="0B1F2A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Step 6: Install VS Code – 5 mins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09585" y="1828800"/>
            <a:ext cx="511956" cy="511969"/>
          </a:xfrm>
          <a:prstGeom prst="ellipse">
            <a:avLst/>
          </a:prstGeom>
          <a:solidFill>
            <a:srgbClr val="1FA67A"/>
          </a:solidFill>
          <a:ln w="12700">
            <a:solidFill>
              <a:srgbClr val="1FA67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04792" y="1918395"/>
            <a:ext cx="1121541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41007" y="1814810"/>
            <a:ext cx="6038699" cy="811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50" dirty="0">
                <a:solidFill>
                  <a:srgbClr val="0B1F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Open code.visualstudio.com and download for your computer</a:t>
            </a:r>
            <a:endParaRPr lang="en-US" sz="2150" dirty="0"/>
          </a:p>
        </p:txBody>
      </p:sp>
      <p:sp>
        <p:nvSpPr>
          <p:cNvPr id="7" name="Shape 5"/>
          <p:cNvSpPr/>
          <p:nvPr/>
        </p:nvSpPr>
        <p:spPr>
          <a:xfrm>
            <a:off x="609585" y="2865041"/>
            <a:ext cx="511956" cy="511969"/>
          </a:xfrm>
          <a:prstGeom prst="ellipse">
            <a:avLst/>
          </a:prstGeom>
          <a:solidFill>
            <a:srgbClr val="1FA67A"/>
          </a:solidFill>
          <a:ln w="12700">
            <a:solidFill>
              <a:srgbClr val="1FA6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4792" y="2954734"/>
            <a:ext cx="1121541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41007" y="2851150"/>
            <a:ext cx="6095848" cy="811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50" dirty="0">
                <a:solidFill>
                  <a:srgbClr val="0B1F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Mac: drag to Applications.  Windows: run installer, tick Add to PATH</a:t>
            </a:r>
            <a:endParaRPr lang="en-US" sz="2150" dirty="0"/>
          </a:p>
        </p:txBody>
      </p:sp>
      <p:sp>
        <p:nvSpPr>
          <p:cNvPr id="10" name="Shape 8"/>
          <p:cNvSpPr/>
          <p:nvPr/>
        </p:nvSpPr>
        <p:spPr>
          <a:xfrm>
            <a:off x="609585" y="3901380"/>
            <a:ext cx="511956" cy="511969"/>
          </a:xfrm>
          <a:prstGeom prst="ellipse">
            <a:avLst/>
          </a:prstGeom>
          <a:solidFill>
            <a:srgbClr val="1FA67A"/>
          </a:solidFill>
          <a:ln w="12700">
            <a:solidFill>
              <a:srgbClr val="1FA6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4792" y="3991074"/>
            <a:ext cx="1121541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341007" y="3887391"/>
            <a:ext cx="6705432" cy="405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50" dirty="0">
                <a:solidFill>
                  <a:srgbClr val="0B1F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Open VS Code</a:t>
            </a:r>
            <a:endParaRPr lang="en-US" sz="2150" dirty="0"/>
          </a:p>
        </p:txBody>
      </p:sp>
      <p:sp>
        <p:nvSpPr>
          <p:cNvPr id="13" name="Shape 11"/>
          <p:cNvSpPr/>
          <p:nvPr/>
        </p:nvSpPr>
        <p:spPr>
          <a:xfrm>
            <a:off x="609585" y="4937720"/>
            <a:ext cx="511956" cy="511969"/>
          </a:xfrm>
          <a:prstGeom prst="ellipse">
            <a:avLst/>
          </a:prstGeom>
          <a:solidFill>
            <a:srgbClr val="1FA67A"/>
          </a:solidFill>
          <a:ln w="12700">
            <a:solidFill>
              <a:srgbClr val="1FA6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4792" y="5027414"/>
            <a:ext cx="1121541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341007" y="4923730"/>
            <a:ext cx="6038699" cy="811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50" dirty="0">
                <a:solidFill>
                  <a:srgbClr val="0B1F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Extensions icon (left sidebar), search Python, install the one by Microsoft</a:t>
            </a:r>
            <a:endParaRPr lang="en-US" sz="2150" dirty="0"/>
          </a:p>
        </p:txBody>
      </p:sp>
      <p:sp>
        <p:nvSpPr>
          <p:cNvPr id="16" name="Shape 14"/>
          <p:cNvSpPr/>
          <p:nvPr/>
        </p:nvSpPr>
        <p:spPr>
          <a:xfrm>
            <a:off x="7924602" y="1828800"/>
            <a:ext cx="3657509" cy="3169841"/>
          </a:xfrm>
          <a:prstGeom prst="roundRect">
            <a:avLst>
              <a:gd name="adj" fmla="val 3692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68376" y="2058591"/>
            <a:ext cx="3779346" cy="405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50" b="1" dirty="0">
                <a:solidFill>
                  <a:srgbClr val="1FA67A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Open Extensions</a:t>
            </a:r>
            <a:endParaRPr lang="en-US" sz="2150" dirty="0"/>
          </a:p>
        </p:txBody>
      </p:sp>
      <p:sp>
        <p:nvSpPr>
          <p:cNvPr id="18" name="Shape 16"/>
          <p:cNvSpPr/>
          <p:nvPr/>
        </p:nvSpPr>
        <p:spPr>
          <a:xfrm>
            <a:off x="8168376" y="2743200"/>
            <a:ext cx="853359" cy="365720"/>
          </a:xfrm>
          <a:prstGeom prst="roundRect">
            <a:avLst>
              <a:gd name="adj" fmla="val 49999"/>
            </a:avLst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63584" y="2790130"/>
            <a:ext cx="146294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Mac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143771" y="2749391"/>
            <a:ext cx="2925987" cy="356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50" dirty="0">
                <a:solidFill>
                  <a:srgbClr val="0B1F2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Cmd+Shift+X</a:t>
            </a:r>
            <a:endParaRPr lang="en-US" sz="1850" dirty="0"/>
          </a:p>
        </p:txBody>
      </p:sp>
      <p:sp>
        <p:nvSpPr>
          <p:cNvPr id="21" name="Shape 19"/>
          <p:cNvSpPr/>
          <p:nvPr/>
        </p:nvSpPr>
        <p:spPr>
          <a:xfrm>
            <a:off x="8168376" y="3413720"/>
            <a:ext cx="1097233" cy="365720"/>
          </a:xfrm>
          <a:prstGeom prst="roundRect">
            <a:avLst>
              <a:gd name="adj" fmla="val 49999"/>
            </a:avLst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63584" y="3460750"/>
            <a:ext cx="170681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Windows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387546" y="3419912"/>
            <a:ext cx="2682113" cy="356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50" dirty="0">
                <a:solidFill>
                  <a:srgbClr val="0B1F2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Ctrl+Shift+X</a:t>
            </a:r>
            <a:endParaRPr lang="en-US" sz="1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16300" y="6375549"/>
            <a:ext cx="780832" cy="253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B7F8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25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609585" y="593328"/>
            <a:ext cx="10972526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b="1" spc="44" kern="100" dirty="0">
                <a:solidFill>
                  <a:srgbClr val="0B1F2A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Step 7: Run the setup check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09585" y="1706860"/>
            <a:ext cx="511956" cy="511969"/>
          </a:xfrm>
          <a:prstGeom prst="ellipse">
            <a:avLst/>
          </a:prstGeom>
          <a:solidFill>
            <a:srgbClr val="1FA67A"/>
          </a:solidFill>
          <a:ln w="12700">
            <a:solidFill>
              <a:srgbClr val="1FA67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04792" y="1796455"/>
            <a:ext cx="1121541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41007" y="1692870"/>
            <a:ext cx="5486263" cy="405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50" dirty="0">
                <a:solidFill>
                  <a:srgbClr val="0B1F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GitHub Desktop: Open in Visual Studio Code</a:t>
            </a:r>
            <a:endParaRPr lang="en-US" sz="2150" dirty="0"/>
          </a:p>
        </p:txBody>
      </p:sp>
      <p:sp>
        <p:nvSpPr>
          <p:cNvPr id="7" name="Shape 5"/>
          <p:cNvSpPr/>
          <p:nvPr/>
        </p:nvSpPr>
        <p:spPr>
          <a:xfrm>
            <a:off x="609585" y="2682180"/>
            <a:ext cx="511956" cy="511969"/>
          </a:xfrm>
          <a:prstGeom prst="ellipse">
            <a:avLst/>
          </a:prstGeom>
          <a:solidFill>
            <a:srgbClr val="1FA67A"/>
          </a:solidFill>
          <a:ln w="12700">
            <a:solidFill>
              <a:srgbClr val="1FA6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4792" y="2771874"/>
            <a:ext cx="1121541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41007" y="2668191"/>
            <a:ext cx="5486263" cy="405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50" dirty="0">
                <a:solidFill>
                  <a:srgbClr val="0B1F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Click Yes, I trust the authors</a:t>
            </a:r>
            <a:endParaRPr lang="en-US" sz="2150" dirty="0"/>
          </a:p>
        </p:txBody>
      </p:sp>
      <p:sp>
        <p:nvSpPr>
          <p:cNvPr id="10" name="Shape 8"/>
          <p:cNvSpPr/>
          <p:nvPr/>
        </p:nvSpPr>
        <p:spPr>
          <a:xfrm>
            <a:off x="609585" y="3657600"/>
            <a:ext cx="511956" cy="511969"/>
          </a:xfrm>
          <a:prstGeom prst="ellipse">
            <a:avLst/>
          </a:prstGeom>
          <a:solidFill>
            <a:srgbClr val="1FA67A"/>
          </a:solidFill>
          <a:ln w="12700">
            <a:solidFill>
              <a:srgbClr val="1FA6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4792" y="3747195"/>
            <a:ext cx="1121541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341007" y="3643610"/>
            <a:ext cx="5486263" cy="405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50" dirty="0">
                <a:solidFill>
                  <a:srgbClr val="0B1F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Terminal, New Terminal</a:t>
            </a:r>
            <a:endParaRPr lang="en-US" sz="2150" dirty="0"/>
          </a:p>
        </p:txBody>
      </p:sp>
      <p:sp>
        <p:nvSpPr>
          <p:cNvPr id="13" name="Shape 11"/>
          <p:cNvSpPr/>
          <p:nvPr/>
        </p:nvSpPr>
        <p:spPr>
          <a:xfrm>
            <a:off x="609585" y="4632920"/>
            <a:ext cx="511956" cy="511969"/>
          </a:xfrm>
          <a:prstGeom prst="ellipse">
            <a:avLst/>
          </a:prstGeom>
          <a:solidFill>
            <a:srgbClr val="1FA67A"/>
          </a:solidFill>
          <a:ln w="12700">
            <a:solidFill>
              <a:srgbClr val="1FA6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4792" y="4722614"/>
            <a:ext cx="1121541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341007" y="4618930"/>
            <a:ext cx="4819529" cy="811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50" dirty="0">
                <a:solidFill>
                  <a:srgbClr val="0B1F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Run the command, then screenshot the output</a:t>
            </a:r>
            <a:endParaRPr lang="en-US" sz="2150" dirty="0"/>
          </a:p>
        </p:txBody>
      </p:sp>
      <p:sp>
        <p:nvSpPr>
          <p:cNvPr id="16" name="Shape 14"/>
          <p:cNvSpPr/>
          <p:nvPr/>
        </p:nvSpPr>
        <p:spPr>
          <a:xfrm>
            <a:off x="609585" y="5791200"/>
            <a:ext cx="853359" cy="365720"/>
          </a:xfrm>
          <a:prstGeom prst="roundRect">
            <a:avLst>
              <a:gd name="adj" fmla="val 49999"/>
            </a:avLst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4792" y="5838130"/>
            <a:ext cx="146294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Mac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84881" y="5796915"/>
            <a:ext cx="4876678" cy="329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dirty="0">
                <a:solidFill>
                  <a:srgbClr val="0B1F2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python3 check_setup.py</a:t>
            </a:r>
            <a:endParaRPr lang="en-US" sz="1750" dirty="0"/>
          </a:p>
        </p:txBody>
      </p:sp>
      <p:sp>
        <p:nvSpPr>
          <p:cNvPr id="19" name="Shape 17"/>
          <p:cNvSpPr/>
          <p:nvPr/>
        </p:nvSpPr>
        <p:spPr>
          <a:xfrm>
            <a:off x="609585" y="6278860"/>
            <a:ext cx="1097233" cy="365720"/>
          </a:xfrm>
          <a:prstGeom prst="roundRect">
            <a:avLst>
              <a:gd name="adj" fmla="val 49999"/>
            </a:avLst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4792" y="6325791"/>
            <a:ext cx="170681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Windows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828754" y="6284575"/>
            <a:ext cx="4632804" cy="329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dirty="0">
                <a:solidFill>
                  <a:srgbClr val="0B1F2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python check_setup.py</a:t>
            </a:r>
            <a:endParaRPr lang="en-US" sz="1750" dirty="0"/>
          </a:p>
        </p:txBody>
      </p:sp>
      <p:sp>
        <p:nvSpPr>
          <p:cNvPr id="22" name="Shape 20"/>
          <p:cNvSpPr/>
          <p:nvPr/>
        </p:nvSpPr>
        <p:spPr>
          <a:xfrm>
            <a:off x="6461559" y="1706860"/>
            <a:ext cx="5120452" cy="4023320"/>
          </a:xfrm>
          <a:prstGeom prst="roundRect">
            <a:avLst>
              <a:gd name="adj" fmla="val 2909"/>
            </a:avLst>
          </a:prstGeom>
          <a:solidFill>
            <a:srgbClr val="0B1F2A"/>
          </a:solidFill>
          <a:ln w="12700">
            <a:solidFill>
              <a:srgbClr val="0B1F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05432" y="1816362"/>
            <a:ext cx="4632804" cy="2197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✅</a:t>
            </a:r>
            <a:pPr algn="l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Python 3.x.x</a:t>
            </a:r>
            <a:endParaRPr lang="en-US" sz="17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✅</a:t>
            </a:r>
            <a:pPr algn="l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Visual Studio Code installed</a:t>
            </a:r>
            <a:endParaRPr lang="en-US" sz="17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✅</a:t>
            </a:r>
            <a:pPr algn="l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VS Code Python extension</a:t>
            </a:r>
            <a:endParaRPr lang="en-US" sz="17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✅</a:t>
            </a:r>
            <a:pPr algn="l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GitHub Desktop installed</a:t>
            </a:r>
            <a:endParaRPr lang="en-US" sz="17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✅</a:t>
            </a:r>
            <a:pPr algn="l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git version 2.x.x</a:t>
            </a:r>
            <a:endParaRPr lang="en-US" sz="17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✅</a:t>
            </a:r>
            <a:pPr algn="l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Node.js v22.x.x</a:t>
            </a:r>
            <a:endParaRPr lang="en-US" sz="17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✅</a:t>
            </a:r>
            <a:pPr algn="l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npm 10.x.x</a:t>
            </a:r>
            <a:endParaRPr lang="en-US" sz="17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Setup complete!</a:t>
            </a:r>
            <a:endParaRPr lang="en-US" sz="1750" dirty="0"/>
          </a:p>
        </p:txBody>
      </p:sp>
      <p:sp>
        <p:nvSpPr>
          <p:cNvPr id="24" name="Text 22"/>
          <p:cNvSpPr/>
          <p:nvPr/>
        </p:nvSpPr>
        <p:spPr>
          <a:xfrm>
            <a:off x="6461559" y="5899150"/>
            <a:ext cx="5730037" cy="329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❌</a:t>
            </a:r>
            <a:pPr algn="l" indent="0" marL="0">
              <a:lnSpc>
                <a:spcPct val="125000"/>
              </a:lnSpc>
              <a:buNone/>
            </a:pPr>
            <a:r>
              <a:rPr lang="en-US" sz="1750" dirty="0">
                <a:solidFill>
                  <a:srgbClr val="6B7F8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must be fixed.  </a:t>
            </a:r>
            <a:pPr algn="l" indent="0" marL="0">
              <a:lnSpc>
                <a:spcPct val="125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⚠</a:t>
            </a:r>
            <a:pPr algn="l" indent="0" marL="0">
              <a:lnSpc>
                <a:spcPct val="125000"/>
              </a:lnSpc>
              <a:buNone/>
            </a:pPr>
            <a:r>
              <a:rPr lang="en-US" sz="1750" dirty="0">
                <a:solidFill>
                  <a:srgbClr val="6B7F8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is optional.</a:t>
            </a:r>
            <a:endParaRPr lang="en-US" sz="17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16300" y="6375549"/>
            <a:ext cx="780832" cy="253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B7F8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26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609585" y="593328"/>
            <a:ext cx="10972526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b="1" spc="44" kern="100" dirty="0">
                <a:solidFill>
                  <a:srgbClr val="0B1F2A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The 8-week roadmap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09585" y="1706860"/>
            <a:ext cx="5364326" cy="975320"/>
          </a:xfrm>
          <a:prstGeom prst="roundRect">
            <a:avLst>
              <a:gd name="adj" fmla="val 12000"/>
            </a:avLst>
          </a:prstGeom>
          <a:solidFill>
            <a:srgbClr val="1FA67A"/>
          </a:solidFill>
          <a:ln w="12700">
            <a:solidFill>
              <a:srgbClr val="1FA67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3359" y="1914128"/>
            <a:ext cx="560770" cy="5607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567" y="2018010"/>
            <a:ext cx="1170355" cy="405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150" b="1" dirty="0">
                <a:solidFill>
                  <a:srgbClr val="1FA67A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1</a:t>
            </a:r>
            <a:endParaRPr lang="en-US" sz="2150" dirty="0"/>
          </a:p>
        </p:txBody>
      </p:sp>
      <p:sp>
        <p:nvSpPr>
          <p:cNvPr id="7" name="Text 5"/>
          <p:cNvSpPr/>
          <p:nvPr/>
        </p:nvSpPr>
        <p:spPr>
          <a:xfrm>
            <a:off x="1645799" y="2007791"/>
            <a:ext cx="3535572" cy="432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Setup &amp; Tooling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4510868" y="2011660"/>
            <a:ext cx="1341007" cy="365720"/>
          </a:xfrm>
          <a:prstGeom prst="roundRect">
            <a:avLst>
              <a:gd name="adj" fmla="val 49999"/>
            </a:avLst>
          </a:prstGeom>
          <a:solidFill>
            <a:srgbClr val="0B1F2A"/>
          </a:solidFill>
          <a:ln w="12700">
            <a:solidFill>
              <a:srgbClr val="0B1F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6075" y="2058591"/>
            <a:ext cx="195059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Complete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09585" y="2865041"/>
            <a:ext cx="5364326" cy="975320"/>
          </a:xfrm>
          <a:prstGeom prst="roundRect">
            <a:avLst>
              <a:gd name="adj" fmla="val 12000"/>
            </a:avLst>
          </a:prstGeom>
          <a:solidFill>
            <a:srgbClr val="3B82C4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3359" y="3072309"/>
            <a:ext cx="560770" cy="560784"/>
          </a:xfrm>
          <a:prstGeom prst="ellipse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3359" y="3072309"/>
            <a:ext cx="560770" cy="5607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548567" y="3149798"/>
            <a:ext cx="1170355" cy="405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150" dirty="0">
                <a:solidFill>
                  <a:srgbClr val="4736B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</a:t>
            </a:r>
            <a:endParaRPr lang="en-US" sz="2150" dirty="0"/>
          </a:p>
        </p:txBody>
      </p:sp>
      <p:sp>
        <p:nvSpPr>
          <p:cNvPr id="14" name="Text 12"/>
          <p:cNvSpPr/>
          <p:nvPr/>
        </p:nvSpPr>
        <p:spPr>
          <a:xfrm>
            <a:off x="1645799" y="3166070"/>
            <a:ext cx="4754741" cy="432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Python Fundamentals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609585" y="4023320"/>
            <a:ext cx="5364326" cy="97532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3359" y="4230588"/>
            <a:ext cx="560770" cy="560784"/>
          </a:xfrm>
          <a:prstGeom prst="ellipse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567" y="4334470"/>
            <a:ext cx="1170355" cy="405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15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3</a:t>
            </a:r>
            <a:endParaRPr lang="en-US" sz="2150" dirty="0"/>
          </a:p>
        </p:txBody>
      </p:sp>
      <p:sp>
        <p:nvSpPr>
          <p:cNvPr id="18" name="Text 16"/>
          <p:cNvSpPr/>
          <p:nvPr/>
        </p:nvSpPr>
        <p:spPr>
          <a:xfrm>
            <a:off x="1645799" y="4324350"/>
            <a:ext cx="4754741" cy="432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50" b="1" dirty="0">
                <a:solidFill>
                  <a:srgbClr val="0B1F2A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JavaScript Fundamentals</a:t>
            </a:r>
            <a:endParaRPr lang="en-US" sz="2250" dirty="0"/>
          </a:p>
        </p:txBody>
      </p:sp>
      <p:sp>
        <p:nvSpPr>
          <p:cNvPr id="19" name="Shape 17"/>
          <p:cNvSpPr/>
          <p:nvPr/>
        </p:nvSpPr>
        <p:spPr>
          <a:xfrm>
            <a:off x="609585" y="5181600"/>
            <a:ext cx="5364326" cy="97532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3359" y="5388769"/>
            <a:ext cx="560770" cy="560784"/>
          </a:xfrm>
          <a:prstGeom prst="ellipse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567" y="5492750"/>
            <a:ext cx="1170355" cy="405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15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4</a:t>
            </a:r>
            <a:endParaRPr lang="en-US" sz="2150" dirty="0"/>
          </a:p>
        </p:txBody>
      </p:sp>
      <p:sp>
        <p:nvSpPr>
          <p:cNvPr id="22" name="Text 20"/>
          <p:cNvSpPr/>
          <p:nvPr/>
        </p:nvSpPr>
        <p:spPr>
          <a:xfrm>
            <a:off x="1645799" y="5482530"/>
            <a:ext cx="4754741" cy="432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50" b="1" dirty="0">
                <a:solidFill>
                  <a:srgbClr val="0B1F2A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Backend with FastAPI</a:t>
            </a:r>
            <a:endParaRPr lang="en-US" sz="2250" dirty="0"/>
          </a:p>
        </p:txBody>
      </p:sp>
      <p:sp>
        <p:nvSpPr>
          <p:cNvPr id="23" name="Shape 21"/>
          <p:cNvSpPr/>
          <p:nvPr/>
        </p:nvSpPr>
        <p:spPr>
          <a:xfrm>
            <a:off x="6217685" y="1706860"/>
            <a:ext cx="5364326" cy="97532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61559" y="1914128"/>
            <a:ext cx="560770" cy="560784"/>
          </a:xfrm>
          <a:prstGeom prst="ellipse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56766" y="2018010"/>
            <a:ext cx="1170355" cy="405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15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5</a:t>
            </a:r>
            <a:endParaRPr lang="en-US" sz="2150" dirty="0"/>
          </a:p>
        </p:txBody>
      </p:sp>
      <p:sp>
        <p:nvSpPr>
          <p:cNvPr id="26" name="Text 24"/>
          <p:cNvSpPr/>
          <p:nvPr/>
        </p:nvSpPr>
        <p:spPr>
          <a:xfrm>
            <a:off x="7253999" y="2007791"/>
            <a:ext cx="4754741" cy="432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50" b="1" dirty="0">
                <a:solidFill>
                  <a:srgbClr val="0B1F2A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HTML, CSS &amp; Vanilla JS</a:t>
            </a:r>
            <a:endParaRPr lang="en-US" sz="2250" dirty="0"/>
          </a:p>
        </p:txBody>
      </p:sp>
      <p:sp>
        <p:nvSpPr>
          <p:cNvPr id="27" name="Shape 25"/>
          <p:cNvSpPr/>
          <p:nvPr/>
        </p:nvSpPr>
        <p:spPr>
          <a:xfrm>
            <a:off x="6217685" y="2865041"/>
            <a:ext cx="5364326" cy="97532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61559" y="3072309"/>
            <a:ext cx="560770" cy="560784"/>
          </a:xfrm>
          <a:prstGeom prst="ellipse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56766" y="3176191"/>
            <a:ext cx="1170355" cy="405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15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6</a:t>
            </a:r>
            <a:endParaRPr lang="en-US" sz="2150" dirty="0"/>
          </a:p>
        </p:txBody>
      </p:sp>
      <p:sp>
        <p:nvSpPr>
          <p:cNvPr id="30" name="Text 28"/>
          <p:cNvSpPr/>
          <p:nvPr/>
        </p:nvSpPr>
        <p:spPr>
          <a:xfrm>
            <a:off x="7253999" y="3166070"/>
            <a:ext cx="4754741" cy="432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50" b="1" dirty="0">
                <a:solidFill>
                  <a:srgbClr val="0B1F2A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React, Rebuilt</a:t>
            </a:r>
            <a:endParaRPr lang="en-US" sz="2250" dirty="0"/>
          </a:p>
        </p:txBody>
      </p:sp>
      <p:sp>
        <p:nvSpPr>
          <p:cNvPr id="31" name="Shape 29"/>
          <p:cNvSpPr/>
          <p:nvPr/>
        </p:nvSpPr>
        <p:spPr>
          <a:xfrm>
            <a:off x="6217685" y="4023320"/>
            <a:ext cx="5364326" cy="97532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61559" y="4230588"/>
            <a:ext cx="560770" cy="560784"/>
          </a:xfrm>
          <a:prstGeom prst="ellipse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56766" y="4334470"/>
            <a:ext cx="1170355" cy="405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15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7</a:t>
            </a:r>
            <a:endParaRPr lang="en-US" sz="2150" dirty="0"/>
          </a:p>
        </p:txBody>
      </p:sp>
      <p:sp>
        <p:nvSpPr>
          <p:cNvPr id="34" name="Text 32"/>
          <p:cNvSpPr/>
          <p:nvPr/>
        </p:nvSpPr>
        <p:spPr>
          <a:xfrm>
            <a:off x="7253999" y="4324350"/>
            <a:ext cx="4754741" cy="432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50" b="1" dirty="0">
                <a:solidFill>
                  <a:srgbClr val="0B1F2A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Full-Stack Integration</a:t>
            </a:r>
            <a:endParaRPr lang="en-US" sz="2250" dirty="0"/>
          </a:p>
        </p:txBody>
      </p:sp>
      <p:sp>
        <p:nvSpPr>
          <p:cNvPr id="35" name="Shape 33"/>
          <p:cNvSpPr/>
          <p:nvPr/>
        </p:nvSpPr>
        <p:spPr>
          <a:xfrm>
            <a:off x="6217685" y="5181600"/>
            <a:ext cx="5364326" cy="97532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61559" y="5388769"/>
            <a:ext cx="560770" cy="560784"/>
          </a:xfrm>
          <a:prstGeom prst="ellipse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56766" y="5492750"/>
            <a:ext cx="1170355" cy="405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15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8</a:t>
            </a:r>
            <a:endParaRPr lang="en-US" sz="2150" dirty="0"/>
          </a:p>
        </p:txBody>
      </p:sp>
      <p:sp>
        <p:nvSpPr>
          <p:cNvPr id="38" name="Text 36"/>
          <p:cNvSpPr/>
          <p:nvPr/>
        </p:nvSpPr>
        <p:spPr>
          <a:xfrm>
            <a:off x="7253999" y="5482530"/>
            <a:ext cx="4754741" cy="432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50" b="1" dirty="0">
                <a:solidFill>
                  <a:srgbClr val="0B1F2A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Capstone &amp; Demo Day</a:t>
            </a:r>
            <a:endParaRPr lang="en-US" sz="2250" dirty="0"/>
          </a:p>
        </p:txBody>
      </p:sp>
      <p:sp>
        <p:nvSpPr>
          <p:cNvPr id="39" name="Text 37"/>
          <p:cNvSpPr/>
          <p:nvPr/>
        </p:nvSpPr>
        <p:spPr>
          <a:xfrm>
            <a:off x="4145156" y="3229868"/>
            <a:ext cx="195059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Next Class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2026-10-17T08:37:58Z</dcterms:created>
  <dcterms:modified xsi:type="dcterms:W3CDTF">2026-10-17T08:37:58Z</dcterms:modified>
</cp:coreProperties>
</file>
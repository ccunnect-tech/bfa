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4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BFA stands for Build Full Stack 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yourself. Mention you have worked across full stack, SDE and AI roles, so you know what the industry expects.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Raji. Details come from her profile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is Week 1: setup and the start of Python. Next lecture is Week 2: Python Fundamentals. The course ends with a capstone and demo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what BFA is in your own words here. Hands-on, no prior experience needed, everything lives in one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Today we get every laptop ready, then write our first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rules for the room. Repeat them whenever someone is stuck or copying.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Roughly: 45-60 min setup, 10 min break/checkpoint, 45 min coding, 5 min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Git is the save-game system on your laptop. GitHub is the cloud where saves live. GitHub Desktop is the friendly buttons.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Original repo is ours. Fork is yours on GitHub. Clone puts it on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save-game analogy. Repository = project folder with history. Commit = a save point. Push = upload saves. Pull = download others' saves.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Real-world: freelancers and teams both rely on this daily.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is the stable version. Nobody edits it directly. Each person works on a branch, then asks to merge with a pull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picture. Main is the stable line. Priya and Sam each branch off, commit on their own line, then merge back. Nobody breaks main while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ideas, then tell the story: Priya and Sam work at the same time without touching each other's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merge conflict happens when two people edit the same lines. Git asks a human to decide. It is normal, not a disaster.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runs JavaScript on your computer. We use it with React in later classes. npm comes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Windows: the PATH checkbox is the number one cause of problems. Say it loudly.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must show a screenshot of the output. 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chemeClr val="accent1"/>
                </a:solidFill>
              </a:rPr>
              <a:t>WELCOME, EVERYONE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5544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BFA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004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Build Full Stack Application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instructor: Faisal K</a:t>
            </a:r>
            <a:endParaRPr lang="en-US" sz="3000" dirty="0"/>
          </a:p>
        </p:txBody>
      </p:sp>
      <p:sp>
        <p:nvSpPr>
          <p:cNvPr id="4" name="photo ring"/>
          <p:cNvSpPr/>
          <p:nvPr/>
        </p:nvSpPr>
        <p:spPr>
          <a:xfrm>
            <a:off x="658368" y="1389888"/>
            <a:ext cx="2340864" cy="23408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hoto of Faisal 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2194560" cy="2194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Faisal K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AI – FDE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384048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Previously worked as</a:t>
            </a:r>
            <a:endParaRPr lang="en-US" sz="1800" dirty="0"/>
          </a:p>
        </p:txBody>
      </p:sp>
      <p:sp>
        <p:nvSpPr>
          <p:cNvPr id="9" name="role card"/>
          <p:cNvSpPr/>
          <p:nvPr/>
        </p:nvSpPr>
        <p:spPr>
          <a:xfrm>
            <a:off x="3840480" y="182880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4023360" y="204825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02336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19019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Full-stack developer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22677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Built web apps end to end, front end to back end.</a:t>
            </a:r>
            <a:endParaRPr lang="en-US" sz="1300" dirty="0"/>
          </a:p>
        </p:txBody>
      </p:sp>
      <p:sp>
        <p:nvSpPr>
          <p:cNvPr id="14" name="role card"/>
          <p:cNvSpPr/>
          <p:nvPr/>
        </p:nvSpPr>
        <p:spPr>
          <a:xfrm>
            <a:off x="3840480" y="278892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4023360" y="300837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02336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46634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Software engineer (SDE)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663440" y="32278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Shipped and maintained production software.</a:t>
            </a:r>
            <a:endParaRPr lang="en-US" sz="1300" dirty="0"/>
          </a:p>
        </p:txBody>
      </p:sp>
      <p:sp>
        <p:nvSpPr>
          <p:cNvPr id="19" name="role card"/>
          <p:cNvSpPr/>
          <p:nvPr/>
        </p:nvSpPr>
        <p:spPr>
          <a:xfrm>
            <a:off x="3840480" y="3749040"/>
            <a:ext cx="484632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tep number"/>
          <p:cNvSpPr/>
          <p:nvPr/>
        </p:nvSpPr>
        <p:spPr>
          <a:xfrm>
            <a:off x="4023360" y="396849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02336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663440" y="38221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AI engineer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4663440" y="41879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Built AI-powered features and systems.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instructor: Raji RV</a:t>
            </a:r>
            <a:endParaRPr lang="en-US" sz="3000" dirty="0"/>
          </a:p>
        </p:txBody>
      </p:sp>
      <p:sp>
        <p:nvSpPr>
          <p:cNvPr id="4" name="photo ring"/>
          <p:cNvSpPr/>
          <p:nvPr/>
        </p:nvSpPr>
        <p:spPr>
          <a:xfrm>
            <a:off x="658368" y="1389888"/>
            <a:ext cx="2340864" cy="23408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hoto of Raji R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2194560" cy="2194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Raji RV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AI – FDE  ·  IBM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384048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AI Forward Deployed Engineer</a:t>
            </a:r>
            <a:endParaRPr lang="en-US" sz="2000" dirty="0"/>
          </a:p>
        </p:txBody>
      </p:sp>
      <p:sp>
        <p:nvSpPr>
          <p:cNvPr id="9" name="highlight card"/>
          <p:cNvSpPr/>
          <p:nvPr/>
        </p:nvSpPr>
        <p:spPr>
          <a:xfrm>
            <a:off x="3840480" y="1965960"/>
            <a:ext cx="484632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3977640" y="2103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196596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Enterprise AI &amp; Agentic Systems</a:t>
            </a:r>
            <a:endParaRPr lang="en-US" sz="1600" dirty="0"/>
          </a:p>
        </p:txBody>
      </p:sp>
      <p:sp>
        <p:nvSpPr>
          <p:cNvPr id="13" name="highlight card"/>
          <p:cNvSpPr/>
          <p:nvPr/>
        </p:nvSpPr>
        <p:spPr>
          <a:xfrm>
            <a:off x="3840480" y="2788920"/>
            <a:ext cx="484632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number"/>
          <p:cNvSpPr/>
          <p:nvPr/>
        </p:nvSpPr>
        <p:spPr>
          <a:xfrm>
            <a:off x="397764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97764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78892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From Prototype to Production</a:t>
            </a:r>
            <a:endParaRPr lang="en-US" sz="1600" dirty="0"/>
          </a:p>
        </p:txBody>
      </p:sp>
      <p:sp>
        <p:nvSpPr>
          <p:cNvPr id="17" name="highlight card"/>
          <p:cNvSpPr/>
          <p:nvPr/>
        </p:nvSpPr>
        <p:spPr>
          <a:xfrm>
            <a:off x="3840480" y="3611880"/>
            <a:ext cx="484632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tep number"/>
          <p:cNvSpPr/>
          <p:nvPr/>
        </p:nvSpPr>
        <p:spPr>
          <a:xfrm>
            <a:off x="3977640" y="3749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9776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617720" y="361188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Leading Women 2026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8-week roadmap</a:t>
            </a:r>
            <a:endParaRPr lang="en-US" sz="3000" dirty="0"/>
          </a:p>
        </p:txBody>
      </p:sp>
      <p:sp>
        <p:nvSpPr>
          <p:cNvPr id="4" name="week card"/>
          <p:cNvSpPr/>
          <p:nvPr/>
        </p:nvSpPr>
        <p:spPr>
          <a:xfrm>
            <a:off x="457200" y="128016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week number"/>
          <p:cNvSpPr/>
          <p:nvPr/>
        </p:nvSpPr>
        <p:spPr>
          <a:xfrm>
            <a:off x="640080" y="1435608"/>
            <a:ext cx="420624" cy="4206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2801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Setup &amp; Tooling</a:t>
            </a:r>
            <a:endParaRPr lang="en-US" sz="1700" dirty="0"/>
          </a:p>
        </p:txBody>
      </p:sp>
      <p:sp>
        <p:nvSpPr>
          <p:cNvPr id="8" name="chip"/>
          <p:cNvSpPr/>
          <p:nvPr/>
        </p:nvSpPr>
        <p:spPr>
          <a:xfrm>
            <a:off x="3383280" y="150876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8328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You are here</a:t>
            </a:r>
            <a:endParaRPr lang="en-US" sz="1200" dirty="0"/>
          </a:p>
        </p:txBody>
      </p:sp>
      <p:sp>
        <p:nvSpPr>
          <p:cNvPr id="10" name="week card"/>
          <p:cNvSpPr/>
          <p:nvPr/>
        </p:nvSpPr>
        <p:spPr>
          <a:xfrm>
            <a:off x="457200" y="21488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eek number"/>
          <p:cNvSpPr/>
          <p:nvPr/>
        </p:nvSpPr>
        <p:spPr>
          <a:xfrm>
            <a:off x="640080" y="230428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2148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Python Fundamentals</a:t>
            </a:r>
            <a:endParaRPr lang="en-US" sz="1700" dirty="0"/>
          </a:p>
        </p:txBody>
      </p:sp>
      <p:sp>
        <p:nvSpPr>
          <p:cNvPr id="14" name="week card"/>
          <p:cNvSpPr/>
          <p:nvPr/>
        </p:nvSpPr>
        <p:spPr>
          <a:xfrm>
            <a:off x="457200" y="301752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week number"/>
          <p:cNvSpPr/>
          <p:nvPr/>
        </p:nvSpPr>
        <p:spPr>
          <a:xfrm>
            <a:off x="640080" y="31729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017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JavaScript Fundamentals</a:t>
            </a:r>
            <a:endParaRPr lang="en-US" sz="1700" dirty="0"/>
          </a:p>
        </p:txBody>
      </p:sp>
      <p:sp>
        <p:nvSpPr>
          <p:cNvPr id="18" name="week card"/>
          <p:cNvSpPr/>
          <p:nvPr/>
        </p:nvSpPr>
        <p:spPr>
          <a:xfrm>
            <a:off x="457200" y="388620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week number"/>
          <p:cNvSpPr/>
          <p:nvPr/>
        </p:nvSpPr>
        <p:spPr>
          <a:xfrm>
            <a:off x="640080" y="404164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3886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Backend with FastAPI</a:t>
            </a:r>
            <a:endParaRPr lang="en-US" sz="1700" dirty="0"/>
          </a:p>
        </p:txBody>
      </p:sp>
      <p:sp>
        <p:nvSpPr>
          <p:cNvPr id="22" name="week card"/>
          <p:cNvSpPr/>
          <p:nvPr/>
        </p:nvSpPr>
        <p:spPr>
          <a:xfrm>
            <a:off x="4663440" y="128016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week number"/>
          <p:cNvSpPr/>
          <p:nvPr/>
        </p:nvSpPr>
        <p:spPr>
          <a:xfrm>
            <a:off x="4846320" y="1435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46320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40680" y="1280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HTML, CSS &amp; Vanilla JS</a:t>
            </a:r>
            <a:endParaRPr lang="en-US" sz="1700" dirty="0"/>
          </a:p>
        </p:txBody>
      </p:sp>
      <p:sp>
        <p:nvSpPr>
          <p:cNvPr id="26" name="week card"/>
          <p:cNvSpPr/>
          <p:nvPr/>
        </p:nvSpPr>
        <p:spPr>
          <a:xfrm>
            <a:off x="4663440" y="214884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week number"/>
          <p:cNvSpPr/>
          <p:nvPr/>
        </p:nvSpPr>
        <p:spPr>
          <a:xfrm>
            <a:off x="4846320" y="230428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846320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440680" y="2148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React, Rebuilt</a:t>
            </a:r>
            <a:endParaRPr lang="en-US" sz="1700" dirty="0"/>
          </a:p>
        </p:txBody>
      </p:sp>
      <p:sp>
        <p:nvSpPr>
          <p:cNvPr id="30" name="week card"/>
          <p:cNvSpPr/>
          <p:nvPr/>
        </p:nvSpPr>
        <p:spPr>
          <a:xfrm>
            <a:off x="4663440" y="301752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week number"/>
          <p:cNvSpPr/>
          <p:nvPr/>
        </p:nvSpPr>
        <p:spPr>
          <a:xfrm>
            <a:off x="4846320" y="31729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4632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440680" y="3017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Full-Stack Integration</a:t>
            </a:r>
            <a:endParaRPr lang="en-US" sz="1700" dirty="0"/>
          </a:p>
        </p:txBody>
      </p:sp>
      <p:sp>
        <p:nvSpPr>
          <p:cNvPr id="34" name="week card"/>
          <p:cNvSpPr/>
          <p:nvPr/>
        </p:nvSpPr>
        <p:spPr>
          <a:xfrm>
            <a:off x="4663440" y="3886200"/>
            <a:ext cx="40233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week number"/>
          <p:cNvSpPr/>
          <p:nvPr/>
        </p:nvSpPr>
        <p:spPr>
          <a:xfrm>
            <a:off x="4846320" y="404164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846320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5440680" y="3886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Capstone &amp; Demo Day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this course</a:t>
            </a:r>
            <a:endParaRPr lang="en-US" sz="3000" dirty="0"/>
          </a:p>
        </p:txBody>
      </p:sp>
      <p:sp>
        <p:nvSpPr>
          <p:cNvPr id="4" name="about card"/>
          <p:cNvSpPr/>
          <p:nvPr/>
        </p:nvSpPr>
        <p:spPr>
          <a:xfrm>
            <a:off x="457200" y="1280160"/>
            <a:ext cx="384048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What it is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2024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hands-on, task-based course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Learn by doing, not by watching slides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programming experience needed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Includes working with modern tools, including AI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0" y="1280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How the course goes</a:t>
            </a:r>
            <a:endParaRPr lang="en-US" sz="1800" dirty="0"/>
          </a:p>
        </p:txBody>
      </p:sp>
      <p:sp>
        <p:nvSpPr>
          <p:cNvPr id="8" name="course step"/>
          <p:cNvSpPr/>
          <p:nvPr/>
        </p:nvSpPr>
        <p:spPr>
          <a:xfrm>
            <a:off x="4572000" y="1783080"/>
            <a:ext cx="4114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number"/>
          <p:cNvSpPr/>
          <p:nvPr/>
        </p:nvSpPr>
        <p:spPr>
          <a:xfrm>
            <a:off x="4754880" y="19842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1856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Live class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349240" y="21854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You code alongside the instructor</a:t>
            </a:r>
            <a:endParaRPr lang="en-US" sz="1300" dirty="0"/>
          </a:p>
        </p:txBody>
      </p:sp>
      <p:sp>
        <p:nvSpPr>
          <p:cNvPr id="13" name="course step"/>
          <p:cNvSpPr/>
          <p:nvPr/>
        </p:nvSpPr>
        <p:spPr>
          <a:xfrm>
            <a:off x="4572000" y="2697480"/>
            <a:ext cx="4114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tep number"/>
          <p:cNvSpPr/>
          <p:nvPr/>
        </p:nvSpPr>
        <p:spPr>
          <a:xfrm>
            <a:off x="4754880" y="28986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349240" y="27706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After-class tasks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49240" y="30998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Finish more tasks on your own</a:t>
            </a:r>
            <a:endParaRPr lang="en-US" sz="1300" dirty="0"/>
          </a:p>
        </p:txBody>
      </p:sp>
      <p:sp>
        <p:nvSpPr>
          <p:cNvPr id="18" name="course step"/>
          <p:cNvSpPr/>
          <p:nvPr/>
        </p:nvSpPr>
        <p:spPr>
          <a:xfrm>
            <a:off x="4572000" y="3611880"/>
            <a:ext cx="4114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ep number"/>
          <p:cNvSpPr/>
          <p:nvPr/>
        </p:nvSpPr>
        <p:spPr>
          <a:xfrm>
            <a:off x="4754880" y="38130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5488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349240" y="36850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Submit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349240" y="40142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Push your work to your GitHub repo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chemeClr val="accent1"/>
                </a:solidFill>
              </a:rPr>
              <a:t>CLASS 1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3716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 your computer,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write your first code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Git and GitHub  ·  Node.js  ·  Python  ·  VS Code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Hands-on course. No slides to memorize, just tasks to 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learn in this course</a:t>
            </a:r>
            <a:endParaRPr lang="en-US" sz="3000" dirty="0"/>
          </a:p>
        </p:txBody>
      </p:sp>
      <p:sp>
        <p:nvSpPr>
          <p:cNvPr id="4" name="rule card"/>
          <p:cNvSpPr/>
          <p:nvPr/>
        </p:nvSpPr>
        <p:spPr>
          <a:xfrm>
            <a:off x="45720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it yourself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We code from minute one. No copy-paste.</a:t>
            </a:r>
            <a:endParaRPr lang="en-US" sz="1500" dirty="0"/>
          </a:p>
        </p:txBody>
      </p:sp>
      <p:sp>
        <p:nvSpPr>
          <p:cNvPr id="9" name="rule card"/>
          <p:cNvSpPr/>
          <p:nvPr/>
        </p:nvSpPr>
        <p:spPr>
          <a:xfrm>
            <a:off x="329184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3520440" y="1600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204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it, fix it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Errors are how programmers learn.</a:t>
            </a:r>
            <a:endParaRPr lang="en-US" sz="1500" dirty="0"/>
          </a:p>
        </p:txBody>
      </p:sp>
      <p:sp>
        <p:nvSpPr>
          <p:cNvPr id="14" name="rule card"/>
          <p:cNvSpPr/>
          <p:nvPr/>
        </p:nvSpPr>
        <p:spPr>
          <a:xfrm>
            <a:off x="612648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6355080" y="1600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55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40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early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Stuck for 3 minutes? Put your hand up.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plan</a:t>
            </a:r>
            <a:endParaRPr lang="en-US" sz="3000" dirty="0"/>
          </a:p>
        </p:txBody>
      </p:sp>
      <p:sp>
        <p:nvSpPr>
          <p:cNvPr id="4" name="plan card"/>
          <p:cNvSpPr/>
          <p:nvPr/>
        </p:nvSpPr>
        <p:spPr>
          <a:xfrm>
            <a:off x="45720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59436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Git and GitHub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What they are, account, fork, clone</a:t>
            </a:r>
            <a:endParaRPr lang="en-US" sz="1400" dirty="0"/>
          </a:p>
        </p:txBody>
      </p:sp>
      <p:sp>
        <p:nvSpPr>
          <p:cNvPr id="9" name="plan card"/>
          <p:cNvSpPr/>
          <p:nvPr/>
        </p:nvSpPr>
        <p:spPr>
          <a:xfrm>
            <a:off x="210312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224028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402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Install tools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Node.js, Python, VS Code</a:t>
            </a:r>
            <a:endParaRPr lang="en-US" sz="1400" dirty="0"/>
          </a:p>
        </p:txBody>
      </p:sp>
      <p:sp>
        <p:nvSpPr>
          <p:cNvPr id="14" name="plan card"/>
          <p:cNvSpPr/>
          <p:nvPr/>
        </p:nvSpPr>
        <p:spPr>
          <a:xfrm>
            <a:off x="374904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38862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88620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Verify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88620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Run check_setup.py</a:t>
            </a:r>
            <a:endParaRPr lang="en-US" sz="1400" dirty="0"/>
          </a:p>
        </p:txBody>
      </p:sp>
      <p:sp>
        <p:nvSpPr>
          <p:cNvPr id="19" name="plan card"/>
          <p:cNvSpPr/>
          <p:nvPr/>
        </p:nvSpPr>
        <p:spPr>
          <a:xfrm>
            <a:off x="539496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tep number"/>
          <p:cNvSpPr/>
          <p:nvPr/>
        </p:nvSpPr>
        <p:spPr>
          <a:xfrm>
            <a:off x="5532120" y="1554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3212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53212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Write Python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53212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coding together</a:t>
            </a:r>
            <a:endParaRPr lang="en-US" sz="1400" dirty="0"/>
          </a:p>
        </p:txBody>
      </p:sp>
      <p:sp>
        <p:nvSpPr>
          <p:cNvPr id="24" name="plan card"/>
          <p:cNvSpPr/>
          <p:nvPr/>
        </p:nvSpPr>
        <p:spPr>
          <a:xfrm>
            <a:off x="704088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tep number"/>
          <p:cNvSpPr/>
          <p:nvPr/>
        </p:nvSpPr>
        <p:spPr>
          <a:xfrm>
            <a:off x="7178040" y="1554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178040" y="21031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Homework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17804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Practice problems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Green = setup (before we code).  Blue = coding.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Git, GitHub and GitHub Desktop</a:t>
            </a:r>
            <a:endParaRPr lang="en-US" sz="3000" dirty="0"/>
          </a:p>
        </p:txBody>
      </p:sp>
      <p:sp>
        <p:nvSpPr>
          <p:cNvPr id="4" name="concept card"/>
          <p:cNvSpPr/>
          <p:nvPr/>
        </p:nvSpPr>
        <p:spPr>
          <a:xfrm>
            <a:off x="457200" y="137160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ncept dot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tool on your laptop that records every version of your files. Like unlimited undo.</a:t>
            </a:r>
            <a:endParaRPr lang="en-US" sz="1400" dirty="0"/>
          </a:p>
        </p:txBody>
      </p:sp>
      <p:sp>
        <p:nvSpPr>
          <p:cNvPr id="8" name="concept card"/>
          <p:cNvSpPr/>
          <p:nvPr/>
        </p:nvSpPr>
        <p:spPr>
          <a:xfrm>
            <a:off x="3291840" y="137160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ncept dot"/>
          <p:cNvSpPr/>
          <p:nvPr/>
        </p:nvSpPr>
        <p:spPr>
          <a:xfrm>
            <a:off x="3520440" y="1600200"/>
            <a:ext cx="457200" cy="4572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204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website that stores your Git projects online. Your backup, and how you share work.</a:t>
            </a:r>
            <a:endParaRPr lang="en-US" sz="1400" dirty="0"/>
          </a:p>
        </p:txBody>
      </p:sp>
      <p:sp>
        <p:nvSpPr>
          <p:cNvPr id="12" name="concept card"/>
          <p:cNvSpPr/>
          <p:nvPr/>
        </p:nvSpPr>
        <p:spPr>
          <a:xfrm>
            <a:off x="6126480" y="137160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oncept dot"/>
          <p:cNvSpPr/>
          <p:nvPr/>
        </p:nvSpPr>
        <p:spPr>
          <a:xfrm>
            <a:off x="6355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5508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Desktop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app with buttons for Git. No commands to memorize.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Every developer uses Git. It is how teams work on the same code without overwriting each other.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your copy of the course works</a:t>
            </a:r>
            <a:endParaRPr lang="en-US" sz="3000" dirty="0"/>
          </a:p>
        </p:txBody>
      </p:sp>
      <p:sp>
        <p:nvSpPr>
          <p:cNvPr id="4" name="flow box"/>
          <p:cNvSpPr/>
          <p:nvPr/>
        </p:nvSpPr>
        <p:spPr>
          <a:xfrm>
            <a:off x="457200" y="1554480"/>
            <a:ext cx="2377440" cy="1554480"/>
          </a:xfrm>
          <a:prstGeom prst="roundRect">
            <a:avLst>
              <a:gd name="adj" fmla="val 470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repo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Original, on GitHub</a:t>
            </a:r>
            <a:endParaRPr lang="en-US" sz="1400" dirty="0"/>
          </a:p>
        </p:txBody>
      </p:sp>
      <p:sp>
        <p:nvSpPr>
          <p:cNvPr id="7" name="flow arrow"/>
          <p:cNvSpPr/>
          <p:nvPr/>
        </p:nvSpPr>
        <p:spPr>
          <a:xfrm>
            <a:off x="2926080" y="2148840"/>
            <a:ext cx="45720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834640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Fork</a:t>
            </a:r>
            <a:endParaRPr lang="en-US" sz="1400" dirty="0"/>
          </a:p>
        </p:txBody>
      </p:sp>
      <p:sp>
        <p:nvSpPr>
          <p:cNvPr id="9" name="flow box"/>
          <p:cNvSpPr/>
          <p:nvPr/>
        </p:nvSpPr>
        <p:spPr>
          <a:xfrm>
            <a:off x="3474720" y="1554480"/>
            <a:ext cx="2377440" cy="1554480"/>
          </a:xfrm>
          <a:prstGeom prst="roundRect">
            <a:avLst>
              <a:gd name="adj" fmla="val 470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7472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fork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Your copy, on GitHub</a:t>
            </a:r>
            <a:endParaRPr lang="en-US" sz="1400" dirty="0"/>
          </a:p>
        </p:txBody>
      </p:sp>
      <p:sp>
        <p:nvSpPr>
          <p:cNvPr id="12" name="flow arrow"/>
          <p:cNvSpPr/>
          <p:nvPr/>
        </p:nvSpPr>
        <p:spPr>
          <a:xfrm>
            <a:off x="5943600" y="2148840"/>
            <a:ext cx="45720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0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Clone</a:t>
            </a:r>
            <a:endParaRPr lang="en-US" sz="1400" dirty="0"/>
          </a:p>
        </p:txBody>
      </p:sp>
      <p:sp>
        <p:nvSpPr>
          <p:cNvPr id="14" name="flow box"/>
          <p:cNvSpPr/>
          <p:nvPr/>
        </p:nvSpPr>
        <p:spPr>
          <a:xfrm>
            <a:off x="6492240" y="1554480"/>
            <a:ext cx="23774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laptop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Cloned folder in VS Code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Your work goes into your copy. You can still pull updates from the original.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in four words</a:t>
            </a:r>
            <a:endParaRPr lang="en-US" sz="3000" dirty="0"/>
          </a:p>
        </p:txBody>
      </p:sp>
      <p:sp>
        <p:nvSpPr>
          <p:cNvPr id="4" name="vocab card"/>
          <p:cNvSpPr/>
          <p:nvPr/>
        </p:nvSpPr>
        <p:spPr>
          <a:xfrm>
            <a:off x="45720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vocab dot"/>
          <p:cNvSpPr/>
          <p:nvPr/>
        </p:nvSpPr>
        <p:spPr>
          <a:xfrm>
            <a:off x="640080" y="155448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project folder plus its full history. Also called a repo.</a:t>
            </a:r>
            <a:endParaRPr lang="en-US" sz="1400" dirty="0"/>
          </a:p>
        </p:txBody>
      </p:sp>
      <p:sp>
        <p:nvSpPr>
          <p:cNvPr id="8" name="vocab card"/>
          <p:cNvSpPr/>
          <p:nvPr/>
        </p:nvSpPr>
        <p:spPr>
          <a:xfrm>
            <a:off x="256032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vocab dot"/>
          <p:cNvSpPr/>
          <p:nvPr/>
        </p:nvSpPr>
        <p:spPr>
          <a:xfrm>
            <a:off x="274320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4320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74320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save point with a short message, like "Add greeting function".</a:t>
            </a:r>
            <a:endParaRPr lang="en-US" sz="1400" dirty="0"/>
          </a:p>
        </p:txBody>
      </p:sp>
      <p:sp>
        <p:nvSpPr>
          <p:cNvPr id="12" name="vocab card"/>
          <p:cNvSpPr/>
          <p:nvPr/>
        </p:nvSpPr>
        <p:spPr>
          <a:xfrm>
            <a:off x="466344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vocab dot"/>
          <p:cNvSpPr/>
          <p:nvPr/>
        </p:nvSpPr>
        <p:spPr>
          <a:xfrm>
            <a:off x="4846320" y="155448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4632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your commits from your laptop to GitHub.</a:t>
            </a:r>
            <a:endParaRPr lang="en-US" sz="1400" dirty="0"/>
          </a:p>
        </p:txBody>
      </p:sp>
      <p:sp>
        <p:nvSpPr>
          <p:cNvPr id="16" name="vocab card"/>
          <p:cNvSpPr/>
          <p:nvPr/>
        </p:nvSpPr>
        <p:spPr>
          <a:xfrm>
            <a:off x="6766560" y="1371600"/>
            <a:ext cx="1965960" cy="246888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vocab dot"/>
          <p:cNvSpPr/>
          <p:nvPr/>
        </p:nvSpPr>
        <p:spPr>
          <a:xfrm>
            <a:off x="6949440" y="155448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5603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Download new commits from GitHub to your laptop.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Your daily loop:  edit files  →  commit  →  push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developers use Git</a:t>
            </a:r>
            <a:endParaRPr lang="en-US" sz="3000" dirty="0"/>
          </a:p>
        </p:txBody>
      </p:sp>
      <p:sp>
        <p:nvSpPr>
          <p:cNvPr id="4" name="benefit card"/>
          <p:cNvSpPr/>
          <p:nvPr/>
        </p:nvSpPr>
        <p:spPr>
          <a:xfrm>
            <a:off x="45720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685800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Undo anything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commit is a snapshot. Go back to any earlier version.</a:t>
            </a:r>
            <a:endParaRPr lang="en-US" sz="1400" dirty="0"/>
          </a:p>
        </p:txBody>
      </p:sp>
      <p:sp>
        <p:nvSpPr>
          <p:cNvPr id="9" name="benefit card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number"/>
          <p:cNvSpPr/>
          <p:nvPr/>
        </p:nvSpPr>
        <p:spPr>
          <a:xfrm>
            <a:off x="4892040" y="1600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920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Nothing gets lost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Your code lives on GitHub too, not just on one laptop.</a:t>
            </a:r>
            <a:endParaRPr lang="en-US" sz="1400" dirty="0"/>
          </a:p>
        </p:txBody>
      </p:sp>
      <p:sp>
        <p:nvSpPr>
          <p:cNvPr id="14" name="benefit card"/>
          <p:cNvSpPr/>
          <p:nvPr/>
        </p:nvSpPr>
        <p:spPr>
          <a:xfrm>
            <a:off x="45720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number"/>
          <p:cNvSpPr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Work together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Many people change the same project without overwriting each other.</a:t>
            </a:r>
            <a:endParaRPr lang="en-US" sz="1400" dirty="0"/>
          </a:p>
        </p:txBody>
      </p:sp>
      <p:sp>
        <p:nvSpPr>
          <p:cNvPr id="19" name="benefit card"/>
          <p:cNvSpPr/>
          <p:nvPr/>
        </p:nvSpPr>
        <p:spPr>
          <a:xfrm>
            <a:off x="466344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tep number"/>
          <p:cNvSpPr/>
          <p:nvPr/>
        </p:nvSpPr>
        <p:spPr>
          <a:xfrm>
            <a:off x="4892040" y="3154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920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Show your work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Your GitHub profile becomes your portfolio for clients and employers.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teams work on GitHub</a:t>
            </a:r>
            <a:endParaRPr lang="en-US" sz="3000" dirty="0"/>
          </a:p>
        </p:txBody>
      </p:sp>
      <p:sp>
        <p:nvSpPr>
          <p:cNvPr id="4" name="workflow box"/>
          <p:cNvSpPr/>
          <p:nvPr/>
        </p:nvSpPr>
        <p:spPr>
          <a:xfrm>
            <a:off x="45720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number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Branch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Your own safe copy of the project</a:t>
            </a:r>
            <a:endParaRPr lang="en-US" sz="1300" dirty="0"/>
          </a:p>
        </p:txBody>
      </p:sp>
      <p:sp>
        <p:nvSpPr>
          <p:cNvPr id="9" name="workflow arrow"/>
          <p:cNvSpPr/>
          <p:nvPr/>
        </p:nvSpPr>
        <p:spPr>
          <a:xfrm>
            <a:off x="194767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workflow box"/>
          <p:cNvSpPr/>
          <p:nvPr/>
        </p:nvSpPr>
        <p:spPr>
          <a:xfrm>
            <a:off x="214884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ep number"/>
          <p:cNvSpPr/>
          <p:nvPr/>
        </p:nvSpPr>
        <p:spPr>
          <a:xfrm>
            <a:off x="228600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Commit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28600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Save your changes on the branch</a:t>
            </a:r>
            <a:endParaRPr lang="en-US" sz="1300" dirty="0"/>
          </a:p>
        </p:txBody>
      </p:sp>
      <p:sp>
        <p:nvSpPr>
          <p:cNvPr id="15" name="workflow arrow"/>
          <p:cNvSpPr/>
          <p:nvPr/>
        </p:nvSpPr>
        <p:spPr>
          <a:xfrm>
            <a:off x="363931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workflow box"/>
          <p:cNvSpPr/>
          <p:nvPr/>
        </p:nvSpPr>
        <p:spPr>
          <a:xfrm>
            <a:off x="384048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tep number"/>
          <p:cNvSpPr/>
          <p:nvPr/>
        </p:nvSpPr>
        <p:spPr>
          <a:xfrm>
            <a:off x="397764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77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97764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Pull request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397764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Ask the team to add your work</a:t>
            </a:r>
            <a:endParaRPr lang="en-US" sz="1300" dirty="0"/>
          </a:p>
        </p:txBody>
      </p:sp>
      <p:sp>
        <p:nvSpPr>
          <p:cNvPr id="21" name="workflow arrow"/>
          <p:cNvSpPr/>
          <p:nvPr/>
        </p:nvSpPr>
        <p:spPr>
          <a:xfrm>
            <a:off x="533095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workflow box"/>
          <p:cNvSpPr/>
          <p:nvPr/>
        </p:nvSpPr>
        <p:spPr>
          <a:xfrm>
            <a:off x="553212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tep number"/>
          <p:cNvSpPr/>
          <p:nvPr/>
        </p:nvSpPr>
        <p:spPr>
          <a:xfrm>
            <a:off x="5669280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6692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Teammates read and comment</a:t>
            </a:r>
            <a:endParaRPr lang="en-US" sz="1300" dirty="0"/>
          </a:p>
        </p:txBody>
      </p:sp>
      <p:sp>
        <p:nvSpPr>
          <p:cNvPr id="27" name="workflow arrow"/>
          <p:cNvSpPr/>
          <p:nvPr/>
        </p:nvSpPr>
        <p:spPr>
          <a:xfrm>
            <a:off x="7022592" y="2240280"/>
            <a:ext cx="173736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workflow box"/>
          <p:cNvSpPr/>
          <p:nvPr/>
        </p:nvSpPr>
        <p:spPr>
          <a:xfrm>
            <a:off x="7223760" y="137160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step number"/>
          <p:cNvSpPr/>
          <p:nvPr/>
        </p:nvSpPr>
        <p:spPr>
          <a:xfrm>
            <a:off x="7360920" y="1508760"/>
            <a:ext cx="384048" cy="38404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609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7360920" y="2057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Merge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360920" y="25603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Your work joins main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main = the stable, shared version.  branch = your own workspace.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 this course you use a fork and push to it. Later we will practise branches and pull requests.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branches look like</a:t>
            </a:r>
            <a:endParaRPr lang="en-US" sz="3000" dirty="0"/>
          </a:p>
        </p:txBody>
      </p:sp>
      <p:sp>
        <p:nvSpPr>
          <p:cNvPr id="4" name="branch line"/>
          <p:cNvSpPr/>
          <p:nvPr/>
        </p:nvSpPr>
        <p:spPr>
          <a:xfrm>
            <a:off x="914400" y="1783080"/>
            <a:ext cx="758952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5" name="branch path"/>
          <p:cNvSpPr/>
          <p:nvPr/>
        </p:nvSpPr>
        <p:spPr>
          <a:xfrm>
            <a:off x="2468880" y="1783080"/>
            <a:ext cx="2743200" cy="1097280"/>
          </a:xfrm>
          <a:custGeom>
            <a:avLst/>
            <a:gdLst/>
            <a:ahLst/>
            <a:cxnLst/>
            <a:rect l="l" t="t" r="r" b="b"/>
            <a:pathLst>
              <a:path w="2743200" h="1097280">
                <a:moveTo>
                  <a:pt x="0" y="0"/>
                </a:moveTo>
                <a:lnTo>
                  <a:pt x="640080" y="1097280"/>
                </a:lnTo>
                <a:lnTo>
                  <a:pt x="1737360" y="1097280"/>
                </a:lnTo>
                <a:lnTo>
                  <a:pt x="2743200" y="0"/>
                </a:lnTo>
              </a:path>
            </a:pathLst>
          </a:custGeom>
          <a:solidFill>
            <a:schemeClr val="bg1">
              <a:alpha val="0"/>
            </a:schemeClr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6" name="branch path"/>
          <p:cNvSpPr/>
          <p:nvPr/>
        </p:nvSpPr>
        <p:spPr>
          <a:xfrm>
            <a:off x="1280160" y="1783080"/>
            <a:ext cx="5943600" cy="2011680"/>
          </a:xfrm>
          <a:custGeom>
            <a:avLst/>
            <a:gdLst/>
            <a:ahLst/>
            <a:cxnLst/>
            <a:rect l="l" t="t" r="r" b="b"/>
            <a:pathLst>
              <a:path w="5943600" h="2011680">
                <a:moveTo>
                  <a:pt x="0" y="0"/>
                </a:moveTo>
                <a:lnTo>
                  <a:pt x="731520" y="2011680"/>
                </a:lnTo>
                <a:lnTo>
                  <a:pt x="4572000" y="2011680"/>
                </a:lnTo>
                <a:lnTo>
                  <a:pt x="5943600" y="0"/>
                </a:lnTo>
              </a:path>
            </a:pathLst>
          </a:custGeom>
          <a:solidFill>
            <a:schemeClr val="bg1">
              <a:alpha val="0"/>
            </a:schemeClr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7" name="commit dot"/>
          <p:cNvSpPr/>
          <p:nvPr/>
        </p:nvSpPr>
        <p:spPr>
          <a:xfrm>
            <a:off x="1152144" y="165506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commit dot"/>
          <p:cNvSpPr/>
          <p:nvPr/>
        </p:nvSpPr>
        <p:spPr>
          <a:xfrm>
            <a:off x="2340864" y="1655064"/>
            <a:ext cx="256032" cy="256032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commit dot"/>
          <p:cNvSpPr/>
          <p:nvPr/>
        </p:nvSpPr>
        <p:spPr>
          <a:xfrm>
            <a:off x="5084064" y="1655064"/>
            <a:ext cx="256032" cy="256032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commit dot"/>
          <p:cNvSpPr/>
          <p:nvPr/>
        </p:nvSpPr>
        <p:spPr>
          <a:xfrm>
            <a:off x="7095744" y="1655064"/>
            <a:ext cx="256032" cy="256032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commit dot"/>
          <p:cNvSpPr/>
          <p:nvPr/>
        </p:nvSpPr>
        <p:spPr>
          <a:xfrm>
            <a:off x="2980944" y="27523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commit dot"/>
          <p:cNvSpPr/>
          <p:nvPr/>
        </p:nvSpPr>
        <p:spPr>
          <a:xfrm>
            <a:off x="3529584" y="27523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commit dot"/>
          <p:cNvSpPr/>
          <p:nvPr/>
        </p:nvSpPr>
        <p:spPr>
          <a:xfrm>
            <a:off x="4078224" y="2752344"/>
            <a:ext cx="256032" cy="256032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commit dot"/>
          <p:cNvSpPr/>
          <p:nvPr/>
        </p:nvSpPr>
        <p:spPr>
          <a:xfrm>
            <a:off x="188366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commit dot"/>
          <p:cNvSpPr/>
          <p:nvPr/>
        </p:nvSpPr>
        <p:spPr>
          <a:xfrm>
            <a:off x="316382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commit dot"/>
          <p:cNvSpPr/>
          <p:nvPr/>
        </p:nvSpPr>
        <p:spPr>
          <a:xfrm>
            <a:off x="444398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commit dot"/>
          <p:cNvSpPr/>
          <p:nvPr/>
        </p:nvSpPr>
        <p:spPr>
          <a:xfrm>
            <a:off x="5724144" y="36667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1188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main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Priya's branch: login-page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01168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Sam's branch: greeting-feature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846320" y="1280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merge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0" y="1280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merge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Time  →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434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dot is a commit.  Each coloured line is a separate workspace.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the branch picture</a:t>
            </a:r>
            <a:endParaRPr lang="en-US" sz="3000" dirty="0"/>
          </a:p>
        </p:txBody>
      </p:sp>
      <p:sp>
        <p:nvSpPr>
          <p:cNvPr id="4" name="read card"/>
          <p:cNvSpPr/>
          <p:nvPr/>
        </p:nvSpPr>
        <p:spPr>
          <a:xfrm>
            <a:off x="45720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ead dot"/>
          <p:cNvSpPr/>
          <p:nvPr/>
        </p:nvSpPr>
        <p:spPr>
          <a:xfrm>
            <a:off x="685800" y="1600200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8016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main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stable, shared version of the project. It should always work.</a:t>
            </a:r>
            <a:endParaRPr lang="en-US" sz="1400" dirty="0"/>
          </a:p>
        </p:txBody>
      </p:sp>
      <p:sp>
        <p:nvSpPr>
          <p:cNvPr id="8" name="read card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ead dot"/>
          <p:cNvSpPr/>
          <p:nvPr/>
        </p:nvSpPr>
        <p:spPr>
          <a:xfrm>
            <a:off x="4892040" y="16002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Branch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copy where you work freely. You cannot break main from here.</a:t>
            </a:r>
            <a:endParaRPr lang="en-US" sz="1400" dirty="0"/>
          </a:p>
        </p:txBody>
      </p:sp>
      <p:sp>
        <p:nvSpPr>
          <p:cNvPr id="12" name="read card"/>
          <p:cNvSpPr/>
          <p:nvPr/>
        </p:nvSpPr>
        <p:spPr>
          <a:xfrm>
            <a:off x="45720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read dot"/>
          <p:cNvSpPr/>
          <p:nvPr/>
        </p:nvSpPr>
        <p:spPr>
          <a:xfrm>
            <a:off x="685800" y="315468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8016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Commits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Save points on your branch. Make small ones as you go.</a:t>
            </a:r>
            <a:endParaRPr lang="en-US" sz="1400" dirty="0"/>
          </a:p>
        </p:txBody>
      </p:sp>
      <p:sp>
        <p:nvSpPr>
          <p:cNvPr id="16" name="read card"/>
          <p:cNvSpPr/>
          <p:nvPr/>
        </p:nvSpPr>
        <p:spPr>
          <a:xfrm>
            <a:off x="466344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read dot"/>
          <p:cNvSpPr/>
          <p:nvPr/>
        </p:nvSpPr>
        <p:spPr>
          <a:xfrm>
            <a:off x="4892040" y="315468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Merge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When the work is reviewed and ready, the branch joins main.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Priya and Sam work at the same time, and neither can break the other's work.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team habits (and merge conflicts)</a:t>
            </a:r>
            <a:endParaRPr lang="en-US" sz="3000" dirty="0"/>
          </a:p>
        </p:txBody>
      </p:sp>
      <p:sp>
        <p:nvSpPr>
          <p:cNvPr id="4" name="habits card"/>
          <p:cNvSpPr/>
          <p:nvPr/>
        </p:nvSpPr>
        <p:spPr>
          <a:xfrm>
            <a:off x="45720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Team habits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2024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Pull before you start 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Make small, frequent commits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 clear commit messages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Never work directly on main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Ask for review before merging</a:t>
            </a:r>
            <a:endParaRPr lang="en-US" sz="1500" dirty="0"/>
          </a:p>
        </p:txBody>
      </p:sp>
      <p:sp>
        <p:nvSpPr>
          <p:cNvPr id="7" name="conflict card"/>
          <p:cNvSpPr/>
          <p:nvPr/>
        </p:nvSpPr>
        <p:spPr>
          <a:xfrm>
            <a:off x="4663440" y="128016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Merge conflict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8745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people edited the same line. Git marks both versions and you choose what to keep.</a:t>
            </a:r>
            <a:endParaRPr lang="en-US" sz="1400" dirty="0"/>
          </a:p>
        </p:txBody>
      </p:sp>
      <p:sp>
        <p:nvSpPr>
          <p:cNvPr id="10" name="code block"/>
          <p:cNvSpPr/>
          <p:nvPr/>
        </p:nvSpPr>
        <p:spPr>
          <a:xfrm>
            <a:off x="4892040" y="2743200"/>
            <a:ext cx="3566160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74920" y="2852928"/>
            <a:ext cx="3200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yours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print("Hello")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print("Hi")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theirs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Create a GitHub account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7160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github.com/signup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4884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Sign up with your email and pick a username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2608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Verify your email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03320"/>
            <a:ext cx="42976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Write down your username and password</a:t>
            </a:r>
            <a:endParaRPr lang="en-US" sz="1600" dirty="0"/>
          </a:p>
        </p:txBody>
      </p:sp>
      <p:sp>
        <p:nvSpPr>
          <p:cNvPr id="15" name="tip card"/>
          <p:cNvSpPr/>
          <p:nvPr/>
        </p:nvSpPr>
        <p:spPr>
          <a:xfrm>
            <a:off x="5669280" y="1371600"/>
            <a:ext cx="30175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9788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Tip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01168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Pick a username you are happy to show an employer or client later.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Video: step 1 in the setup guide (docs/)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Install GitHub Desktop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7160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desktop.github.com and download for your computer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4884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Mac: unzip and drag to Applications.  Windows: run the installer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2608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Sign in to GitHub.com and authorize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03320"/>
            <a:ext cx="76809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the name and email it suggests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Only need to sign in once.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Fork and clone the course repo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28016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github.com/ccunnect-tech/BFA, click Fork, then Create fork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202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GitHub Desktop: File, Clone Repository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560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560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Pick your fork on the GitHub.com tab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004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Choose a folder you will remember, click Clone</a:t>
            </a:r>
            <a:endParaRPr lang="en-US" sz="1600" dirty="0"/>
          </a:p>
        </p:txBody>
      </p:sp>
      <p:sp>
        <p:nvSpPr>
          <p:cNvPr id="15" name="step number"/>
          <p:cNvSpPr/>
          <p:nvPr/>
        </p:nvSpPr>
        <p:spPr>
          <a:xfrm>
            <a:off x="457200" y="3840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Choose "To contribute to the parent project"</a:t>
            </a:r>
            <a:endParaRPr lang="en-US" sz="1600" dirty="0"/>
          </a:p>
        </p:txBody>
      </p:sp>
      <p:sp>
        <p:nvSpPr>
          <p:cNvPr id="18" name="chip"/>
          <p:cNvSpPr/>
          <p:nvPr/>
        </p:nvSpPr>
        <p:spPr>
          <a:xfrm>
            <a:off x="457200" y="452628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4526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Documents/course</a:t>
            </a:r>
            <a:endParaRPr lang="en-US" sz="1300" dirty="0"/>
          </a:p>
        </p:txBody>
      </p:sp>
      <p:sp>
        <p:nvSpPr>
          <p:cNvPr id="21" name="chip"/>
          <p:cNvSpPr/>
          <p:nvPr/>
        </p:nvSpPr>
        <p:spPr>
          <a:xfrm>
            <a:off x="3291840" y="452628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91840" y="4526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526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Documents\course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Install Node.js and npm</a:t>
            </a:r>
            <a:endParaRPr lang="en-US" sz="3000" dirty="0"/>
          </a:p>
        </p:txBody>
      </p:sp>
      <p:sp>
        <p:nvSpPr>
          <p:cNvPr id="4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37160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nodejs.org, click the LTS button (not Current)</a:t>
            </a:r>
            <a:endParaRPr lang="en-US" sz="1600" dirty="0"/>
          </a:p>
        </p:txBody>
      </p:sp>
      <p:sp>
        <p:nvSpPr>
          <p:cNvPr id="7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14884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the installer with default options</a:t>
            </a:r>
            <a:endParaRPr lang="en-US" sz="1600" dirty="0"/>
          </a:p>
        </p:txBody>
      </p:sp>
      <p:sp>
        <p:nvSpPr>
          <p:cNvPr id="10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292608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Close and reopen VS Code and your terminal</a:t>
            </a:r>
            <a:endParaRPr lang="en-US" sz="1600" dirty="0"/>
          </a:p>
        </p:txBody>
      </p:sp>
      <p:sp>
        <p:nvSpPr>
          <p:cNvPr id="13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03320"/>
            <a:ext cx="43891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Check both versions</a:t>
            </a:r>
            <a:endParaRPr lang="en-US" sz="1600" dirty="0"/>
          </a:p>
        </p:txBody>
      </p:sp>
      <p:sp>
        <p:nvSpPr>
          <p:cNvPr id="16" name="code block"/>
          <p:cNvSpPr/>
          <p:nvPr/>
        </p:nvSpPr>
        <p:spPr>
          <a:xfrm>
            <a:off x="5669280" y="1463040"/>
            <a:ext cx="3017520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52160" y="1572768"/>
            <a:ext cx="2651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--version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0" y="26060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Expected: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v22.x.x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10.x.x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5: Install Python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python.org/downloads, click the yellow Download button</a:t>
            </a:r>
            <a:endParaRPr lang="en-US" sz="1600" dirty="0"/>
          </a:p>
        </p:txBody>
      </p:sp>
      <p:sp>
        <p:nvSpPr>
          <p:cNvPr id="5" name="mac card"/>
          <p:cNvSpPr/>
          <p:nvPr/>
        </p:nvSpPr>
        <p:spPr>
          <a:xfrm>
            <a:off x="457200" y="173736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hip"/>
          <p:cNvSpPr/>
          <p:nvPr/>
        </p:nvSpPr>
        <p:spPr>
          <a:xfrm>
            <a:off x="640080" y="1874520"/>
            <a:ext cx="8686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86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the .pkg, keep defaults.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Then open Terminal.</a:t>
            </a:r>
            <a:endParaRPr lang="en-US" sz="1400" dirty="0"/>
          </a:p>
        </p:txBody>
      </p:sp>
      <p:sp>
        <p:nvSpPr>
          <p:cNvPr id="9" name="code block"/>
          <p:cNvSpPr/>
          <p:nvPr/>
        </p:nvSpPr>
        <p:spPr>
          <a:xfrm>
            <a:off x="640080" y="3108960"/>
            <a:ext cx="365760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2186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python3 --version</a:t>
            </a:r>
            <a:endParaRPr lang="en-US" sz="1400" dirty="0"/>
          </a:p>
        </p:txBody>
      </p:sp>
      <p:sp>
        <p:nvSpPr>
          <p:cNvPr id="11" name="windows card"/>
          <p:cNvSpPr/>
          <p:nvPr/>
        </p:nvSpPr>
        <p:spPr>
          <a:xfrm>
            <a:off x="4663440" y="173736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"/>
          <p:cNvSpPr/>
          <p:nvPr/>
        </p:nvSpPr>
        <p:spPr>
          <a:xfrm>
            <a:off x="4846320" y="1874520"/>
            <a:ext cx="86868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87452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2286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Tick "Add python.exe to PATH"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before Install Now. Then open Command Prompt.</a:t>
            </a:r>
            <a:endParaRPr lang="en-US" sz="1400" dirty="0"/>
          </a:p>
        </p:txBody>
      </p:sp>
      <p:sp>
        <p:nvSpPr>
          <p:cNvPr id="15" name="code block"/>
          <p:cNvSpPr/>
          <p:nvPr/>
        </p:nvSpPr>
        <p:spPr>
          <a:xfrm>
            <a:off x="4846320" y="3108960"/>
            <a:ext cx="365760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0" y="32186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--version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Expected: Python 3.12.x (or newer)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6: Install VS Code</a:t>
            </a:r>
            <a:endParaRPr lang="en-US" sz="3000" dirty="0"/>
          </a:p>
        </p:txBody>
      </p:sp>
      <p:sp>
        <p:nvSpPr>
          <p:cNvPr id="3" name="step number"/>
          <p:cNvSpPr/>
          <p:nvPr/>
        </p:nvSpPr>
        <p:spPr>
          <a:xfrm>
            <a:off x="457200" y="1371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37160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code.visualstudio.com and download for your computer</a:t>
            </a:r>
            <a:endParaRPr lang="en-US" sz="1600" dirty="0"/>
          </a:p>
        </p:txBody>
      </p:sp>
      <p:sp>
        <p:nvSpPr>
          <p:cNvPr id="6" name="step number"/>
          <p:cNvSpPr/>
          <p:nvPr/>
        </p:nvSpPr>
        <p:spPr>
          <a:xfrm>
            <a:off x="457200" y="21488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4884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Mac: drag to Applications.  Windows: run installer, tick Add to PATH</a:t>
            </a:r>
            <a:endParaRPr lang="en-US" sz="1600" dirty="0"/>
          </a:p>
        </p:txBody>
      </p:sp>
      <p:sp>
        <p:nvSpPr>
          <p:cNvPr id="9" name="step number"/>
          <p:cNvSpPr/>
          <p:nvPr/>
        </p:nvSpPr>
        <p:spPr>
          <a:xfrm>
            <a:off x="457200" y="2926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2608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VS Code</a:t>
            </a:r>
            <a:endParaRPr lang="en-US" sz="1600" dirty="0"/>
          </a:p>
        </p:txBody>
      </p:sp>
      <p:sp>
        <p:nvSpPr>
          <p:cNvPr id="12" name="step number"/>
          <p:cNvSpPr/>
          <p:nvPr/>
        </p:nvSpPr>
        <p:spPr>
          <a:xfrm>
            <a:off x="45720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03320"/>
            <a:ext cx="45720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Extensions icon (left sidebar), search Python, install the one by Microsoft</a:t>
            </a:r>
            <a:endParaRPr lang="en-US" sz="1600" dirty="0"/>
          </a:p>
        </p:txBody>
      </p:sp>
      <p:sp>
        <p:nvSpPr>
          <p:cNvPr id="15" name="shortcut card"/>
          <p:cNvSpPr/>
          <p:nvPr/>
        </p:nvSpPr>
        <p:spPr>
          <a:xfrm>
            <a:off x="5943600" y="1371600"/>
            <a:ext cx="27432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Open Extensions</a:t>
            </a:r>
            <a:endParaRPr lang="en-US" sz="1600" dirty="0"/>
          </a:p>
        </p:txBody>
      </p:sp>
      <p:sp>
        <p:nvSpPr>
          <p:cNvPr id="17" name="chip"/>
          <p:cNvSpPr/>
          <p:nvPr/>
        </p:nvSpPr>
        <p:spPr>
          <a:xfrm>
            <a:off x="6126480" y="205740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0" y="20574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057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Cmd+Shift+X</a:t>
            </a:r>
            <a:endParaRPr lang="en-US" sz="1400" dirty="0"/>
          </a:p>
        </p:txBody>
      </p:sp>
      <p:sp>
        <p:nvSpPr>
          <p:cNvPr id="20" name="chip"/>
          <p:cNvSpPr/>
          <p:nvPr/>
        </p:nvSpPr>
        <p:spPr>
          <a:xfrm>
            <a:off x="6126480" y="256032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0" y="25603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Ctrl+Shift+X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7: Run the setup check</a:t>
            </a:r>
            <a:endParaRPr lang="en-US" sz="3000" dirty="0"/>
          </a:p>
        </p:txBody>
      </p:sp>
      <p:sp>
        <p:nvSpPr>
          <p:cNvPr id="4" name="step number"/>
          <p:cNvSpPr/>
          <p:nvPr/>
        </p:nvSpPr>
        <p:spPr>
          <a:xfrm>
            <a:off x="4572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28016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GitHub Desktop: Open in Visual Studio Code</a:t>
            </a:r>
            <a:endParaRPr lang="en-US" sz="1600" dirty="0"/>
          </a:p>
        </p:txBody>
      </p:sp>
      <p:sp>
        <p:nvSpPr>
          <p:cNvPr id="7" name="step number"/>
          <p:cNvSpPr/>
          <p:nvPr/>
        </p:nvSpPr>
        <p:spPr>
          <a:xfrm>
            <a:off x="45720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01168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Yes, I trust the authors</a:t>
            </a:r>
            <a:endParaRPr lang="en-US" sz="1600" dirty="0"/>
          </a:p>
        </p:txBody>
      </p:sp>
      <p:sp>
        <p:nvSpPr>
          <p:cNvPr id="10" name="step number"/>
          <p:cNvSpPr/>
          <p:nvPr/>
        </p:nvSpPr>
        <p:spPr>
          <a:xfrm>
            <a:off x="457200" y="2743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274320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Terminal, New Terminal</a:t>
            </a:r>
            <a:endParaRPr lang="en-US" sz="1600" dirty="0"/>
          </a:p>
        </p:txBody>
      </p:sp>
      <p:sp>
        <p:nvSpPr>
          <p:cNvPr id="13" name="step number"/>
          <p:cNvSpPr/>
          <p:nvPr/>
        </p:nvSpPr>
        <p:spPr>
          <a:xfrm>
            <a:off x="457200" y="3474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47472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the command, then screenshot the output</a:t>
            </a:r>
            <a:endParaRPr lang="en-US" sz="1600" dirty="0"/>
          </a:p>
        </p:txBody>
      </p:sp>
      <p:sp>
        <p:nvSpPr>
          <p:cNvPr id="16" name="chip"/>
          <p:cNvSpPr/>
          <p:nvPr/>
        </p:nvSpPr>
        <p:spPr>
          <a:xfrm>
            <a:off x="457200" y="4343400"/>
            <a:ext cx="6400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" y="43434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Mac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check_setup.py</a:t>
            </a:r>
            <a:endParaRPr lang="en-US" sz="1300" dirty="0"/>
          </a:p>
        </p:txBody>
      </p:sp>
      <p:sp>
        <p:nvSpPr>
          <p:cNvPr id="19" name="chip"/>
          <p:cNvSpPr/>
          <p:nvPr/>
        </p:nvSpPr>
        <p:spPr>
          <a:xfrm>
            <a:off x="457200" y="4709160"/>
            <a:ext cx="8229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7200" y="4709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Windows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709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check_setup.py</a:t>
            </a:r>
            <a:endParaRPr lang="en-US" sz="1300" dirty="0"/>
          </a:p>
        </p:txBody>
      </p:sp>
      <p:sp>
        <p:nvSpPr>
          <p:cNvPr id="22" name="code block"/>
          <p:cNvSpPr/>
          <p:nvPr/>
        </p:nvSpPr>
        <p:spPr>
          <a:xfrm>
            <a:off x="4846320" y="1280160"/>
            <a:ext cx="38404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0" y="1389888"/>
            <a:ext cx="347472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Python 3.x.x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Visual Studio Code installed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VS Code Python extension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GitHub Desktop installed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git version 2.x.x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Node.js v22.x.x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npm 10.x.x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complete!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846320" y="4434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❌ must be fixed.  ⚠️ is optional.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FA Class">
  <a:themeElements>
    <a:clrScheme name="BFA Class">
      <a:dk1>
        <a:srgbClr val="0B1F2A"/>
      </a:dk1>
      <a:lt1>
        <a:srgbClr val="FFFFFF"/>
      </a:lt1>
      <a:dk2>
        <a:srgbClr val="16384A"/>
      </a:dk2>
      <a:lt2>
        <a:srgbClr val="EEF3F5"/>
      </a:lt2>
      <a:accent1>
        <a:srgbClr val="1FA67A"/>
      </a:accent1>
      <a:accent2>
        <a:srgbClr val="F2B134"/>
      </a:accent2>
      <a:accent3>
        <a:srgbClr val="3B82C4"/>
      </a:accent3>
      <a:accent4>
        <a:srgbClr val="E5534B"/>
      </a:accent4>
      <a:accent5>
        <a:srgbClr val="7C6FD6"/>
      </a:accent5>
      <a:accent6>
        <a:srgbClr val="6B7F8A"/>
      </a:accent6>
      <a:hlink>
        <a:srgbClr val="3B82C4"/>
      </a:hlink>
      <a:folHlink>
        <a:srgbClr val="7C6FD6"/>
      </a:folHlink>
    </a:clrScheme>
    <a:fontScheme name="BFA Clas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1: Set Up Your Computer</dc:title>
  <dc:subject>PptxGenJS Presentation</dc:subject>
  <dc:creator>PptxGenJS</dc:creator>
  <cp:lastModifiedBy>PptxGenJS</cp:lastModifiedBy>
  <cp:revision>1</cp:revision>
  <dcterms:created xsi:type="dcterms:W3CDTF">2026-10-10T15:34:16Z</dcterms:created>
  <dcterms:modified xsi:type="dcterms:W3CDTF">2026-10-10T15:34:16Z</dcterms:modified>
</cp:coreProperties>
</file>
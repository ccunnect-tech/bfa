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333" r:id="rId64"/>
    <p:sldId id="307" r:id="rId36"/>
    <p:sldId id="308" r:id="rId35"/>
    <p:sldId id="309" r:id="rId34"/>
    <p:sldId id="310" r:id="rId33"/>
    <p:sldId id="311" r:id="rId32"/>
    <p:sldId id="312" r:id="rId26"/>
    <p:sldId id="313" r:id="rId25"/>
    <p:sldId id="314" r:id="rId24"/>
    <p:sldId id="315" r:id="rId46"/>
    <p:sldId id="316" r:id="rId23"/>
    <p:sldId id="317" r:id="rId22"/>
    <p:sldId id="318" r:id="rId49"/>
    <p:sldId id="319" r:id="rId21"/>
    <p:sldId id="320" r:id="rId20"/>
    <p:sldId id="321" r:id="rId19"/>
    <p:sldId id="322" r:id="rId18"/>
    <p:sldId id="323" r:id="rId17"/>
    <p:sldId id="324" r:id="rId16"/>
    <p:sldId id="325" r:id="rId15"/>
    <p:sldId id="326" r:id="rId57"/>
    <p:sldId id="327" r:id="rId58"/>
    <p:sldId id="328" r:id="rId59"/>
    <p:sldId id="329" r:id="rId60"/>
    <p:sldId id="330" r:id="rId61"/>
    <p:sldId id="331" r:id="rId62"/>
    <p:sldId id="332" r:id="rId63"/>
  </p:sldIdLst>
  <p:notesMasterIdLst>
    <p:notesMasterId r:id="rId27"/>
  </p:notesMasterIdLst>
  <p:sldSz cx="12191695" cy="6858000"/>
  <p:notesSz cx="6858000" cy="12191695"/>
  <p:embeddedFontLst>
    <p:embeddedFont>
      <p:font typeface="Caladea Bold"/>
      <p:regular r:id="rId201314"/>
    </p:embeddedFont>
    <p:embeddedFont>
      <p:font typeface="Carlito"/>
      <p:regular r:id="rId201315"/>
    </p:embeddedFont>
    <p:embeddedFont>
      <p:font typeface="Carlito Bold"/>
      <p:regular r:id="rId201316"/>
    </p:embeddedFont>
    <p:embeddedFont>
      <p:font typeface="Roboto Mono"/>
      <p:regular r:id="rId201317"/>
    </p:embeddedFont>
    <p:embeddedFont>
      <p:font typeface="Roboto Mono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5" Type="http://schemas.openxmlformats.org/officeDocument/2006/relationships/slide" Target="slides/slide45.xml"/><Relationship Id="rId16" Type="http://schemas.openxmlformats.org/officeDocument/2006/relationships/slide" Target="slides/slide44.xml"/><Relationship Id="rId17" Type="http://schemas.openxmlformats.org/officeDocument/2006/relationships/slide" Target="slides/slide43.xml"/><Relationship Id="rId18" Type="http://schemas.openxmlformats.org/officeDocument/2006/relationships/slide" Target="slides/slide42.xml"/><Relationship Id="rId19" Type="http://schemas.openxmlformats.org/officeDocument/2006/relationships/slide" Target="slides/slide41.xml"/><Relationship Id="rId20" Type="http://schemas.openxmlformats.org/officeDocument/2006/relationships/slide" Target="slides/slide40.xml"/><Relationship Id="rId21" Type="http://schemas.openxmlformats.org/officeDocument/2006/relationships/slide" Target="slides/slide39.xml"/><Relationship Id="rId22" Type="http://schemas.openxmlformats.org/officeDocument/2006/relationships/slide" Target="slides/slide37.xml"/><Relationship Id="rId23" Type="http://schemas.openxmlformats.org/officeDocument/2006/relationships/slide" Target="slides/slide36.xml"/><Relationship Id="rId24" Type="http://schemas.openxmlformats.org/officeDocument/2006/relationships/slide" Target="slides/slide34.xml"/><Relationship Id="rId25" Type="http://schemas.openxmlformats.org/officeDocument/2006/relationships/slide" Target="slides/slide33.xml"/><Relationship Id="rId26" Type="http://schemas.openxmlformats.org/officeDocument/2006/relationships/slide" Target="slides/slide32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31.xml"/><Relationship Id="rId33" Type="http://schemas.openxmlformats.org/officeDocument/2006/relationships/slide" Target="slides/slide30.xml"/><Relationship Id="rId34" Type="http://schemas.openxmlformats.org/officeDocument/2006/relationships/slide" Target="slides/slide29.xml"/><Relationship Id="rId35" Type="http://schemas.openxmlformats.org/officeDocument/2006/relationships/slide" Target="slides/slide28.xml"/><Relationship Id="rId36" Type="http://schemas.openxmlformats.org/officeDocument/2006/relationships/slide" Target="slides/slide27.xml"/><Relationship Id="rId46" Type="http://schemas.openxmlformats.org/officeDocument/2006/relationships/slide" Target="slides/slide35.xml"/><Relationship Id="rId49" Type="http://schemas.openxmlformats.org/officeDocument/2006/relationships/slide" Target="slides/slide38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Relationship Id="rId62" Type="http://schemas.openxmlformats.org/officeDocument/2006/relationships/slide" Target="slides/slide51.xml"/><Relationship Id="rId63" Type="http://schemas.openxmlformats.org/officeDocument/2006/relationships/slide" Target="slides/slide52.xml"/><Relationship Id="rId64" Type="http://schemas.openxmlformats.org/officeDocument/2006/relationships/slide" Target="slides/slide53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BFA stands for Build Full Stack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16300" y="6375549"/>
            <a:ext cx="695208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36" y="539452"/>
            <a:ext cx="11385265" cy="589706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The 8-week roadmap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0392" y="1920240"/>
            <a:ext cx="557784" cy="5577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20240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FA67A"/>
                </a:solidFill>
                <a:latin typeface="Carlit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1709928"/>
            <a:ext cx="310896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Carlito"/>
              </a:rPr>
              <a:t>Setup &amp; Tooling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7992" y="2011680"/>
            <a:ext cx="1344168" cy="365760"/>
          </a:xfrm>
          <a:prstGeom prst="roundRect">
            <a:avLst>
              <a:gd name="adj" fmla="val 30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2011680"/>
            <a:ext cx="13441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rlito"/>
              </a:rPr>
              <a:t>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871216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0392" y="3081528"/>
            <a:ext cx="557784" cy="5577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081528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FA67A"/>
                </a:solidFill>
                <a:latin typeface="Carlit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2871216"/>
            <a:ext cx="310896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Carlito"/>
              </a:rPr>
              <a:t>Python Fundamentals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07992" y="3172968"/>
            <a:ext cx="1344168" cy="365760"/>
          </a:xfrm>
          <a:prstGeom prst="roundRect">
            <a:avLst>
              <a:gd name="adj" fmla="val 30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3172968"/>
            <a:ext cx="13441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rlito"/>
              </a:rPr>
              <a:t>Complete</a:t>
            </a:r>
          </a:p>
        </p:txBody>
      </p:sp>
      <p:sp>
        <p:nvSpPr>
          <p:cNvPr id="900013" name="Rounded Rectangle 9"/>
          <p:cNvSpPr/>
          <p:nvPr/>
        </p:nvSpPr>
        <p:spPr>
          <a:xfrm>
            <a:off x="612648" y="4032504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014" name="Oval 10"/>
          <p:cNvSpPr/>
          <p:nvPr/>
        </p:nvSpPr>
        <p:spPr>
          <a:xfrm>
            <a:off x="850392" y="4242816"/>
            <a:ext cx="557784" cy="5577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015" name="TextBox 11"/>
          <p:cNvSpPr txBox="1"/>
          <p:nvPr/>
        </p:nvSpPr>
        <p:spPr>
          <a:xfrm>
            <a:off x="850392" y="4242816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FA67A"/>
                </a:solidFill>
                <a:latin typeface="Carlito"/>
              </a:rPr>
              <a:t>3</a:t>
            </a:r>
          </a:p>
        </p:txBody>
      </p:sp>
      <p:sp>
        <p:nvSpPr>
          <p:cNvPr id="900016" name="TextBox 12"/>
          <p:cNvSpPr txBox="1"/>
          <p:nvPr/>
        </p:nvSpPr>
        <p:spPr>
          <a:xfrm>
            <a:off x="1645919" y="4032504"/>
            <a:ext cx="310896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Carlito"/>
              </a:rPr>
              <a:t>JavaScript Fundamentals</a:t>
            </a:r>
          </a:p>
        </p:txBody>
      </p:sp>
      <p:sp>
        <p:nvSpPr>
          <p:cNvPr id="900017" name="Rounded Rectangle 13"/>
          <p:cNvSpPr/>
          <p:nvPr/>
        </p:nvSpPr>
        <p:spPr>
          <a:xfrm>
            <a:off x="4507992" y="4334256"/>
            <a:ext cx="1344168" cy="365760"/>
          </a:xfrm>
          <a:prstGeom prst="roundRect">
            <a:avLst>
              <a:gd name="adj" fmla="val 30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018" name="TextBox 14"/>
          <p:cNvSpPr txBox="1"/>
          <p:nvPr/>
        </p:nvSpPr>
        <p:spPr>
          <a:xfrm>
            <a:off x="4507992" y="4334256"/>
            <a:ext cx="13441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rlito"/>
              </a:rPr>
              <a:t>Complete</a:t>
            </a:r>
          </a:p>
        </p:txBody>
      </p:sp>
      <p:sp>
        <p:nvSpPr>
          <p:cNvPr id="900019" name="Rounded Rectangle 15"/>
          <p:cNvSpPr/>
          <p:nvPr/>
        </p:nvSpPr>
        <p:spPr>
          <a:xfrm>
            <a:off x="612648" y="5193792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020" name="Oval 16"/>
          <p:cNvSpPr/>
          <p:nvPr/>
        </p:nvSpPr>
        <p:spPr>
          <a:xfrm>
            <a:off x="850392" y="5404104"/>
            <a:ext cx="557784" cy="5577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021" name="TextBox 17"/>
          <p:cNvSpPr txBox="1"/>
          <p:nvPr/>
        </p:nvSpPr>
        <p:spPr>
          <a:xfrm>
            <a:off x="850392" y="5404104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3B82C4"/>
                </a:solidFill>
                <a:latin typeface="Carlito"/>
              </a:rPr>
              <a:t>4</a:t>
            </a:r>
          </a:p>
        </p:txBody>
      </p:sp>
      <p:sp>
        <p:nvSpPr>
          <p:cNvPr id="900022" name="TextBox 18"/>
          <p:cNvSpPr txBox="1"/>
          <p:nvPr/>
        </p:nvSpPr>
        <p:spPr>
          <a:xfrm>
            <a:off x="1645919" y="5193792"/>
            <a:ext cx="310896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Carlito"/>
              </a:rPr>
              <a:t>Backend with FastAPI</a:t>
            </a:r>
          </a:p>
        </p:txBody>
      </p:sp>
      <p:sp>
        <p:nvSpPr>
          <p:cNvPr id="900023" name="Rounded Rectangle 19"/>
          <p:cNvSpPr/>
          <p:nvPr/>
        </p:nvSpPr>
        <p:spPr>
          <a:xfrm>
            <a:off x="4507992" y="5495544"/>
            <a:ext cx="1344168" cy="365760"/>
          </a:xfrm>
          <a:prstGeom prst="roundRect">
            <a:avLst>
              <a:gd name="adj" fmla="val 30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024" name="TextBox 20"/>
          <p:cNvSpPr txBox="1"/>
          <p:nvPr/>
        </p:nvSpPr>
        <p:spPr>
          <a:xfrm>
            <a:off x="4507992" y="5495544"/>
            <a:ext cx="13441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rlito"/>
              </a:rPr>
              <a:t>You are here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709928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55664" y="1920240"/>
            <a:ext cx="557784" cy="55778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55664" y="1920240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51192" y="1709928"/>
            <a:ext cx="420624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HTML, CSS &amp; Vanilla JS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871216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55664" y="3081528"/>
            <a:ext cx="557784" cy="55778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081528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1192" y="2871216"/>
            <a:ext cx="420624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React, Rebuilt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032504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55664" y="4242816"/>
            <a:ext cx="557784" cy="55778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5664" y="4242816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51192" y="4032504"/>
            <a:ext cx="420624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Full-Stack Integration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5193792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55664" y="5404104"/>
            <a:ext cx="557784" cy="55778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5664" y="5404104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1192" y="5193792"/>
            <a:ext cx="420624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Capstone &amp; Demo Day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53359" y="1207589"/>
            <a:ext cx="10363139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50" b="1" spc="800" kern="100" dirty="0">
                <a:solidFill>
                  <a:srgbClr val="1FA67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CLASS 4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853359" y="1828701"/>
            <a:ext cx="10484977" cy="1624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350" b="1" spc="59" kern="100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Backend with</a:t>
            </a:r>
            <a:endParaRPr lang="en-US" sz="5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350" b="1" spc="59" kern="100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FastAPI</a:t>
            </a:r>
            <a:endParaRPr lang="en-US" sz="5350" dirty="0"/>
          </a:p>
        </p:txBody>
      </p:sp>
      <p:sp>
        <p:nvSpPr>
          <p:cNvPr id="4" name="Text 2"/>
          <p:cNvSpPr/>
          <p:nvPr/>
        </p:nvSpPr>
        <p:spPr>
          <a:xfrm>
            <a:off x="853359" y="4376490"/>
            <a:ext cx="9753554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F2B13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Client  ·  Server  ·  API  ·  JSON  ·  FastAPI  ·  CRUD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3359" y="5481828"/>
            <a:ext cx="10363139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Hands-on course. No slides to memorize, just tasks to do.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1216300" y="6375549"/>
            <a:ext cx="695208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216300" y="6375549"/>
            <a:ext cx="695208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593328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44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Today's plan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1828800"/>
            <a:ext cx="2011610" cy="3535660"/>
          </a:xfrm>
          <a:prstGeom prst="roundRect">
            <a:avLst>
              <a:gd name="adj" fmla="val 5818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92440" y="207258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87648" y="216227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2440" y="2790130"/>
            <a:ext cx="1649669" cy="864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Big picture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792440" y="3765550"/>
            <a:ext cx="1649669" cy="1068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Frontend, backend, API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2804050" y="1828800"/>
            <a:ext cx="2011610" cy="3535660"/>
          </a:xfrm>
          <a:prstGeom prst="roundRect">
            <a:avLst>
              <a:gd name="adj" fmla="val 5818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986906" y="207258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682113" y="216227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86906" y="2790130"/>
            <a:ext cx="2316402" cy="432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First API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2986906" y="3765550"/>
            <a:ext cx="1649669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Install, run, routes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4998516" y="1828800"/>
            <a:ext cx="2011610" cy="3535660"/>
          </a:xfrm>
          <a:prstGeom prst="roundRect">
            <a:avLst>
              <a:gd name="adj" fmla="val 5818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181470" y="207258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876678" y="216227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181470" y="2790130"/>
            <a:ext cx="2316402" cy="432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Inputs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5181470" y="3765550"/>
            <a:ext cx="1649669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URL values and POST</a:t>
            </a:r>
            <a:endParaRPr lang="en-US" sz="1850" dirty="0"/>
          </a:p>
        </p:txBody>
      </p:sp>
      <p:sp>
        <p:nvSpPr>
          <p:cNvPr id="19" name="Shape 17"/>
          <p:cNvSpPr/>
          <p:nvPr/>
        </p:nvSpPr>
        <p:spPr>
          <a:xfrm>
            <a:off x="7193080" y="1828800"/>
            <a:ext cx="2011610" cy="3535660"/>
          </a:xfrm>
          <a:prstGeom prst="roundRect">
            <a:avLst>
              <a:gd name="adj" fmla="val 5818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375936" y="2072580"/>
            <a:ext cx="511956" cy="511969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071143" y="216227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75936" y="2790130"/>
            <a:ext cx="2316402" cy="432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To-do API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7375936" y="3765550"/>
            <a:ext cx="1649669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List, add, delete, /docs</a:t>
            </a:r>
            <a:endParaRPr lang="en-US" sz="1850" dirty="0"/>
          </a:p>
        </p:txBody>
      </p:sp>
      <p:sp>
        <p:nvSpPr>
          <p:cNvPr id="24" name="Shape 22"/>
          <p:cNvSpPr/>
          <p:nvPr/>
        </p:nvSpPr>
        <p:spPr>
          <a:xfrm>
            <a:off x="9387546" y="1828800"/>
            <a:ext cx="2011610" cy="3535660"/>
          </a:xfrm>
          <a:prstGeom prst="roundRect">
            <a:avLst>
              <a:gd name="adj" fmla="val 5818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570401" y="2072580"/>
            <a:ext cx="511956" cy="511969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265609" y="216227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570401" y="2790130"/>
            <a:ext cx="2316402" cy="432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With AI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9570401" y="3765550"/>
            <a:ext cx="1649669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page calls it, build with AI</a:t>
            </a:r>
            <a:endParaRPr lang="en-US" sz="1850" dirty="0"/>
          </a:p>
        </p:txBody>
      </p:sp>
      <p:sp>
        <p:nvSpPr>
          <p:cNvPr id="29" name="Text 27"/>
          <p:cNvSpPr/>
          <p:nvPr/>
        </p:nvSpPr>
        <p:spPr>
          <a:xfrm>
            <a:off x="609585" y="5594350"/>
            <a:ext cx="11582110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Green = backend ideas.  Blue = we practise.</a:t>
            </a:r>
            <a:endParaRPr lang="en-US" sz="1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Setup check (minute 0)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10972800" cy="12070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057400"/>
            <a:ext cx="512064" cy="51206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01368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Python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6712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python3 --version   (Windows: python --version)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081528"/>
            <a:ext cx="10972800" cy="12070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3429000"/>
            <a:ext cx="512064" cy="51206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172968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pip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53872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pip3 --version   (Windows: pip --version)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4453128"/>
            <a:ext cx="10972800" cy="12070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800600"/>
            <a:ext cx="512064" cy="51206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80060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544568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FastAPI is installed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91032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pip install "fastapi[standard]", then fastapi --version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5989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Stuck? Fix it now, before we start.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1. The big picture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Frontend: what the user sees (React)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Backend: the server and the rules (FastAPI)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Database: where data is kept (later)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An API is the menu between them, in 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Browser page (React)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   |  asks: GET /tasks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   v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Server (FastAPI, Python)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   |  reads and saves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   v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Database (later)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{"id": 1, "title": "Buy milk"}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Files: lecture/01_client_server_api/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1b. What is an API, and why?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An API lets one system talk to another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Why: reuse data and services (news, maps)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Test any API in Postman or Talend API Tester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Try the two free sample APIs on the right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1. JSONPlaceholder (no key)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GET https://jsonplaceholder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  .typicode.com/posts/1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2. NewsData.io (free key)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GET https://newsdata.io/api/1/latest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  ?apikey=YOUR_API_KEY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Postman app, or Talend API Tester (Chrome extension).   Files: lecture/01b_what_is_an_api/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1b. Real world: a news website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00200"/>
            <a:ext cx="5367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1FA67A"/>
                </a:solidFill>
                <a:latin typeface="Carlito"/>
              </a:rPr>
              <a:t>API response (JSON)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057400"/>
            <a:ext cx="5367528" cy="338328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286000"/>
            <a:ext cx="481888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{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  "results": [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    {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      "title": "City opens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                new library",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      "description": "The new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                library has...",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      "image_url": "https://...",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      "link": "https://..."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    }, ...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  ]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5367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3B82C4"/>
                </a:solidFill>
                <a:latin typeface="Carlito"/>
              </a:rPr>
              <a:t>What the frontend shows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57400"/>
            <a:ext cx="5367528" cy="338328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81888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[ picture from image_url ]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City opens new library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  (title, a heading)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The new library has...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  (description, a paragraph)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Read more  (link)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...one card per article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6692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B7F8A"/>
                </a:solidFill>
                <a:latin typeface="Carlito"/>
              </a:rPr>
              <a:t>Example data. The frontend loops over results and draws one card for each article.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2. Setup: install FastAPI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Install FastAPI once, for the whole laptop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No venv to create or activate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Then in any folder: fastapi dev file.py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Not found? python -m fastapi dev file.py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# Install (once)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# Mac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pip3 install "fastapi[standard]"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# Windows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pip install "fastapi[standard]"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# Check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fastapi --version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# Run, in the file's folder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fastapi dev main.py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Same list in class-4/requirements.txt.   Files: lecture/02_setup/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3. Your first API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00200"/>
            <a:ext cx="5367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1FA67A"/>
                </a:solidFill>
                <a:latin typeface="Carlito"/>
              </a:rPr>
              <a:t>main.py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057400"/>
            <a:ext cx="5367528" cy="338328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286000"/>
            <a:ext cx="481888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from fastapi import FastAPI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app = FastAPI()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@app.get("/")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def home():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    return {"message":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            "Hello from my first API"}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@app.get("/about")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def about():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    return {"course": "BFA"}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5367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3B82C4"/>
                </a:solidFill>
                <a:latin typeface="Carlito"/>
              </a:rPr>
              <a:t>Browser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57400"/>
            <a:ext cx="5367528" cy="338328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81888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GET /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{"message":"Hello from my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first API"}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GET /about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{"course":"BFA"}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GET /nope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{"detail":"Not Found"}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6692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B7F8A"/>
                </a:solidFill>
                <a:latin typeface="Carlito"/>
              </a:rPr>
              <a:t>Run: fastapi dev main.py   |   Docs: /docs   |   Files: lecture/03_hello_api/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Live practice 1: Hello API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Uses: FastAPI app · @app.get · a route · JSON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Create 01_hello_api.py with app = FastAPI()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Add ONE route: GET 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It returns {"message": "Hello, API"}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Run it, open / and then /docs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$ fastapi dev 01_hello_api.py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/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{"message":"Hello, API"}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/nothing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{"detail":"Not Found"}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File: live-practice/01_hello_api.py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4. Path and query parameters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Path parameter: after a /, written {name}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Query parameter: after the ?, as key=value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More than one? Join them with &amp;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Each one reaches the function as an argument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/greet/Asha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     ^ path parameter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       name = Asha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/ticket-price?age=20&amp;student=true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            ^ query parameters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              age = 20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              student = true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Path = which thing.  Query = options and filters.   Files: lecture/04_path_and_query/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4. Values in the URL: the code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00200"/>
            <a:ext cx="5367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1FA67A"/>
                </a:solidFill>
                <a:latin typeface="Carlito"/>
              </a:rPr>
              <a:t>main.py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057400"/>
            <a:ext cx="5367528" cy="338328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286000"/>
            <a:ext cx="481888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@app.get("/greet/{name}")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def greet(name: str):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  return {"message":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          f"Hello, {name}!"}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@app.get("/ticket-price")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def ticket_price(age: int,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      student: bool = False):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 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5367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3B82C4"/>
                </a:solidFill>
                <a:latin typeface="Carlito"/>
              </a:rPr>
              <a:t>URLs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57400"/>
            <a:ext cx="5367528" cy="338328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81888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/greet/Asha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name = Asha (path)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/ticket-price?age=20&amp;student=true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age = 20, student = true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(query)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/ticket-price?age=old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an error message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6692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B7F8A"/>
                </a:solidFill>
                <a:latin typeface="Carlito"/>
              </a:rPr>
              <a:t>The argument name in the function matches the name in the URL.   Files: lecture/04_path_and_query/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Live practice 2: Ticket price API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Uses: query parameters · type hints · default values · if / elif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Route GET /ticket-price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Query parameters: age (int), student (bool)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Under 5: $0.   5 to 12, or 65 and over: $8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A student: $10.   Everyone else: $12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/ticket-price?age=20&amp;student=true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{"age":20,"student":true,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"price":10}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/ticket-price?age=3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{"age":3,"student":false,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"price":0}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/ticket-price   gives 422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File: live-practice/02_ticket_price_api.py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256475" y="2314377"/>
            <a:ext cx="10484778" cy="1950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0" b="1" spc="141" kern="100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Q&amp;A</a:t>
            </a:r>
            <a:endParaRPr lang="en-US" sz="12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5. Sending data with POST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17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GET asks for data. POST sends data to save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The data travels as JSON in the body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A model class is the form: fields and types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Test POST in /docs, not in the address bar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class Item(BaseModel):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  name: str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  price: float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@app.post("/items")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def add_item(item: Item):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  return {"message":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          f"Added {item.name}",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          "price": item.price}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Files: lecture/05_post_and_models/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6. A to-do API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GET /tasks reads tasks.json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POST /tasks adds a task and saves the 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DELETE /tasks/{id} removes one and saves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Open tasks.json and watch it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def load_tasks():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    with open("tasks.json") as f: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        return json.load(f)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def save_tasks(tasks):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    with open("tasks.json", "w") as f: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        json.dump(tasks, f, indent=2)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@app.get("/tasks")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def list_tasks():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    return load_tasks()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Load, change, save. The data stays after a restart.   Files: lecture/06_todo_crud/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6. File or variable?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00200"/>
            <a:ext cx="5367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1FA67A"/>
                </a:solidFill>
                <a:latin typeface="Carlito"/>
              </a:rPr>
              <a:t>JSON file (tasks.json)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057400"/>
            <a:ext cx="5367528" cy="338328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286000"/>
            <a:ext cx="481888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@app.post("/tasks")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def add_task(body: NewTask):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  tasks = load_tasks()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  ...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  tasks.append(task)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  save_tasks(tasks)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  return task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Kept after a restart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5367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3B82C4"/>
                </a:solidFill>
                <a:latin typeface="Carlito"/>
              </a:rPr>
              <a:t>Variable (a list)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57400"/>
            <a:ext cx="5367528" cy="338328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81888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tasks = [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  {"id": 1, ...},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  {"id": 2, ...},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]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@app.post("/tasks")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def add_task(body: NewTask):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    ...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    tasks.append(task)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    return task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Lost after a restart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6692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B7F8A"/>
                </a:solidFill>
                <a:latin typeface="Carlito"/>
              </a:rPr>
              <a:t>Same API, only where the data lives changes.   Files: lecture/06_todo_crud/ and in_memory/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Live practice 3: Books API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Uses: GET · POST · a model class · a list in 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Keep the books list in memory (given)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Make a model class BookIn: title, author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GET /books returns the whole 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POST /books adds a book and returns 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GET /books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[{"id":1,"title":"Dune",...},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{"id":2,...}]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POST /books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{"title":"Emma",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"author":"Jane Austen"}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{"id":3,"title":"Emma",...}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File: live-practice/03_books_api.py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7. The /docs page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21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/docs is built from your code, for free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Try it out, fill in, Execute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Read the answer and its status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Use it to test code that AI writes for you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127.0.0.1:8000/docs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GET /tasks      Try it out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POST /tasks     Try it out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DELETE /tasks/3  Try it out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200 OK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404 Not Found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Files: lecture/07_swagger_docs/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8. Calling the API from a page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00200"/>
            <a:ext cx="5367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1FA67A"/>
                </a:solidFill>
                <a:latin typeface="Carlito"/>
              </a:rPr>
              <a:t>main.py (copy this)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057400"/>
            <a:ext cx="5367528" cy="338328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286000"/>
            <a:ext cx="481888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app.add_middleware(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  CORSMiddleware,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  allow_origins=["*"],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  allow_methods=["*"],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  allow_headers=["*"],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5367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3B82C4"/>
                </a:solidFill>
                <a:latin typeface="Carlito"/>
              </a:rPr>
              <a:t>index.html (fetch)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57400"/>
            <a:ext cx="5367528" cy="338328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81888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const res = await fetch(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  "http://127.0.0.1:8000/tasks");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const tasks = await res.json();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await fetch(API + "/tasks", {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  method: "POST",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  headers: {"Content-Type":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            "application/json"},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  body: JSON.stringify(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    { title: input.value }),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});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6692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B7F8A"/>
                </a:solidFill>
                <a:latin typeface="Carlito"/>
              </a:rPr>
              <a:t>Copy the CORS block into any API a page will call. Tasks are saved in tasks.json.   Files: lecture/08_fetch_from_a_page/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256475" y="2314377"/>
            <a:ext cx="10484778" cy="1950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0" b="1" spc="141" kern="100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Q&amp;A</a:t>
            </a:r>
            <a:endParaRPr lang="en-US" sz="12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9. Building with AI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24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Say what you want, in plain words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Ask for one small change at a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Run it, test it in /docs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Paste the full error back to the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Prompt: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"Here is my FastAPI file.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Add GET /notes/count that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returns how many notes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there are, like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{"count": 2}. Keep the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code simple."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Always read what AI wrote.   Files: lecture/09_build_with_ai/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Homework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10972800" cy="12070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057400"/>
            <a:ext cx="512064" cy="51206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01368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Even numbers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6712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GET /is-even/{n} and GET /evens/{limit}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081528"/>
            <a:ext cx="10972800" cy="12070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3429000"/>
            <a:ext cx="512064" cy="51206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172968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Temperature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53872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?celsius= returns Fahrenheit and Hot, Nice or Cold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4453128"/>
            <a:ext cx="10972800" cy="12070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800600"/>
            <a:ext cx="512064" cy="51206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80060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544568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Notes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91032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List, add and delete notes (GET, POST, DELETE)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5989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Python tasks from Class 2, now as APIs. Run with fastapi dev, test in /docs.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256475" y="2314377"/>
            <a:ext cx="10484778" cy="1950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0" b="1" spc="141" kern="100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Q&amp;A</a:t>
            </a:r>
            <a:endParaRPr lang="en-US" sz="12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The 8-week roadmap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27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0392" y="1920240"/>
            <a:ext cx="557784" cy="5577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20240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FA67A"/>
                </a:solidFill>
                <a:latin typeface="Carlit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1709928"/>
            <a:ext cx="310896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Carlito"/>
              </a:rPr>
              <a:t>Setup &amp; Tooling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7992" y="2011680"/>
            <a:ext cx="1344168" cy="365760"/>
          </a:xfrm>
          <a:prstGeom prst="roundRect">
            <a:avLst>
              <a:gd name="adj" fmla="val 30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2011680"/>
            <a:ext cx="13441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rlito"/>
              </a:rPr>
              <a:t>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871216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0392" y="3081528"/>
            <a:ext cx="557784" cy="5577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081528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FA67A"/>
                </a:solidFill>
                <a:latin typeface="Carlit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2871216"/>
            <a:ext cx="310896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Carlito"/>
              </a:rPr>
              <a:t>Python Fundamentals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07992" y="3172968"/>
            <a:ext cx="1344168" cy="365760"/>
          </a:xfrm>
          <a:prstGeom prst="roundRect">
            <a:avLst>
              <a:gd name="adj" fmla="val 30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3172968"/>
            <a:ext cx="13441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rlito"/>
              </a:rPr>
              <a:t>Complete</a:t>
            </a:r>
          </a:p>
        </p:txBody>
      </p:sp>
      <p:sp>
        <p:nvSpPr>
          <p:cNvPr id="900013" name="Rounded Rectangle 9"/>
          <p:cNvSpPr/>
          <p:nvPr/>
        </p:nvSpPr>
        <p:spPr>
          <a:xfrm>
            <a:off x="612648" y="4032504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014" name="Oval 10"/>
          <p:cNvSpPr/>
          <p:nvPr/>
        </p:nvSpPr>
        <p:spPr>
          <a:xfrm>
            <a:off x="850392" y="4242816"/>
            <a:ext cx="557784" cy="5577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015" name="TextBox 11"/>
          <p:cNvSpPr txBox="1"/>
          <p:nvPr/>
        </p:nvSpPr>
        <p:spPr>
          <a:xfrm>
            <a:off x="850392" y="4242816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FA67A"/>
                </a:solidFill>
                <a:latin typeface="Carlito"/>
              </a:rPr>
              <a:t>3</a:t>
            </a:r>
          </a:p>
        </p:txBody>
      </p:sp>
      <p:sp>
        <p:nvSpPr>
          <p:cNvPr id="900016" name="TextBox 12"/>
          <p:cNvSpPr txBox="1"/>
          <p:nvPr/>
        </p:nvSpPr>
        <p:spPr>
          <a:xfrm>
            <a:off x="1645919" y="4032504"/>
            <a:ext cx="310896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Carlito"/>
              </a:rPr>
              <a:t>JavaScript Fundamentals</a:t>
            </a:r>
          </a:p>
        </p:txBody>
      </p:sp>
      <p:sp>
        <p:nvSpPr>
          <p:cNvPr id="900017" name="Rounded Rectangle 13"/>
          <p:cNvSpPr/>
          <p:nvPr/>
        </p:nvSpPr>
        <p:spPr>
          <a:xfrm>
            <a:off x="4507992" y="4334256"/>
            <a:ext cx="1344168" cy="365760"/>
          </a:xfrm>
          <a:prstGeom prst="roundRect">
            <a:avLst>
              <a:gd name="adj" fmla="val 30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018" name="TextBox 14"/>
          <p:cNvSpPr txBox="1"/>
          <p:nvPr/>
        </p:nvSpPr>
        <p:spPr>
          <a:xfrm>
            <a:off x="4507992" y="4334256"/>
            <a:ext cx="13441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rlito"/>
              </a:rPr>
              <a:t>Complete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871216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55664" y="3081528"/>
            <a:ext cx="557784" cy="55778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081528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1192" y="2871216"/>
            <a:ext cx="420624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React, Rebuilt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032504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55664" y="4242816"/>
            <a:ext cx="557784" cy="55778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5664" y="4242816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51192" y="4032504"/>
            <a:ext cx="420624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Full-Stack Integration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5193792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55664" y="5404104"/>
            <a:ext cx="557784" cy="55778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5664" y="5404104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1192" y="5193792"/>
            <a:ext cx="420624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Capstone &amp; Demo Day</a:t>
            </a:r>
          </a:p>
        </p:txBody>
      </p:sp>
      <p:sp>
        <p:nvSpPr>
          <p:cNvPr id="900025" name="Rounded Rectangle 9"/>
          <p:cNvSpPr/>
          <p:nvPr/>
        </p:nvSpPr>
        <p:spPr>
          <a:xfrm>
            <a:off x="612648" y="5193792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026" name="Oval 10"/>
          <p:cNvSpPr/>
          <p:nvPr/>
        </p:nvSpPr>
        <p:spPr>
          <a:xfrm>
            <a:off x="850392" y="5404104"/>
            <a:ext cx="557784" cy="5577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027" name="TextBox 11"/>
          <p:cNvSpPr txBox="1"/>
          <p:nvPr/>
        </p:nvSpPr>
        <p:spPr>
          <a:xfrm>
            <a:off x="850392" y="5404104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FA67A"/>
                </a:solidFill>
                <a:latin typeface="Carlito"/>
              </a:rPr>
              <a:t>4</a:t>
            </a:r>
          </a:p>
        </p:txBody>
      </p:sp>
      <p:sp>
        <p:nvSpPr>
          <p:cNvPr id="900028" name="TextBox 12"/>
          <p:cNvSpPr txBox="1"/>
          <p:nvPr/>
        </p:nvSpPr>
        <p:spPr>
          <a:xfrm>
            <a:off x="1645919" y="5193792"/>
            <a:ext cx="310896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Carlito"/>
              </a:rPr>
              <a:t>Backend with FastAPI</a:t>
            </a:r>
          </a:p>
        </p:txBody>
      </p:sp>
      <p:sp>
        <p:nvSpPr>
          <p:cNvPr id="900029" name="Rounded Rectangle 13"/>
          <p:cNvSpPr/>
          <p:nvPr/>
        </p:nvSpPr>
        <p:spPr>
          <a:xfrm>
            <a:off x="4507992" y="5495544"/>
            <a:ext cx="1344168" cy="365760"/>
          </a:xfrm>
          <a:prstGeom prst="roundRect">
            <a:avLst>
              <a:gd name="adj" fmla="val 30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030" name="TextBox 14"/>
          <p:cNvSpPr txBox="1"/>
          <p:nvPr/>
        </p:nvSpPr>
        <p:spPr>
          <a:xfrm>
            <a:off x="4507992" y="5495544"/>
            <a:ext cx="13441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rlito"/>
              </a:rPr>
              <a:t>Complete</a:t>
            </a:r>
          </a:p>
        </p:txBody>
      </p:sp>
      <p:sp>
        <p:nvSpPr>
          <p:cNvPr id="900031" name="Rounded Rectangle 15"/>
          <p:cNvSpPr/>
          <p:nvPr/>
        </p:nvSpPr>
        <p:spPr>
          <a:xfrm>
            <a:off x="6217920" y="1709928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032" name="Oval 16"/>
          <p:cNvSpPr/>
          <p:nvPr/>
        </p:nvSpPr>
        <p:spPr>
          <a:xfrm>
            <a:off x="6455664" y="1920240"/>
            <a:ext cx="557784" cy="5577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033" name="TextBox 17"/>
          <p:cNvSpPr txBox="1"/>
          <p:nvPr/>
        </p:nvSpPr>
        <p:spPr>
          <a:xfrm>
            <a:off x="6455664" y="1920240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3B82C4"/>
                </a:solidFill>
                <a:latin typeface="Carlito"/>
              </a:rPr>
              <a:t>5</a:t>
            </a:r>
          </a:p>
        </p:txBody>
      </p:sp>
      <p:sp>
        <p:nvSpPr>
          <p:cNvPr id="900034" name="TextBox 18"/>
          <p:cNvSpPr txBox="1"/>
          <p:nvPr/>
        </p:nvSpPr>
        <p:spPr>
          <a:xfrm>
            <a:off x="7251191" y="1709928"/>
            <a:ext cx="310896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Carlito"/>
              </a:rPr>
              <a:t>HTML, CSS &amp; Vanilla JS</a:t>
            </a:r>
          </a:p>
        </p:txBody>
      </p:sp>
      <p:sp>
        <p:nvSpPr>
          <p:cNvPr id="900035" name="Rounded Rectangle 19"/>
          <p:cNvSpPr/>
          <p:nvPr/>
        </p:nvSpPr>
        <p:spPr>
          <a:xfrm>
            <a:off x="10113264" y="2011680"/>
            <a:ext cx="1344168" cy="365760"/>
          </a:xfrm>
          <a:prstGeom prst="roundRect">
            <a:avLst>
              <a:gd name="adj" fmla="val 30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036" name="TextBox 20"/>
          <p:cNvSpPr txBox="1"/>
          <p:nvPr/>
        </p:nvSpPr>
        <p:spPr>
          <a:xfrm>
            <a:off x="10113264" y="2011680"/>
            <a:ext cx="13441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rlito"/>
              </a:rPr>
              <a:t>Next Class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256475" y="2314377"/>
            <a:ext cx="10484778" cy="1950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0" b="1" spc="141" kern="100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Thank you</a:t>
            </a:r>
            <a:endParaRPr lang="en-US" sz="12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Your instructors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2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00200"/>
            <a:ext cx="1920240" cy="1920240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73352"/>
            <a:ext cx="1773936" cy="17739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61488" y="20116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B1F2A"/>
                </a:solidFill>
                <a:latin typeface="Caladea Bold"/>
              </a:rPr>
              <a:t>Raji RV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1488" y="26060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50" b="1">
                <a:solidFill>
                  <a:srgbClr val="3B82C4"/>
                </a:solidFill>
                <a:latin typeface="Carlito"/>
              </a:rPr>
              <a:t>AI – FDE  ·  IBM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3703320"/>
            <a:ext cx="5367528" cy="73152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968496"/>
            <a:ext cx="201168" cy="201168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370332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Enterprise AI &amp; Agentic Systems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4572000"/>
            <a:ext cx="5367528" cy="73152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4837176"/>
            <a:ext cx="201168" cy="201168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457200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From Prototype to Production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5440679"/>
            <a:ext cx="5367528" cy="73152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5705855"/>
            <a:ext cx="201168" cy="201168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5440679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Leading Women 2026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0" y="1600200"/>
            <a:ext cx="1920240" cy="1920240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673352"/>
            <a:ext cx="1773936" cy="17739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66760" y="20116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B1F2A"/>
                </a:solidFill>
                <a:latin typeface="Caladea Bold"/>
              </a:rPr>
              <a:t>Faisal 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6060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50" b="1">
                <a:solidFill>
                  <a:srgbClr val="3B82C4"/>
                </a:solidFill>
                <a:latin typeface="Carlito"/>
              </a:rPr>
              <a:t>AI – FDE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03320"/>
            <a:ext cx="5367528" cy="73152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3968496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0332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Full-stack developer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572000"/>
            <a:ext cx="5367528" cy="73152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46520" y="4837176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57200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Software engineer (SDE)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5440679"/>
            <a:ext cx="5367528" cy="73152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6520" y="5705855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5440679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AI engineer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2026-10-17T08:37:58Z</dcterms:created>
  <dcterms:modified xsi:type="dcterms:W3CDTF">2026-10-17T08:37:58Z</dcterms:modified>
</cp:coreProperties>
</file>